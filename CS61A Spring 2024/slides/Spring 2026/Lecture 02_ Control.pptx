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Roboto Medium"/>
      <p:regular r:id="rId39"/>
      <p:bold r:id="rId40"/>
      <p:italic r:id="rId41"/>
      <p:boldItalic r:id="rId42"/>
    </p:embeddedFont>
    <p:embeddedFont>
      <p:font typeface="Roboto"/>
      <p:regular r:id="rId43"/>
      <p:bold r:id="rId44"/>
      <p:italic r:id="rId45"/>
      <p:boldItalic r:id="rId46"/>
    </p:embeddedFont>
    <p:embeddedFont>
      <p:font typeface="Inter"/>
      <p:regular r:id="rId47"/>
      <p:bold r:id="rId48"/>
      <p:italic r:id="rId49"/>
      <p:boldItalic r:id="rId50"/>
    </p:embeddedFont>
    <p:embeddedFont>
      <p:font typeface="Source Code Pro"/>
      <p:regular r:id="rId51"/>
      <p:bold r:id="rId52"/>
      <p:italic r:id="rId53"/>
      <p:boldItalic r:id="rId54"/>
    </p:embeddedFont>
    <p:embeddedFont>
      <p:font typeface="Inter ExtraBold"/>
      <p:bold r:id="rId55"/>
      <p:boldItalic r:id="rId56"/>
    </p:embeddedFont>
    <p:embeddedFont>
      <p:font typeface="Roboto Light"/>
      <p:regular r:id="rId57"/>
      <p:bold r:id="rId58"/>
      <p:italic r:id="rId59"/>
      <p:boldItalic r:id="rId60"/>
    </p:embeddedFont>
    <p:embeddedFont>
      <p:font typeface="Roboto Mono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2A5CF3-A385-41F7-A47D-DDF129C0EA4C}">
  <a:tblStyle styleId="{0F2A5CF3-A385-41F7-A47D-DDF129C0EA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edium-bold.fntdata"/><Relationship Id="rId42" Type="http://schemas.openxmlformats.org/officeDocument/2006/relationships/font" Target="fonts/RobotoMedium-boldItalic.fntdata"/><Relationship Id="rId41" Type="http://schemas.openxmlformats.org/officeDocument/2006/relationships/font" Target="fonts/RobotoMedium-italic.fntdata"/><Relationship Id="rId44" Type="http://schemas.openxmlformats.org/officeDocument/2006/relationships/font" Target="fonts/Roboto-bold.fntdata"/><Relationship Id="rId43" Type="http://schemas.openxmlformats.org/officeDocument/2006/relationships/font" Target="fonts/Roboto-regular.fntdata"/><Relationship Id="rId46" Type="http://schemas.openxmlformats.org/officeDocument/2006/relationships/font" Target="fonts/Roboto-boldItalic.fntdata"/><Relationship Id="rId45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Inter-bold.fntdata"/><Relationship Id="rId47" Type="http://schemas.openxmlformats.org/officeDocument/2006/relationships/font" Target="fonts/Inter-regular.fntdata"/><Relationship Id="rId49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RobotoMedium-regular.fntdata"/><Relationship Id="rId38" Type="http://schemas.openxmlformats.org/officeDocument/2006/relationships/slide" Target="slides/slide32.xml"/><Relationship Id="rId62" Type="http://schemas.openxmlformats.org/officeDocument/2006/relationships/font" Target="fonts/RobotoMono-bold.fntdata"/><Relationship Id="rId61" Type="http://schemas.openxmlformats.org/officeDocument/2006/relationships/font" Target="fonts/RobotoMono-regular.fntdata"/><Relationship Id="rId20" Type="http://schemas.openxmlformats.org/officeDocument/2006/relationships/slide" Target="slides/slide14.xml"/><Relationship Id="rId64" Type="http://schemas.openxmlformats.org/officeDocument/2006/relationships/font" Target="fonts/RobotoMono-boldItalic.fntdata"/><Relationship Id="rId63" Type="http://schemas.openxmlformats.org/officeDocument/2006/relationships/font" Target="fonts/RobotoMono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obotoLight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SourceCodePro-regular.fntdata"/><Relationship Id="rId50" Type="http://schemas.openxmlformats.org/officeDocument/2006/relationships/font" Target="fonts/Inter-boldItalic.fntdata"/><Relationship Id="rId53" Type="http://schemas.openxmlformats.org/officeDocument/2006/relationships/font" Target="fonts/SourceCodePro-italic.fntdata"/><Relationship Id="rId52" Type="http://schemas.openxmlformats.org/officeDocument/2006/relationships/font" Target="fonts/SourceCodePro-bold.fntdata"/><Relationship Id="rId11" Type="http://schemas.openxmlformats.org/officeDocument/2006/relationships/slide" Target="slides/slide5.xml"/><Relationship Id="rId55" Type="http://schemas.openxmlformats.org/officeDocument/2006/relationships/font" Target="fonts/InterExtraBold-bold.fntdata"/><Relationship Id="rId10" Type="http://schemas.openxmlformats.org/officeDocument/2006/relationships/slide" Target="slides/slide4.xml"/><Relationship Id="rId54" Type="http://schemas.openxmlformats.org/officeDocument/2006/relationships/font" Target="fonts/SourceCodePro-boldItalic.fntdata"/><Relationship Id="rId13" Type="http://schemas.openxmlformats.org/officeDocument/2006/relationships/slide" Target="slides/slide7.xml"/><Relationship Id="rId57" Type="http://schemas.openxmlformats.org/officeDocument/2006/relationships/font" Target="fonts/RobotoLight-regular.fntdata"/><Relationship Id="rId12" Type="http://schemas.openxmlformats.org/officeDocument/2006/relationships/slide" Target="slides/slide6.xml"/><Relationship Id="rId56" Type="http://schemas.openxmlformats.org/officeDocument/2006/relationships/font" Target="fonts/InterExtraBold-boldItalic.fntdata"/><Relationship Id="rId15" Type="http://schemas.openxmlformats.org/officeDocument/2006/relationships/slide" Target="slides/slide9.xml"/><Relationship Id="rId59" Type="http://schemas.openxmlformats.org/officeDocument/2006/relationships/font" Target="fonts/RobotoLight-italic.fntdata"/><Relationship Id="rId14" Type="http://schemas.openxmlformats.org/officeDocument/2006/relationships/slide" Target="slides/slide8.xml"/><Relationship Id="rId58" Type="http://schemas.openxmlformats.org/officeDocument/2006/relationships/font" Target="fonts/RobotoLight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ollev.com/multiple_choice_polls/Wt3NEN5UB1SNAXyywZ2iX/respond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ollev.com/multiple_choice_polls/Vt1smfQRsfY3f2Jji0FsJ/respond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ollev.com/multiple_choice_polls/1PxL82jcqW1cnc88RcJYA/respond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ollev.com/multiple_choice_polls/GrN57XVdGVs0NzW5qniiH/respond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ollev.com/multiple_choice_polls/obaFps7XuwWV4zak8HkDQ/respond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4f26c19f5f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4f26c19f5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e6e81ad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e6e81ad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e6fd1db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e6fd1db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e6fd1db5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e6fd1db5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e6fd1db5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e6fd1db5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e6fd1db5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e6fd1db5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e6e81adc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e6e81adc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https://PollEv.com/multiple_choice_polls/Wt3NEN5UB1SNAXyywZ2iX/respond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Functions: What would Python display?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from operator import mul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def square(square):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return mul(square, square)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square(3)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It would error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3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9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None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(c)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e6e81adc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e6e81adc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e6fd1db5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e6fd1db5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e6fd1db5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e6fd1db5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e6fd1db5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ee6fd1db5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e6fd1db5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e6fd1db5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e6fd1db5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e6fd1db5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e6fd1db5c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ee6fd1db5c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e6fd1db5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e6fd1db5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https://PollEv.com/multiple_choice_polls/Vt1smfQRsfY3f2Jji0FsJ/respond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Booleans: What would Python display?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5 or (6 / 0) and not None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True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False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5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6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0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None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It would error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Correct: </a:t>
            </a:r>
            <a:r>
              <a:rPr lang="en"/>
              <a:t>(c)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e6e81adc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e6e81adc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e6e81adc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e6e81adc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e6fd1db5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ee6fd1db5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e6fd1db5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ee6fd1db5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e6fd1db5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ee6fd1db5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e6fd1db5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ee6fd1db5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e6fd1db5c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ee6fd1db5c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https://PollEv.com/multiple_choice_polls/1PxL82jcqW1cnc88RcJYA/respond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Conditionals: What would Python display? (one per line)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x = 10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if x &gt; 15: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print("A")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if x &gt; 5: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print("B")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elif x &gt; 7: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print("C")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…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B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C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A, B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B, C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A, C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A, B,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(b)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f2f95e430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ef2f95e430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https://PollEv.com/multiple_choice_polls/GrN57XVdGVs0NzW5qniiH/respond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Conditionals II: What would Python display? (one per line)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x = 10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if x &gt; 9: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print("A")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if x &gt; 5: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print("B")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elif x &gt; 7: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print("C")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arenBoth"/>
            </a:pPr>
            <a:r>
              <a:rPr lang="en">
                <a:solidFill>
                  <a:schemeClr val="dk1"/>
                </a:solidFill>
              </a:rPr>
              <a:t>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arenBoth"/>
            </a:pPr>
            <a:r>
              <a:rPr lang="en">
                <a:solidFill>
                  <a:schemeClr val="dk1"/>
                </a:solidFill>
              </a:rPr>
              <a:t>B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arenBoth"/>
            </a:pPr>
            <a:r>
              <a:rPr lang="en">
                <a:solidFill>
                  <a:schemeClr val="dk1"/>
                </a:solidFill>
              </a:rPr>
              <a:t>C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arenBoth"/>
            </a:pPr>
            <a:r>
              <a:rPr lang="en">
                <a:solidFill>
                  <a:schemeClr val="dk1"/>
                </a:solidFill>
              </a:rPr>
              <a:t>A, B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arenBoth"/>
            </a:pPr>
            <a:r>
              <a:rPr lang="en">
                <a:solidFill>
                  <a:schemeClr val="dk1"/>
                </a:solidFill>
              </a:rPr>
              <a:t>B, C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arenBoth"/>
            </a:pPr>
            <a:r>
              <a:rPr lang="en">
                <a:solidFill>
                  <a:schemeClr val="dk1"/>
                </a:solidFill>
              </a:rPr>
              <a:t>A, C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arenBoth"/>
            </a:pPr>
            <a:r>
              <a:rPr lang="en">
                <a:solidFill>
                  <a:schemeClr val="dk1"/>
                </a:solidFill>
              </a:rPr>
              <a:t>A, B, 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Answer: (d)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e6e81adc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ee6e81adc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https://PollEv.com/multiple_choice_polls/obaFps7XuwWV4zak8HkDQ/respond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True or false: my_function1 is equivalent to my_function2.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def my_function1(x):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if x &gt; 5: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return "A"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return "B"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def my_function2(x):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if x &gt; 5: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return "A"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else: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return "B"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True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lphaLcParenBoth"/>
            </a:pPr>
            <a:r>
              <a:rPr lang="en"/>
              <a:t>False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(a)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e6e81adc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ee6e81adc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e6e81adc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ee6e81adc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e6fd1db5c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ee6fd1db5c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e6fd1db5c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ee6fd1db5c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f2f95e43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ef2f95e43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e6fd1db5c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ee6fd1db5c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e6fd1db5c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ee6fd1db5c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ordering of conditions causing test pass vs. failure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ee6fd1db5c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ee6fd1db5c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Inter ExtraBold"/>
              <a:buNone/>
              <a:defRPr b="0" sz="4400">
                <a:solidFill>
                  <a:schemeClr val="accent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Inter ExtraBold"/>
              <a:buNone/>
              <a:defRPr b="0" sz="3600">
                <a:solidFill>
                  <a:schemeClr val="accent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B516"/>
              </a:buClr>
              <a:buSzPts val="1800"/>
              <a:buNone/>
              <a:defRPr>
                <a:solidFill>
                  <a:srgbClr val="FAB516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107044" y="457200"/>
            <a:ext cx="84582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0" y="457200"/>
            <a:ext cx="9144000" cy="9000"/>
          </a:xfrm>
          <a:prstGeom prst="straightConnector1">
            <a:avLst/>
          </a:prstGeom>
          <a:noFill/>
          <a:ln cap="flat" cmpd="sng" w="38100">
            <a:solidFill>
              <a:srgbClr val="F0B91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id="28" name="Google Shape;2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2676"/>
              </a:buClr>
              <a:buSzPts val="3600"/>
              <a:buNone/>
              <a:defRPr sz="3600">
                <a:solidFill>
                  <a:srgbClr val="00267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30" name="Google Shape;30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" name="Google Shape;31;p5"/>
          <p:cNvSpPr txBox="1"/>
          <p:nvPr/>
        </p:nvSpPr>
        <p:spPr>
          <a:xfrm>
            <a:off x="177925" y="4068000"/>
            <a:ext cx="415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3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Demo Slides</a:t>
            </a:r>
            <a:endParaRPr sz="2500">
              <a:solidFill>
                <a:schemeClr val="accent3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76200" y="466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/>
          <p:nvPr/>
        </p:nvSpPr>
        <p:spPr>
          <a:xfrm>
            <a:off x="0" y="0"/>
            <a:ext cx="45720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0" y="0"/>
            <a:ext cx="45720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B516"/>
              </a:buClr>
              <a:buSzPts val="1800"/>
              <a:buNone/>
              <a:defRPr>
                <a:solidFill>
                  <a:srgbClr val="FAB516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" name="Google Shape;40;p6"/>
          <p:cNvCxnSpPr/>
          <p:nvPr/>
        </p:nvCxnSpPr>
        <p:spPr>
          <a:xfrm>
            <a:off x="0" y="457200"/>
            <a:ext cx="4572000" cy="9000"/>
          </a:xfrm>
          <a:prstGeom prst="straightConnector1">
            <a:avLst/>
          </a:prstGeom>
          <a:noFill/>
          <a:ln cap="flat" cmpd="sng" w="38100">
            <a:solidFill>
              <a:srgbClr val="F0B91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SECTION_TITLE_AND_DESCRIPTION_2_1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>
            <a:off x="0" y="-125"/>
            <a:ext cx="27432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2819400" y="457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7"/>
          <p:cNvSpPr txBox="1"/>
          <p:nvPr/>
        </p:nvSpPr>
        <p:spPr>
          <a:xfrm>
            <a:off x="208446" y="3420075"/>
            <a:ext cx="2534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3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Summary</a:t>
            </a:r>
            <a:endParaRPr sz="2500">
              <a:solidFill>
                <a:schemeClr val="accent3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3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So Far</a:t>
            </a:r>
            <a:endParaRPr sz="2500">
              <a:solidFill>
                <a:schemeClr val="accent3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7" name="Google Shape;47;p7"/>
          <p:cNvSpPr/>
          <p:nvPr/>
        </p:nvSpPr>
        <p:spPr>
          <a:xfrm>
            <a:off x="2743200" y="0"/>
            <a:ext cx="64008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" name="Google Shape;48;p7"/>
          <p:cNvSpPr txBox="1"/>
          <p:nvPr>
            <p:ph type="title"/>
          </p:nvPr>
        </p:nvSpPr>
        <p:spPr>
          <a:xfrm>
            <a:off x="2743200" y="0"/>
            <a:ext cx="64008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B516"/>
              </a:buClr>
              <a:buSzPts val="1800"/>
              <a:buNone/>
              <a:defRPr>
                <a:solidFill>
                  <a:srgbClr val="FAB516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9" name="Google Shape;49;p7"/>
          <p:cNvCxnSpPr/>
          <p:nvPr/>
        </p:nvCxnSpPr>
        <p:spPr>
          <a:xfrm>
            <a:off x="2743200" y="457200"/>
            <a:ext cx="6400800" cy="9000"/>
          </a:xfrm>
          <a:prstGeom prst="straightConnector1">
            <a:avLst/>
          </a:prstGeom>
          <a:noFill/>
          <a:ln cap="flat" cmpd="sng" w="38100">
            <a:solidFill>
              <a:srgbClr val="F0B91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1">
  <p:cSld name="SECTION_TITLE_AND_DESCRIPTION_2_1_1_3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/>
          <p:nvPr/>
        </p:nvSpPr>
        <p:spPr>
          <a:xfrm>
            <a:off x="0" y="-125"/>
            <a:ext cx="2743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8"/>
          <p:cNvSpPr txBox="1"/>
          <p:nvPr>
            <p:ph idx="1" type="subTitle"/>
          </p:nvPr>
        </p:nvSpPr>
        <p:spPr>
          <a:xfrm>
            <a:off x="225450" y="3943400"/>
            <a:ext cx="25347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2819400" y="457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08446" y="3420075"/>
            <a:ext cx="2534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3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Demo</a:t>
            </a:r>
            <a:endParaRPr sz="2500">
              <a:solidFill>
                <a:schemeClr val="accent3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" name="Google Shape;57;p8"/>
          <p:cNvSpPr/>
          <p:nvPr/>
        </p:nvSpPr>
        <p:spPr>
          <a:xfrm>
            <a:off x="2743200" y="0"/>
            <a:ext cx="64008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8"/>
          <p:cNvSpPr txBox="1"/>
          <p:nvPr>
            <p:ph type="title"/>
          </p:nvPr>
        </p:nvSpPr>
        <p:spPr>
          <a:xfrm>
            <a:off x="2743200" y="0"/>
            <a:ext cx="64008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B516"/>
              </a:buClr>
              <a:buSzPts val="1800"/>
              <a:buNone/>
              <a:defRPr>
                <a:solidFill>
                  <a:srgbClr val="FAB516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59" name="Google Shape;59;p8"/>
          <p:cNvCxnSpPr/>
          <p:nvPr/>
        </p:nvCxnSpPr>
        <p:spPr>
          <a:xfrm>
            <a:off x="2743200" y="457200"/>
            <a:ext cx="6400800" cy="9000"/>
          </a:xfrm>
          <a:prstGeom prst="straightConnector1">
            <a:avLst/>
          </a:prstGeom>
          <a:noFill/>
          <a:ln cap="flat" cmpd="sng" w="38100">
            <a:solidFill>
              <a:srgbClr val="F0B91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Code">
  <p:cSld name="SECTION_TITLE_AND_DESCRIPTION_2_1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/>
          <p:nvPr/>
        </p:nvSpPr>
        <p:spPr>
          <a:xfrm>
            <a:off x="0" y="-125"/>
            <a:ext cx="2743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" name="Google Shape;63;p9"/>
          <p:cNvSpPr txBox="1"/>
          <p:nvPr/>
        </p:nvSpPr>
        <p:spPr>
          <a:xfrm>
            <a:off x="208451" y="3420075"/>
            <a:ext cx="2125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3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Demo Code</a:t>
            </a:r>
            <a:endParaRPr sz="2500">
              <a:solidFill>
                <a:schemeClr val="accent3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2848425" y="457200"/>
            <a:ext cx="6171000" cy="41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Font typeface="Source Code Pro"/>
              <a:buChar char="•"/>
              <a:defRPr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Font typeface="Source Code Pro"/>
              <a:buChar char="•"/>
              <a:defRPr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Font typeface="Source Code Pro"/>
              <a:buChar char="•"/>
              <a:defRPr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42900" lvl="3" marL="1828800">
              <a:spcBef>
                <a:spcPts val="600"/>
              </a:spcBef>
              <a:spcAft>
                <a:spcPts val="0"/>
              </a:spcAft>
              <a:buSzPts val="1800"/>
              <a:buFont typeface="Source Code Pro"/>
              <a:buChar char="•"/>
              <a:defRPr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42900" lvl="4" marL="2286000">
              <a:spcBef>
                <a:spcPts val="600"/>
              </a:spcBef>
              <a:spcAft>
                <a:spcPts val="0"/>
              </a:spcAft>
              <a:buSzPts val="1800"/>
              <a:buFont typeface="Source Code Pro"/>
              <a:buChar char="•"/>
              <a:defRPr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Source Code Pro"/>
              <a:buChar char="•"/>
              <a:defRPr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Source Code Pro"/>
              <a:buChar char="•"/>
              <a:defRPr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42900" lvl="7" marL="3657600">
              <a:spcBef>
                <a:spcPts val="600"/>
              </a:spcBef>
              <a:spcAft>
                <a:spcPts val="0"/>
              </a:spcAft>
              <a:buSzPts val="1800"/>
              <a:buFont typeface="Source Code Pro"/>
              <a:buChar char="•"/>
              <a:defRPr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42900" lvl="8" marL="4114800">
              <a:spcBef>
                <a:spcPts val="600"/>
              </a:spcBef>
              <a:spcAft>
                <a:spcPts val="0"/>
              </a:spcAft>
              <a:buSzPts val="1800"/>
              <a:buFont typeface="Source Code Pro"/>
              <a:buChar char="•"/>
              <a:defRPr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67" name="Google Shape;67;p9"/>
          <p:cNvSpPr/>
          <p:nvPr/>
        </p:nvSpPr>
        <p:spPr>
          <a:xfrm>
            <a:off x="2743200" y="0"/>
            <a:ext cx="64008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9"/>
          <p:cNvSpPr txBox="1"/>
          <p:nvPr>
            <p:ph type="title"/>
          </p:nvPr>
        </p:nvSpPr>
        <p:spPr>
          <a:xfrm>
            <a:off x="2743200" y="0"/>
            <a:ext cx="64008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B516"/>
              </a:buClr>
              <a:buSzPts val="1800"/>
              <a:buNone/>
              <a:defRPr>
                <a:solidFill>
                  <a:srgbClr val="FAB516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9" name="Google Shape;69;p9"/>
          <p:cNvCxnSpPr/>
          <p:nvPr/>
        </p:nvCxnSpPr>
        <p:spPr>
          <a:xfrm>
            <a:off x="2743200" y="457200"/>
            <a:ext cx="6400800" cy="9000"/>
          </a:xfrm>
          <a:prstGeom prst="straightConnector1">
            <a:avLst/>
          </a:prstGeom>
          <a:noFill/>
          <a:ln cap="flat" cmpd="sng" w="38100">
            <a:solidFill>
              <a:srgbClr val="F0B91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4812381" y="45720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0"/>
          <p:cNvSpPr txBox="1"/>
          <p:nvPr>
            <p:ph idx="2" type="body"/>
          </p:nvPr>
        </p:nvSpPr>
        <p:spPr>
          <a:xfrm>
            <a:off x="95431" y="45720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0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B516"/>
              </a:buClr>
              <a:buSzPts val="1800"/>
              <a:buNone/>
              <a:defRPr>
                <a:solidFill>
                  <a:srgbClr val="FAB516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76" name="Google Shape;76;p10"/>
          <p:cNvCxnSpPr/>
          <p:nvPr/>
        </p:nvCxnSpPr>
        <p:spPr>
          <a:xfrm>
            <a:off x="0" y="457200"/>
            <a:ext cx="9144000" cy="9000"/>
          </a:xfrm>
          <a:prstGeom prst="straightConnector1">
            <a:avLst/>
          </a:prstGeom>
          <a:noFill/>
          <a:ln cap="flat" cmpd="sng" w="38100">
            <a:solidFill>
              <a:srgbClr val="F0B91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1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B516"/>
              </a:buClr>
              <a:buSzPts val="1800"/>
              <a:buNone/>
              <a:defRPr>
                <a:solidFill>
                  <a:srgbClr val="FAB516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81" name="Google Shape;81;p11"/>
          <p:cNvCxnSpPr/>
          <p:nvPr/>
        </p:nvCxnSpPr>
        <p:spPr>
          <a:xfrm>
            <a:off x="0" y="457200"/>
            <a:ext cx="9144000" cy="9000"/>
          </a:xfrm>
          <a:prstGeom prst="straightConnector1">
            <a:avLst/>
          </a:prstGeom>
          <a:noFill/>
          <a:ln cap="flat" cmpd="sng" w="38100">
            <a:solidFill>
              <a:srgbClr val="F0B91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3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94" name="Google Shape;94;p14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4"/>
          <p:cNvSpPr/>
          <p:nvPr/>
        </p:nvSpPr>
        <p:spPr>
          <a:xfrm>
            <a:off x="0" y="4230550"/>
            <a:ext cx="9144000" cy="9144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6" name="Google Shape;96;p14"/>
          <p:cNvCxnSpPr/>
          <p:nvPr/>
        </p:nvCxnSpPr>
        <p:spPr>
          <a:xfrm>
            <a:off x="0" y="4230550"/>
            <a:ext cx="9144000" cy="9000"/>
          </a:xfrm>
          <a:prstGeom prst="straightConnector1">
            <a:avLst/>
          </a:prstGeom>
          <a:noFill/>
          <a:ln cap="flat" cmpd="sng" w="38100">
            <a:solidFill>
              <a:srgbClr val="F0B91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4"/>
          <p:cNvSpPr txBox="1"/>
          <p:nvPr>
            <p:ph idx="2" type="title"/>
          </p:nvPr>
        </p:nvSpPr>
        <p:spPr>
          <a:xfrm>
            <a:off x="0" y="4401400"/>
            <a:ext cx="9144000" cy="572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B516"/>
              </a:buClr>
              <a:buSzPts val="2400"/>
              <a:buNone/>
              <a:defRPr sz="2400">
                <a:solidFill>
                  <a:srgbClr val="FAB516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id="106" name="Google Shape;10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8" name="Google Shape;108;p17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3" name="Google Shape;113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22" name="Google Shape;12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nter"/>
              <a:buNone/>
              <a:defRPr b="1" sz="18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Roboto Medium"/>
              <a:buNone/>
              <a:defRPr sz="30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Roboto Medium"/>
              <a:buNone/>
              <a:defRPr sz="30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Roboto Medium"/>
              <a:buNone/>
              <a:defRPr sz="30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Roboto Medium"/>
              <a:buNone/>
              <a:defRPr sz="30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Roboto Medium"/>
              <a:buNone/>
              <a:defRPr sz="30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Roboto Medium"/>
              <a:buNone/>
              <a:defRPr sz="30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Roboto Medium"/>
              <a:buNone/>
              <a:defRPr sz="30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Roboto Medium"/>
              <a:buNone/>
              <a:defRPr sz="30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429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429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429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429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429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429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429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pollev.com/rebeccadang831" TargetMode="External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cs61a@berkeley.edu" TargetMode="External"/><Relationship Id="rId4" Type="http://schemas.openxmlformats.org/officeDocument/2006/relationships/hyperlink" Target="https://edstem.org/us/courses/99538/discussion/8138176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link.springer.com/chapter/10.1007/978-3-031-98459-4_8" TargetMode="External"/><Relationship Id="rId4" Type="http://schemas.openxmlformats.org/officeDocument/2006/relationships/hyperlink" Target="https://www.askademia.org/cs61a/su26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variety.com/2026/film/news/google-a24-ai-filmmaking-tools-1236787297/" TargetMode="External"/><Relationship Id="rId4" Type="http://schemas.openxmlformats.org/officeDocument/2006/relationships/hyperlink" Target="https://en.wikipedia.org/wiki/A24" TargetMode="External"/><Relationship Id="rId5" Type="http://schemas.openxmlformats.org/officeDocument/2006/relationships/hyperlink" Target="https://en.wikipedia.org/wiki/Google_DeepMind" TargetMode="External"/><Relationship Id="rId6" Type="http://schemas.openxmlformats.org/officeDocument/2006/relationships/hyperlink" Target="https://en.wikipedia.org/wiki/AlphaGo" TargetMode="External"/><Relationship Id="rId7" Type="http://schemas.openxmlformats.org/officeDocument/2006/relationships/hyperlink" Target="https://en.wikipedia.org/wiki/AlphaFol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python.org/3/reference/expressions.html#operator-precedenc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ctrTitle"/>
          </p:nvPr>
        </p:nvSpPr>
        <p:spPr>
          <a:xfrm>
            <a:off x="311700" y="1268000"/>
            <a:ext cx="8520600" cy="92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Lecture 02: Control</a:t>
            </a:r>
            <a:endParaRPr sz="4100"/>
          </a:p>
        </p:txBody>
      </p:sp>
      <p:sp>
        <p:nvSpPr>
          <p:cNvPr id="137" name="Google Shape;137;p22"/>
          <p:cNvSpPr txBox="1"/>
          <p:nvPr>
            <p:ph idx="1" type="subTitle"/>
          </p:nvPr>
        </p:nvSpPr>
        <p:spPr>
          <a:xfrm>
            <a:off x="311700" y="2184299"/>
            <a:ext cx="85206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June 23, 2026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22"/>
          <p:cNvSpPr txBox="1"/>
          <p:nvPr>
            <p:ph idx="1" type="subTitle"/>
          </p:nvPr>
        </p:nvSpPr>
        <p:spPr>
          <a:xfrm>
            <a:off x="311700" y="2599125"/>
            <a:ext cx="8520600" cy="15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Rebecca Dang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Join </a:t>
            </a:r>
            <a:r>
              <a:rPr lang="en" u="sng">
                <a:solidFill>
                  <a:schemeClr val="hlink"/>
                </a:solidFill>
                <a:hlinkClick r:id="rId3"/>
              </a:rPr>
              <a:t>pollev.com/rebeccadang831</a:t>
            </a:r>
            <a:r>
              <a:rPr lang="en"/>
              <a:t> (or scan QR code) on your phone or laptop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We’ll begin at Berkeley time (10 minutes after), as per tradition!</a:t>
            </a:r>
            <a:endParaRPr sz="1600"/>
          </a:p>
        </p:txBody>
      </p:sp>
      <p:sp>
        <p:nvSpPr>
          <p:cNvPr id="139" name="Google Shape;139;p22"/>
          <p:cNvSpPr txBox="1"/>
          <p:nvPr/>
        </p:nvSpPr>
        <p:spPr>
          <a:xfrm>
            <a:off x="311700" y="875000"/>
            <a:ext cx="20157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CS 61A SU26</a:t>
            </a:r>
            <a:endParaRPr sz="1500">
              <a:solidFill>
                <a:schemeClr val="accent4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40" name="Google Shape;14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ollev.com/rebeccadang831" id="141" name="Google Shape;141;p22" title="rebeccadang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8950" y="50625"/>
            <a:ext cx="1186475" cy="118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Potpourri</a:t>
            </a:r>
            <a:endParaRPr/>
          </a:p>
        </p:txBody>
      </p:sp>
      <p:sp>
        <p:nvSpPr>
          <p:cNvPr id="147" name="Google Shape;147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5 min</a:t>
            </a:r>
            <a:endParaRPr/>
          </a:p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Announcements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Askademia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Computing in the news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WWPD: Functions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107050" y="457200"/>
            <a:ext cx="8458200" cy="33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Lec 1 recording is up on bCourses &gt; Media Gallery (last bit cut off, just read the slides)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Please use your @berkeley.edu email for accessing all course emails</a:t>
            </a:r>
            <a:endParaRPr b="1"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All share requests to external emails will be denied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need to be assigned a lab/disc section or reschedule due to an </a:t>
            </a:r>
            <a:r>
              <a:rPr b="1" lang="en"/>
              <a:t>immovable time conflict</a:t>
            </a:r>
            <a:r>
              <a:rPr lang="en"/>
              <a:t>, email </a:t>
            </a:r>
            <a:r>
              <a:rPr lang="en" u="sng">
                <a:solidFill>
                  <a:schemeClr val="hlink"/>
                </a:solidFill>
                <a:hlinkClick r:id="rId3"/>
              </a:rPr>
              <a:t>cs61a@berkeley.edu</a:t>
            </a:r>
            <a:r>
              <a:rPr lang="en"/>
              <a:t> ASAP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If you were in Esha's lab yesterday and lost your </a:t>
            </a:r>
            <a:r>
              <a:rPr b="1" lang="en"/>
              <a:t>keys</a:t>
            </a:r>
            <a:r>
              <a:rPr lang="en"/>
              <a:t> and/or </a:t>
            </a:r>
            <a:r>
              <a:rPr b="1" lang="en"/>
              <a:t>Berkeley Bowl tote bag</a:t>
            </a:r>
            <a:r>
              <a:rPr lang="en"/>
              <a:t>, retrieve it from the </a:t>
            </a:r>
            <a:r>
              <a:rPr b="1" lang="en"/>
              <a:t>Soda Hall lost and found</a:t>
            </a:r>
            <a:r>
              <a:rPr lang="en"/>
              <a:t> (3rd floor front desk, across from Soda 384) [</a:t>
            </a:r>
            <a:r>
              <a:rPr lang="en" u="sng">
                <a:solidFill>
                  <a:schemeClr val="hlink"/>
                </a:solidFill>
                <a:hlinkClick r:id="rId4"/>
              </a:rPr>
              <a:t>Ed post</a:t>
            </a:r>
            <a:r>
              <a:rPr lang="en"/>
              <a:t>]</a:t>
            </a:r>
            <a:endParaRPr/>
          </a:p>
        </p:txBody>
      </p:sp>
      <p:sp>
        <p:nvSpPr>
          <p:cNvPr id="156" name="Google Shape;15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Askademia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107044" y="457200"/>
            <a:ext cx="84582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[new resource] </a:t>
            </a:r>
            <a:r>
              <a:rPr lang="en"/>
              <a:t>Askademia: A Berkeley research project (</a:t>
            </a:r>
            <a:r>
              <a:rPr lang="en" u="sng">
                <a:solidFill>
                  <a:schemeClr val="hlink"/>
                </a:solidFill>
                <a:hlinkClick r:id="rId3"/>
              </a:rPr>
              <a:t>paper</a:t>
            </a:r>
            <a:r>
              <a:rPr lang="en"/>
              <a:t>) that allows students to ask questions during live and recorded lectures and it responds in-context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askademia.org/cs61a/su26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Video playlists linked on course website under each lecture (if applicable), roughly correspond to the YouTube playlists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As always, be careful about hallucinations or out of scope content</a:t>
            </a:r>
            <a:endParaRPr b="1"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This semester's assignments/lectures/labs/discussions are the "canonical" scope</a:t>
            </a:r>
            <a:endParaRPr/>
          </a:p>
        </p:txBody>
      </p:sp>
      <p:sp>
        <p:nvSpPr>
          <p:cNvPr id="163" name="Google Shape;16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6"/>
          <p:cNvSpPr txBox="1"/>
          <p:nvPr>
            <p:ph idx="2" type="title"/>
          </p:nvPr>
        </p:nvSpPr>
        <p:spPr>
          <a:xfrm>
            <a:off x="0" y="4401400"/>
            <a:ext cx="914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Askademia interface</a:t>
            </a:r>
            <a:endParaRPr/>
          </a:p>
        </p:txBody>
      </p:sp>
      <p:pic>
        <p:nvPicPr>
          <p:cNvPr id="171" name="Google Shape;1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100" y="55675"/>
            <a:ext cx="7811809" cy="4077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Computing in the news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107050" y="457200"/>
            <a:ext cx="8704800" cy="45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Yesterday: </a:t>
            </a:r>
            <a:r>
              <a:rPr lang="en" u="sng">
                <a:solidFill>
                  <a:schemeClr val="hlink"/>
                </a:solidFill>
                <a:hlinkClick r:id="rId3"/>
              </a:rPr>
              <a:t>Google Invests $75 Million in A24 to Develop AI-Powered Filmmaking Tools</a:t>
            </a:r>
            <a:r>
              <a:rPr lang="en"/>
              <a:t> </a:t>
            </a:r>
            <a:r>
              <a:rPr lang="en"/>
              <a:t>(Variety)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A24</a:t>
            </a:r>
            <a:r>
              <a:rPr lang="en"/>
              <a:t> is a studio that has developed many critically acclaimed films, including </a:t>
            </a:r>
            <a:r>
              <a:rPr i="1" lang="en"/>
              <a:t>Moonlight, Everything Everywhere All At Once, </a:t>
            </a:r>
            <a:r>
              <a:rPr lang="en"/>
              <a:t>and most recently, </a:t>
            </a:r>
            <a:r>
              <a:rPr i="1" lang="en"/>
              <a:t>Backrooms</a:t>
            </a:r>
            <a:endParaRPr i="1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DeepMind</a:t>
            </a:r>
            <a:r>
              <a:rPr lang="en"/>
              <a:t> is a AI subsidiary of Google behind </a:t>
            </a:r>
            <a:r>
              <a:rPr lang="en" u="sng">
                <a:solidFill>
                  <a:schemeClr val="hlink"/>
                </a:solidFill>
                <a:hlinkClick r:id="rId6"/>
              </a:rPr>
              <a:t>AlphaGo</a:t>
            </a:r>
            <a:r>
              <a:rPr lang="en"/>
              <a:t> (AI Go player that beat one of the best human players) and </a:t>
            </a:r>
            <a:r>
              <a:rPr lang="en" u="sng">
                <a:solidFill>
                  <a:schemeClr val="hlink"/>
                </a:solidFill>
                <a:hlinkClick r:id="rId7"/>
              </a:rPr>
              <a:t>AlphaFold</a:t>
            </a:r>
            <a:r>
              <a:rPr lang="en"/>
              <a:t> (protein folding prediction, 2024 Nobel Prize in Chemistry)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Big contention in creative communities about the role of AI</a:t>
            </a:r>
            <a:endParaRPr b="1"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Should artists use AI to make or help them make art?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How will this affect creative jobs? How ethical is it to use AI models trained on art without the artist's consent or compensating artists?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Char char="○"/>
            </a:pPr>
            <a:r>
              <a:rPr lang="en"/>
              <a:t>Is AI capable of making art? What even is </a:t>
            </a:r>
            <a:r>
              <a:rPr i="1" lang="en"/>
              <a:t>art</a:t>
            </a:r>
            <a:r>
              <a:rPr lang="en"/>
              <a:t>?</a:t>
            </a:r>
            <a:endParaRPr/>
          </a:p>
        </p:txBody>
      </p:sp>
      <p:sp>
        <p:nvSpPr>
          <p:cNvPr id="178" name="Google Shape;17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4" name="Google Shape;1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Expressions</a:t>
            </a:r>
            <a:endParaRPr/>
          </a:p>
        </p:txBody>
      </p:sp>
      <p:sp>
        <p:nvSpPr>
          <p:cNvPr id="190" name="Google Shape;190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15 min</a:t>
            </a:r>
            <a:endParaRPr/>
          </a:p>
        </p:txBody>
      </p:sp>
      <p:sp>
        <p:nvSpPr>
          <p:cNvPr id="191" name="Google Shape;19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Booleans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Truthy or Falsy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Boolean expressions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Inequality operators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Logical operators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Short circuiting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Booleans</a:t>
            </a:r>
            <a:endParaRPr/>
          </a:p>
        </p:txBody>
      </p:sp>
      <p:sp>
        <p:nvSpPr>
          <p:cNvPr id="198" name="Google Shape;198;p30"/>
          <p:cNvSpPr txBox="1"/>
          <p:nvPr>
            <p:ph idx="1" type="body"/>
          </p:nvPr>
        </p:nvSpPr>
        <p:spPr>
          <a:xfrm>
            <a:off x="107044" y="457200"/>
            <a:ext cx="84582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Primitive data type that has only 2 possible values: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/>
              <a:t> or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use it to represent truth values, aka "answers to yes or no questions"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Is your age 18 or older?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Have you done your homework and your chores?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Char char="○"/>
            </a:pPr>
            <a:r>
              <a:rPr lang="en"/>
              <a:t>Is the light on?</a:t>
            </a:r>
            <a:endParaRPr/>
          </a:p>
        </p:txBody>
      </p:sp>
      <p:sp>
        <p:nvSpPr>
          <p:cNvPr id="199" name="Google Shape;19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Truthy and Falsy Values</a:t>
            </a:r>
            <a:endParaRPr/>
          </a:p>
        </p:txBody>
      </p:sp>
      <p:sp>
        <p:nvSpPr>
          <p:cNvPr id="205" name="Google Shape;205;p31"/>
          <p:cNvSpPr txBox="1"/>
          <p:nvPr>
            <p:ph idx="1" type="body"/>
          </p:nvPr>
        </p:nvSpPr>
        <p:spPr>
          <a:xfrm>
            <a:off x="107044" y="457200"/>
            <a:ext cx="84582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Python, </a:t>
            </a:r>
            <a:r>
              <a:rPr i="1" lang="en"/>
              <a:t>all </a:t>
            </a:r>
            <a:r>
              <a:rPr lang="en"/>
              <a:t>data types can behave like booleans, even if they aren't actually booleans!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Falsy</a:t>
            </a:r>
            <a:r>
              <a:rPr lang="en"/>
              <a:t> values: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0.0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None</a:t>
            </a:r>
            <a:r>
              <a:rPr lang="en"/>
              <a:t>, or empty containers, such as an empty string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''</a:t>
            </a:r>
            <a:r>
              <a:rPr lang="en"/>
              <a:t>)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How to remember: "Falsy if it's zero or represents nothing"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b="1" lang="en"/>
              <a:t>Truthy</a:t>
            </a:r>
            <a:r>
              <a:rPr lang="en"/>
              <a:t> values: Everything else</a:t>
            </a:r>
            <a:endParaRPr/>
          </a:p>
        </p:txBody>
      </p:sp>
      <p:sp>
        <p:nvSpPr>
          <p:cNvPr id="206" name="Google Shape;20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expressions</a:t>
            </a:r>
            <a:endParaRPr/>
          </a:p>
        </p:txBody>
      </p:sp>
      <p:sp>
        <p:nvSpPr>
          <p:cNvPr id="212" name="Google Shape;212;p32"/>
          <p:cNvSpPr txBox="1"/>
          <p:nvPr>
            <p:ph idx="2" type="body"/>
          </p:nvPr>
        </p:nvSpPr>
        <p:spPr>
          <a:xfrm>
            <a:off x="4882900" y="448050"/>
            <a:ext cx="3950100" cy="21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age = 21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age &gt; 18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True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age &gt; 21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3" name="Google Shape;21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2"/>
          <p:cNvSpPr txBox="1"/>
          <p:nvPr>
            <p:ph idx="1" type="body"/>
          </p:nvPr>
        </p:nvSpPr>
        <p:spPr>
          <a:xfrm>
            <a:off x="311700" y="1017725"/>
            <a:ext cx="3950100" cy="36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 </a:t>
            </a:r>
            <a:r>
              <a:rPr b="1" lang="en"/>
              <a:t>boolean expression</a:t>
            </a:r>
            <a:r>
              <a:rPr lang="en"/>
              <a:t> is an expression that evaluates to some truthy or falsy value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You can construct boolean expressions by combining values or names with </a:t>
            </a:r>
            <a:r>
              <a:rPr b="1" lang="en"/>
              <a:t>operators</a:t>
            </a:r>
            <a:endParaRPr b="1"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Inequality operators: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&lt;=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!=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</a:pPr>
            <a:r>
              <a:rPr lang="en"/>
              <a:t>Logical operators: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</a:t>
            </a:r>
            <a:endParaRPr/>
          </a:p>
        </p:txBody>
      </p:sp>
      <p:sp>
        <p:nvSpPr>
          <p:cNvPr id="215" name="Google Shape;215;p32"/>
          <p:cNvSpPr txBox="1"/>
          <p:nvPr>
            <p:ph idx="2" type="body"/>
          </p:nvPr>
        </p:nvSpPr>
        <p:spPr>
          <a:xfrm>
            <a:off x="4882900" y="2571750"/>
            <a:ext cx="4138200" cy="21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&gt;&gt;&gt; hw_done = True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&gt;&gt;&gt; chores_done = False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&gt;&gt;&gt; can_scroll = </a:t>
            </a: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hw_done</a:t>
            </a: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and </a:t>
            </a: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chores_done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&gt;&gt;&gt; </a:t>
            </a: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can_scroll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33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n"/>
              <a:t> operator truth table: both must be T → T</a:t>
            </a:r>
            <a:endParaRPr/>
          </a:p>
        </p:txBody>
      </p:sp>
      <p:graphicFrame>
        <p:nvGraphicFramePr>
          <p:cNvPr id="222" name="Google Shape;222;p33"/>
          <p:cNvGraphicFramePr/>
          <p:nvPr/>
        </p:nvGraphicFramePr>
        <p:xfrm>
          <a:off x="9525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{0F2A5CF3-A385-41F7-A47D-DDF129C0EA4C}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/>
                        <a:t>T</a:t>
                      </a:r>
                      <a:endParaRPr b="1"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/>
                        <a:t>F</a:t>
                      </a:r>
                      <a:endParaRPr b="1" sz="24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/>
                        <a:t>T</a:t>
                      </a:r>
                      <a:endParaRPr b="1"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T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F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/>
                        <a:t>F</a:t>
                      </a:r>
                      <a:endParaRPr b="1"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F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F</a:t>
                      </a:r>
                      <a:endParaRPr sz="24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34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en"/>
              <a:t> operator truth table: at least one must be T → T</a:t>
            </a:r>
            <a:endParaRPr/>
          </a:p>
        </p:txBody>
      </p:sp>
      <p:graphicFrame>
        <p:nvGraphicFramePr>
          <p:cNvPr id="229" name="Google Shape;229;p34"/>
          <p:cNvGraphicFramePr/>
          <p:nvPr/>
        </p:nvGraphicFramePr>
        <p:xfrm>
          <a:off x="9525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{0F2A5CF3-A385-41F7-A47D-DDF129C0EA4C}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/>
                        <a:t>T</a:t>
                      </a:r>
                      <a:endParaRPr b="1"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/>
                        <a:t>F</a:t>
                      </a:r>
                      <a:endParaRPr b="1" sz="24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/>
                        <a:t>T</a:t>
                      </a:r>
                      <a:endParaRPr b="1"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T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T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/>
                        <a:t>F</a:t>
                      </a:r>
                      <a:endParaRPr b="1"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T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F</a:t>
                      </a:r>
                      <a:endParaRPr sz="24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35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"/>
              <a:t> operator: flips the current value</a:t>
            </a:r>
            <a:endParaRPr/>
          </a:p>
        </p:txBody>
      </p:sp>
      <p:sp>
        <p:nvSpPr>
          <p:cNvPr id="236" name="Google Shape;236;p35"/>
          <p:cNvSpPr txBox="1"/>
          <p:nvPr>
            <p:ph idx="1" type="body"/>
          </p:nvPr>
        </p:nvSpPr>
        <p:spPr>
          <a:xfrm>
            <a:off x="107044" y="457200"/>
            <a:ext cx="84582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 True</a:t>
            </a:r>
            <a:r>
              <a:rPr lang="en" sz="2400"/>
              <a:t> → </a:t>
            </a: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 False</a:t>
            </a:r>
            <a:r>
              <a:rPr lang="en" sz="2400"/>
              <a:t> → </a:t>
            </a: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2" name="Google Shape;24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What just happened? Short circuiting!</a:t>
            </a:r>
            <a:endParaRPr/>
          </a:p>
        </p:txBody>
      </p:sp>
      <p:sp>
        <p:nvSpPr>
          <p:cNvPr id="248" name="Google Shape;248;p37"/>
          <p:cNvSpPr txBox="1"/>
          <p:nvPr>
            <p:ph idx="1" type="body"/>
          </p:nvPr>
        </p:nvSpPr>
        <p:spPr>
          <a:xfrm>
            <a:off x="107050" y="457200"/>
            <a:ext cx="8458200" cy="46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Motivation: Python doesn't want to do more computation than is necessary to evaluate a boolean expression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Exit early if needed</a:t>
            </a:r>
            <a:endParaRPr/>
          </a:p>
          <a:p>
            <a:pPr indent="-342900" lvl="2" marL="1371600" rtl="0" algn="l">
              <a:spcBef>
                <a:spcPts val="1000"/>
              </a:spcBef>
              <a:spcAft>
                <a:spcPts val="0"/>
              </a:spcAft>
              <a:buSzPts val="1800"/>
              <a:buChar char="■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"/>
              <a:t>: Can stop after the first falsy value</a:t>
            </a:r>
            <a:endParaRPr/>
          </a:p>
          <a:p>
            <a:pPr indent="-342900" lvl="2" marL="1371600" rtl="0" algn="l">
              <a:spcBef>
                <a:spcPts val="1000"/>
              </a:spcBef>
              <a:spcAft>
                <a:spcPts val="0"/>
              </a:spcAft>
              <a:buSzPts val="1800"/>
              <a:buChar char="■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</a:t>
            </a:r>
            <a:r>
              <a:rPr lang="en"/>
              <a:t>: Can stop after the first truthy value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full expression evaluates to the "last looked at" value (not necessarily a boolean data type)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Another thing that was going on: </a:t>
            </a:r>
            <a:r>
              <a:rPr lang="en" u="sng">
                <a:solidFill>
                  <a:schemeClr val="hlink"/>
                </a:solidFill>
                <a:hlinkClick r:id="rId3"/>
              </a:rPr>
              <a:t>Operator precedence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no parentheses provided, Python "groups together"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</a:t>
            </a:r>
            <a:r>
              <a:rPr lang="en"/>
              <a:t>, then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"/>
              <a:t>, then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5 or (6 / 0) and not None </a:t>
            </a:r>
            <a:r>
              <a:rPr lang="en"/>
              <a:t>is equivalent to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5 or ((6 / 0) and (not None))</a:t>
            </a:r>
            <a:endParaRPr/>
          </a:p>
        </p:txBody>
      </p:sp>
      <p:sp>
        <p:nvSpPr>
          <p:cNvPr id="249" name="Google Shape;24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 Statements</a:t>
            </a:r>
            <a:endParaRPr/>
          </a:p>
        </p:txBody>
      </p:sp>
      <p:sp>
        <p:nvSpPr>
          <p:cNvPr id="255" name="Google Shape;255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15 min</a:t>
            </a:r>
            <a:endParaRPr/>
          </a:p>
        </p:txBody>
      </p:sp>
      <p:sp>
        <p:nvSpPr>
          <p:cNvPr id="256" name="Google Shape;25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Statements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Conditional Statements (If-Elif-Else)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/>
          <p:nvPr/>
        </p:nvSpPr>
        <p:spPr>
          <a:xfrm>
            <a:off x="228825" y="1750975"/>
            <a:ext cx="3462000" cy="2805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3" name="Google Shape;263;p39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Statements</a:t>
            </a:r>
            <a:endParaRPr/>
          </a:p>
        </p:txBody>
      </p:sp>
      <p:sp>
        <p:nvSpPr>
          <p:cNvPr id="264" name="Google Shape;264;p39"/>
          <p:cNvSpPr txBox="1"/>
          <p:nvPr>
            <p:ph idx="1" type="body"/>
          </p:nvPr>
        </p:nvSpPr>
        <p:spPr>
          <a:xfrm>
            <a:off x="107050" y="457200"/>
            <a:ext cx="84582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statement</a:t>
            </a:r>
            <a:r>
              <a:rPr lang="en"/>
              <a:t> is executed by the interpreter to perform an action</a:t>
            </a:r>
            <a:endParaRPr b="1"/>
          </a:p>
        </p:txBody>
      </p:sp>
      <p:sp>
        <p:nvSpPr>
          <p:cNvPr id="265" name="Google Shape;26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39"/>
          <p:cNvSpPr txBox="1"/>
          <p:nvPr/>
        </p:nvSpPr>
        <p:spPr>
          <a:xfrm>
            <a:off x="459825" y="1883875"/>
            <a:ext cx="30000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&lt;header&gt;: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&lt;statement&gt;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&lt;statement&gt;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&lt;separating header&gt;: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&lt;statement&gt;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&lt;statement&gt;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7" name="Google Shape;267;p39"/>
          <p:cNvSpPr txBox="1"/>
          <p:nvPr/>
        </p:nvSpPr>
        <p:spPr>
          <a:xfrm>
            <a:off x="3948100" y="1820525"/>
            <a:ext cx="4869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1"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determines the statement type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header of a clause "controls" the suite that follows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 far, we've only learned one compound statement: </a:t>
            </a:r>
            <a:r>
              <a:rPr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statements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Google Shape;268;p39"/>
          <p:cNvSpPr txBox="1"/>
          <p:nvPr/>
        </p:nvSpPr>
        <p:spPr>
          <a:xfrm>
            <a:off x="269300" y="941325"/>
            <a:ext cx="1572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Compound</a:t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Statement</a:t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Google Shape;269;p39"/>
          <p:cNvSpPr/>
          <p:nvPr/>
        </p:nvSpPr>
        <p:spPr>
          <a:xfrm>
            <a:off x="381225" y="1903375"/>
            <a:ext cx="3130800" cy="113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Google Shape;270;p39"/>
          <p:cNvSpPr/>
          <p:nvPr/>
        </p:nvSpPr>
        <p:spPr>
          <a:xfrm>
            <a:off x="925225" y="2208625"/>
            <a:ext cx="1442700" cy="78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Google Shape;271;p39"/>
          <p:cNvSpPr txBox="1"/>
          <p:nvPr/>
        </p:nvSpPr>
        <p:spPr>
          <a:xfrm>
            <a:off x="1704400" y="1271075"/>
            <a:ext cx="15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Clause</a:t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Google Shape;272;p39"/>
          <p:cNvSpPr txBox="1"/>
          <p:nvPr/>
        </p:nvSpPr>
        <p:spPr>
          <a:xfrm>
            <a:off x="3276400" y="1271075"/>
            <a:ext cx="15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Suite</a:t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73" name="Google Shape;273;p39"/>
          <p:cNvCxnSpPr/>
          <p:nvPr/>
        </p:nvCxnSpPr>
        <p:spPr>
          <a:xfrm>
            <a:off x="825750" y="1601750"/>
            <a:ext cx="258600" cy="100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39"/>
          <p:cNvCxnSpPr/>
          <p:nvPr/>
        </p:nvCxnSpPr>
        <p:spPr>
          <a:xfrm flipH="1">
            <a:off x="1641525" y="1631600"/>
            <a:ext cx="487500" cy="2586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" name="Google Shape;275;p39"/>
          <p:cNvCxnSpPr>
            <a:stCxn id="272" idx="1"/>
          </p:cNvCxnSpPr>
          <p:nvPr/>
        </p:nvCxnSpPr>
        <p:spPr>
          <a:xfrm flipH="1">
            <a:off x="2427400" y="1486625"/>
            <a:ext cx="849000" cy="841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 Statements</a:t>
            </a:r>
            <a:endParaRPr/>
          </a:p>
        </p:txBody>
      </p:sp>
      <p:sp>
        <p:nvSpPr>
          <p:cNvPr id="281" name="Google Shape;281;p40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if &lt;expression&gt;: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&lt;suite&gt;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elif &lt;expression&gt;: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&lt;suite&gt;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&lt;suite&gt;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" name="Google Shape;28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40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Motivation: How can we only execute a set of statements (suite) under certain conditions?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Ex: If the user is a TA, display the student roster. Else, hide the student roster page.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Solution: </a:t>
            </a:r>
            <a:r>
              <a:rPr b="1" lang="en"/>
              <a:t>Conditional statements</a:t>
            </a:r>
            <a:r>
              <a:rPr lang="en"/>
              <a:t> (aka if statements)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9" name="Google Shape;289;p41"/>
          <p:cNvSpPr txBox="1"/>
          <p:nvPr>
            <p:ph idx="1" type="body"/>
          </p:nvPr>
        </p:nvSpPr>
        <p:spPr>
          <a:xfrm>
            <a:off x="107044" y="457200"/>
            <a:ext cx="84582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def absolute_value(x):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if x &lt; 0: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	return -x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elif x == 0: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	return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else: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	return x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(really, you should just use the built-in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abs</a:t>
            </a:r>
            <a:r>
              <a:rPr lang="en"/>
              <a:t> function)</a:t>
            </a:r>
            <a:endParaRPr/>
          </a:p>
        </p:txBody>
      </p:sp>
      <p:sp>
        <p:nvSpPr>
          <p:cNvPr id="290" name="Google Shape;290;p41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Example: absolute value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Google Shape;296;p42"/>
          <p:cNvSpPr txBox="1"/>
          <p:nvPr>
            <p:ph idx="1" type="body"/>
          </p:nvPr>
        </p:nvSpPr>
        <p:spPr>
          <a:xfrm>
            <a:off x="107044" y="457200"/>
            <a:ext cx="84582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def absolute_value(x):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if x &lt; 0: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	return -x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else: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	return x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elif</a:t>
            </a:r>
            <a:r>
              <a:rPr lang="en"/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"/>
              <a:t> are optional, and you can have multiple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elif</a:t>
            </a:r>
            <a:r>
              <a:rPr lang="en"/>
              <a:t> clauses!)</a:t>
            </a:r>
            <a:endParaRPr/>
          </a:p>
        </p:txBody>
      </p:sp>
      <p:sp>
        <p:nvSpPr>
          <p:cNvPr id="297" name="Google Shape;297;p42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Example: absolute value (simplified, logically equivalent)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3" name="Google Shape;30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9" name="Google Shape;30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5" name="Google Shape;31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min break</a:t>
            </a:r>
            <a:endParaRPr/>
          </a:p>
        </p:txBody>
      </p:sp>
      <p:sp>
        <p:nvSpPr>
          <p:cNvPr id="321" name="Google Shape;32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Iteration</a:t>
            </a:r>
            <a:endParaRPr/>
          </a:p>
        </p:txBody>
      </p:sp>
      <p:sp>
        <p:nvSpPr>
          <p:cNvPr id="327" name="Google Shape;327;p4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30 min</a:t>
            </a:r>
            <a:endParaRPr/>
          </a:p>
        </p:txBody>
      </p:sp>
      <p:sp>
        <p:nvSpPr>
          <p:cNvPr id="328" name="Google Shape;328;p4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While loop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Infinite loop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Practice</a:t>
            </a:r>
            <a:endParaRPr/>
          </a:p>
        </p:txBody>
      </p:sp>
      <p:sp>
        <p:nvSpPr>
          <p:cNvPr id="329" name="Google Shape;329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8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While loop</a:t>
            </a:r>
            <a:endParaRPr/>
          </a:p>
        </p:txBody>
      </p:sp>
      <p:sp>
        <p:nvSpPr>
          <p:cNvPr id="335" name="Google Shape;335;p48"/>
          <p:cNvSpPr txBox="1"/>
          <p:nvPr>
            <p:ph idx="1" type="body"/>
          </p:nvPr>
        </p:nvSpPr>
        <p:spPr>
          <a:xfrm>
            <a:off x="107044" y="457200"/>
            <a:ext cx="84582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Motivation: What if I want to repeat a set of statements multiple times?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(Naive) solution: Copy and paste the code blocks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(Better) solution: Use iteration or loops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While loops are a </a:t>
            </a:r>
            <a:r>
              <a:rPr lang="en"/>
              <a:t>certain</a:t>
            </a:r>
            <a:r>
              <a:rPr lang="en"/>
              <a:t> kind of iterative statement: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While some boolean condition is true, execute everything in the body of the loop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while &lt;condition&gt;: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&lt;suite&gt;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6" name="Google Shape;336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Demo: Add all integers from 1 to 100</a:t>
            </a:r>
            <a:endParaRPr/>
          </a:p>
        </p:txBody>
      </p:sp>
      <p:sp>
        <p:nvSpPr>
          <p:cNvPr id="342" name="Google Shape;34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49"/>
          <p:cNvSpPr txBox="1"/>
          <p:nvPr>
            <p:ph idx="1" type="body"/>
          </p:nvPr>
        </p:nvSpPr>
        <p:spPr>
          <a:xfrm>
            <a:off x="4812381" y="45720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i =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total =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while i &lt;= 100: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total += i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i +=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total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5050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4" name="Google Shape;344;p49"/>
          <p:cNvSpPr txBox="1"/>
          <p:nvPr>
            <p:ph idx="2" type="body"/>
          </p:nvPr>
        </p:nvSpPr>
        <p:spPr>
          <a:xfrm>
            <a:off x="95431" y="45720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i =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total =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while i &lt;= 100: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total += i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&lt;runs forever, infinite loop&gt;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0"/>
          <p:cNvSpPr txBox="1"/>
          <p:nvPr>
            <p:ph idx="1" type="body"/>
          </p:nvPr>
        </p:nvSpPr>
        <p:spPr>
          <a:xfrm>
            <a:off x="4812381" y="45720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i = 100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total =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while i &gt; 0: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total += i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i -=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total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5050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50"/>
          <p:cNvSpPr txBox="1"/>
          <p:nvPr>
            <p:ph idx="2" type="body"/>
          </p:nvPr>
        </p:nvSpPr>
        <p:spPr>
          <a:xfrm>
            <a:off x="95431" y="45720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i =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total =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while i &lt; 101: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total += i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i +=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...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&gt;&gt;&gt; total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5050</a:t>
            </a:r>
            <a:endParaRPr/>
          </a:p>
        </p:txBody>
      </p:sp>
      <p:sp>
        <p:nvSpPr>
          <p:cNvPr id="352" name="Google Shape;352;p50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Demo: Alternate solutions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8" name="Google Shape;358;p51"/>
          <p:cNvSpPr txBox="1"/>
          <p:nvPr>
            <p:ph idx="1" type="body"/>
          </p:nvPr>
        </p:nvSpPr>
        <p:spPr>
          <a:xfrm>
            <a:off x="107050" y="457200"/>
            <a:ext cx="8458200" cy="3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 a function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add_all_even_div_three</a:t>
            </a:r>
            <a:r>
              <a:rPr lang="en"/>
              <a:t> which takes a positive integer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"/>
              <a:t> and returns the sum of all even numbers from 1 to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"/>
              <a:t> that are also divisible by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Download starter code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02.py</a:t>
            </a:r>
            <a:r>
              <a:rPr lang="en"/>
              <a:t> from the course website under Lecture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doctests with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python3 -m doctest 02.py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 min: Try implementing it yourself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 min: Discuss with someone next to you and compare your implementations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What worked?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What didn't?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Why?</a:t>
            </a:r>
            <a:endParaRPr/>
          </a:p>
        </p:txBody>
      </p:sp>
      <p:sp>
        <p:nvSpPr>
          <p:cNvPr id="359" name="Google Shape;359;p51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Practice: Add All Even Div Three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Google Shape;365;p52"/>
          <p:cNvSpPr txBox="1"/>
          <p:nvPr>
            <p:ph idx="1" type="body"/>
          </p:nvPr>
        </p:nvSpPr>
        <p:spPr>
          <a:xfrm>
            <a:off x="107050" y="457200"/>
            <a:ext cx="8458200" cy="3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 a function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fizzbuzz</a:t>
            </a:r>
            <a:r>
              <a:rPr lang="en"/>
              <a:t> which takes a positive integer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"/>
              <a:t> and prints the numbers from 1 to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"/>
              <a:t>, replacing: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Multiples of 3 with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"fizz"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Multiples of 5 with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"buzz"</a:t>
            </a:r>
            <a:r>
              <a:rPr lang="en"/>
              <a:t>, and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Multiples of both with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"fizzbuzz"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Download starter code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02.py</a:t>
            </a:r>
            <a:r>
              <a:rPr lang="en"/>
              <a:t> from the course website under Lecture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doctests with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python3 -m doctest 02.py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 min: Try implementing it yourself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 min: Discuss with someone next to you and compare your implementations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What worked?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What didn't?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Why?</a:t>
            </a:r>
            <a:endParaRPr/>
          </a:p>
        </p:txBody>
      </p:sp>
      <p:sp>
        <p:nvSpPr>
          <p:cNvPr id="366" name="Google Shape;366;p52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Practice: Fizz Buzz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3"/>
          <p:cNvSpPr txBox="1"/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Practice: Sum Digits (Lab 01 Q10)</a:t>
            </a:r>
            <a:endParaRPr/>
          </a:p>
        </p:txBody>
      </p:sp>
      <p:sp>
        <p:nvSpPr>
          <p:cNvPr id="372" name="Google Shape;372;p53"/>
          <p:cNvSpPr txBox="1"/>
          <p:nvPr>
            <p:ph idx="1" type="body"/>
          </p:nvPr>
        </p:nvSpPr>
        <p:spPr>
          <a:xfrm>
            <a:off x="107050" y="457200"/>
            <a:ext cx="8458200" cy="38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 a function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sum_digits</a:t>
            </a:r>
            <a:r>
              <a:rPr lang="en"/>
              <a:t> which takes a positive integer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"/>
              <a:t> and returns the sum of the digits of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Download starter code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02.py</a:t>
            </a:r>
            <a:r>
              <a:rPr lang="en"/>
              <a:t> from the course website under Lecture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doctests with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python3 -m doctest 02.py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 min: Try implementing it yourself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 min: Discuss with someone next to you and compare your implementations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What worked?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What didn't?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Why?</a:t>
            </a:r>
            <a:endParaRPr/>
          </a:p>
        </p:txBody>
      </p:sp>
      <p:sp>
        <p:nvSpPr>
          <p:cNvPr id="373" name="Google Shape;373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767676"/>
      </a:dk2>
      <a:lt2>
        <a:srgbClr val="FEE88D"/>
      </a:lt2>
      <a:accent1>
        <a:srgbClr val="9FD1FF"/>
      </a:accent1>
      <a:accent2>
        <a:srgbClr val="E7125F"/>
      </a:accent2>
      <a:accent3>
        <a:srgbClr val="002676"/>
      </a:accent3>
      <a:accent4>
        <a:srgbClr val="F89313"/>
      </a:accent4>
      <a:accent5>
        <a:srgbClr val="17553A"/>
      </a:accent5>
      <a:accent6>
        <a:srgbClr val="F2F2F2"/>
      </a:accent6>
      <a:hlink>
        <a:srgbClr val="094AA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