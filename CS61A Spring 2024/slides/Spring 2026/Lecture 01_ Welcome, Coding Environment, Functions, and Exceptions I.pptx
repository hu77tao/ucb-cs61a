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Medium"/>
      <p:regular r:id="rId49"/>
      <p:bold r:id="rId50"/>
      <p:italic r:id="rId51"/>
      <p:boldItalic r:id="rId52"/>
    </p:embeddedFont>
    <p:embeddedFont>
      <p:font typeface="Roboto"/>
      <p:regular r:id="rId53"/>
      <p:bold r:id="rId54"/>
      <p:italic r:id="rId55"/>
      <p:boldItalic r:id="rId56"/>
    </p:embeddedFont>
    <p:embeddedFont>
      <p:font typeface="Inter"/>
      <p:regular r:id="rId57"/>
      <p:bold r:id="rId58"/>
      <p:italic r:id="rId59"/>
      <p:boldItalic r:id="rId60"/>
    </p:embeddedFont>
    <p:embeddedFont>
      <p:font typeface="Source Code Pro"/>
      <p:regular r:id="rId61"/>
      <p:bold r:id="rId62"/>
      <p:italic r:id="rId63"/>
      <p:boldItalic r:id="rId64"/>
    </p:embeddedFont>
    <p:embeddedFont>
      <p:font typeface="Inter ExtraBold"/>
      <p:bold r:id="rId65"/>
      <p:boldItalic r:id="rId66"/>
    </p:embeddedFont>
    <p:embeddedFont>
      <p:font typeface="Roboto Light"/>
      <p:regular r:id="rId67"/>
      <p:bold r:id="rId68"/>
      <p:italic r:id="rId69"/>
      <p:boldItalic r:id="rId70"/>
    </p:embeddedFont>
    <p:embeddedFont>
      <p:font typeface="Roboto Mono"/>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ono-italic.fntdata"/><Relationship Id="rId72" Type="http://schemas.openxmlformats.org/officeDocument/2006/relationships/font" Target="fonts/RobotoMono-bold.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RobotoMono-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regular.fntdata"/><Relationship Id="rId70" Type="http://schemas.openxmlformats.org/officeDocument/2006/relationships/font" Target="fonts/RobotoLight-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SourceCodePro-bold.fntdata"/><Relationship Id="rId61" Type="http://schemas.openxmlformats.org/officeDocument/2006/relationships/font" Target="fonts/SourceCodePro-regular.fntdata"/><Relationship Id="rId20" Type="http://schemas.openxmlformats.org/officeDocument/2006/relationships/slide" Target="slides/slide15.xml"/><Relationship Id="rId64" Type="http://schemas.openxmlformats.org/officeDocument/2006/relationships/font" Target="fonts/SourceCodePro-boldItalic.fntdata"/><Relationship Id="rId63" Type="http://schemas.openxmlformats.org/officeDocument/2006/relationships/font" Target="fonts/SourceCodePro-italic.fntdata"/><Relationship Id="rId22" Type="http://schemas.openxmlformats.org/officeDocument/2006/relationships/slide" Target="slides/slide17.xml"/><Relationship Id="rId66" Type="http://schemas.openxmlformats.org/officeDocument/2006/relationships/font" Target="fonts/InterExtraBold-boldItalic.fntdata"/><Relationship Id="rId21" Type="http://schemas.openxmlformats.org/officeDocument/2006/relationships/slide" Target="slides/slide16.xml"/><Relationship Id="rId65" Type="http://schemas.openxmlformats.org/officeDocument/2006/relationships/font" Target="fonts/InterExtraBold-bold.fntdata"/><Relationship Id="rId24" Type="http://schemas.openxmlformats.org/officeDocument/2006/relationships/slide" Target="slides/slide19.xml"/><Relationship Id="rId68" Type="http://schemas.openxmlformats.org/officeDocument/2006/relationships/font" Target="fonts/RobotoLight-bold.fntdata"/><Relationship Id="rId23" Type="http://schemas.openxmlformats.org/officeDocument/2006/relationships/slide" Target="slides/slide18.xml"/><Relationship Id="rId67" Type="http://schemas.openxmlformats.org/officeDocument/2006/relationships/font" Target="fonts/RobotoLight-regular.fntdata"/><Relationship Id="rId60" Type="http://schemas.openxmlformats.org/officeDocument/2006/relationships/font" Target="fonts/Inter-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Light-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italic.fntdata"/><Relationship Id="rId50" Type="http://schemas.openxmlformats.org/officeDocument/2006/relationships/font" Target="fonts/RobotoMedium-bold.fntdata"/><Relationship Id="rId53" Type="http://schemas.openxmlformats.org/officeDocument/2006/relationships/font" Target="fonts/Roboto-regular.fntdata"/><Relationship Id="rId52" Type="http://schemas.openxmlformats.org/officeDocument/2006/relationships/font" Target="fonts/RobotoMedium-boldItalic.fntdata"/><Relationship Id="rId11" Type="http://schemas.openxmlformats.org/officeDocument/2006/relationships/slide" Target="slides/slide6.xml"/><Relationship Id="rId55" Type="http://schemas.openxmlformats.org/officeDocument/2006/relationships/font" Target="fonts/Roboto-italic.fntdata"/><Relationship Id="rId10" Type="http://schemas.openxmlformats.org/officeDocument/2006/relationships/slide" Target="slides/slide5.xml"/><Relationship Id="rId54" Type="http://schemas.openxmlformats.org/officeDocument/2006/relationships/font" Target="fonts/Roboto-bold.fntdata"/><Relationship Id="rId13" Type="http://schemas.openxmlformats.org/officeDocument/2006/relationships/slide" Target="slides/slide8.xml"/><Relationship Id="rId57" Type="http://schemas.openxmlformats.org/officeDocument/2006/relationships/font" Target="fonts/Inter-regular.fntdata"/><Relationship Id="rId12" Type="http://schemas.openxmlformats.org/officeDocument/2006/relationships/slide" Target="slides/slide7.xml"/><Relationship Id="rId56" Type="http://schemas.openxmlformats.org/officeDocument/2006/relationships/font" Target="fonts/Roboto-boldItalic.fntdata"/><Relationship Id="rId15" Type="http://schemas.openxmlformats.org/officeDocument/2006/relationships/slide" Target="slides/slide10.xml"/><Relationship Id="rId59" Type="http://schemas.openxmlformats.org/officeDocument/2006/relationships/font" Target="fonts/Inter-italic.fntdata"/><Relationship Id="rId14" Type="http://schemas.openxmlformats.org/officeDocument/2006/relationships/slide" Target="slides/slide9.xml"/><Relationship Id="rId58" Type="http://schemas.openxmlformats.org/officeDocument/2006/relationships/font" Target="fonts/Inter-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lev.com/multiple_choice_polls/tA5eXLjCDU1Mjck08oueJ/respond" TargetMode="External"/><Relationship Id="rId3" Type="http://schemas.openxmlformats.org/officeDocument/2006/relationships/hyperlink" Target="mailto:cs61a@berkeley.edu"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lev.com/free_text_polls/vUoBziL5cRqLQYRopo5yP/respond"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lev.com/multiple_choice_polls/GIf90Z1qvotnDzwVsOOYj/respond"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lev.com/multiple_choice_polls/IiWLVV2YPqLUUOvOUUfRs/respond"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lev.com/multiple_choice_polls/BZTJPiuHZG8GOpi3nKOWL/respond" TargetMode="External"/><Relationship Id="rId3" Type="http://schemas.openxmlformats.org/officeDocument/2006/relationships/hyperlink" Target="https://pythontutor.com/cp/composingprograms.html#code=f%20%3D%20max%0Ag%20%3D%20min%0Af%282,%20g%285,%203%29,%204%29&amp;cumulative=true&amp;mode=edit&amp;origin=composingprograms.js&amp;py=3&amp;rawInputLstJSON=%5B%5D"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ealpython.com/python-traceback/"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4f26c19f5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4f26c19f5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e313a79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e313a79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e313a79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e313a79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e313a793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e313a793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e313a793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e313a793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e313a793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e313a793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e313a793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e313a793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e313a793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e313a793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"Confusion is the sweat of learning" -UC Berkeley professor (Prof. Satish Rao maybe?)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e313a793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e313a793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e313a79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e313a79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e313a793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e313a793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what OH and DSP are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e313a793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e313a793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 </a:t>
            </a:r>
            <a:r>
              <a:rPr lang="en" u="sng">
                <a:solidFill>
                  <a:schemeClr val="hlink"/>
                </a:solidFill>
                <a:hlinkClick r:id="rId2"/>
              </a:rPr>
              <a:t>https://PollEv.com/multiple_choice_polls/tA5eXLjCDU1Mjck08oueJ/respond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request an excused absence from lab or discussion section, how do you let us know?</a:t>
            </a:r>
            <a:endParaRPr/>
          </a:p>
          <a:p>
            <a:pPr indent="-298450" lvl="0" marL="457200" rtl="0" algn="l">
              <a:spcBef>
                <a:spcPts val="0"/>
              </a:spcBef>
              <a:spcAft>
                <a:spcPts val="0"/>
              </a:spcAft>
              <a:buSzPts val="1100"/>
              <a:buAutoNum type="alphaLcParenBoth"/>
            </a:pPr>
            <a:r>
              <a:rPr lang="en"/>
              <a:t>Email your lab/discussion TA</a:t>
            </a:r>
            <a:endParaRPr/>
          </a:p>
          <a:p>
            <a:pPr indent="-298450" lvl="0" marL="457200" rtl="0" algn="l">
              <a:spcBef>
                <a:spcPts val="0"/>
              </a:spcBef>
              <a:spcAft>
                <a:spcPts val="0"/>
              </a:spcAft>
              <a:buSzPts val="1100"/>
              <a:buAutoNum type="alphaLcParenBoth"/>
            </a:pPr>
            <a:r>
              <a:rPr lang="en"/>
              <a:t>Email the instructor</a:t>
            </a:r>
            <a:endParaRPr/>
          </a:p>
          <a:p>
            <a:pPr indent="-298450" lvl="0" marL="457200" rtl="0" algn="l">
              <a:spcBef>
                <a:spcPts val="0"/>
              </a:spcBef>
              <a:spcAft>
                <a:spcPts val="0"/>
              </a:spcAft>
              <a:buSzPts val="1100"/>
              <a:buAutoNum type="alphaLcParenBoth"/>
            </a:pPr>
            <a:r>
              <a:rPr lang="en"/>
              <a:t>Email </a:t>
            </a:r>
            <a:r>
              <a:rPr lang="en" u="sng">
                <a:solidFill>
                  <a:schemeClr val="hlink"/>
                </a:solidFill>
                <a:hlinkClick r:id="rId3"/>
              </a:rPr>
              <a:t>cs61a@berkeley.edu</a:t>
            </a:r>
            <a:endParaRPr/>
          </a:p>
          <a:p>
            <a:pPr indent="-298450" lvl="0" marL="457200" rtl="0" algn="l">
              <a:spcBef>
                <a:spcPts val="0"/>
              </a:spcBef>
              <a:spcAft>
                <a:spcPts val="0"/>
              </a:spcAft>
              <a:buSzPts val="1100"/>
              <a:buAutoNum type="alphaLcParenBoth"/>
            </a:pPr>
            <a:r>
              <a:rPr lang="en"/>
              <a:t>Make a private Ed post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a:t>
            </a:r>
            <a:r>
              <a:rPr lang="en"/>
              <a:t>(c)</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e313a793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ee313a793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e313a793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ee313a793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e313a793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e313a793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scratch creator: “do we want to teach our kids how to play the piano or play the stereo?”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forklift analogy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french dictionary vs french poetry; “code taste”</a:t>
            </a:r>
            <a:endParaRPr>
              <a:solidFill>
                <a:schemeClr val="dk1"/>
              </a:solidFill>
            </a:endParaRPr>
          </a:p>
          <a:p>
            <a:pPr indent="0" lvl="0" marL="0" rtl="0" algn="l">
              <a:spcBef>
                <a:spcPts val="0"/>
              </a:spcBef>
              <a:spcAft>
                <a:spcPts val="0"/>
              </a:spcAft>
              <a:buNone/>
            </a:pPr>
            <a:r>
              <a:rPr lang="en">
                <a:solidFill>
                  <a:schemeClr val="dk1"/>
                </a:solidFill>
              </a:rPr>
              <a:t>answers are in the back of the book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e313a793c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ee313a793c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e313a793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e313a793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Respond asynchronously: </a:t>
            </a:r>
            <a:r>
              <a:rPr lang="en" u="sng">
                <a:solidFill>
                  <a:schemeClr val="hlink"/>
                </a:solidFill>
                <a:hlinkClick r:id="rId2"/>
              </a:rPr>
              <a:t>https://PollEv.com/free_text_polls/vUoBziL5cRqLQYRopo5yP/respond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do you want to build with your knowledge of CS?</a:t>
            </a:r>
            <a:endParaRPr/>
          </a:p>
          <a:p>
            <a:pPr indent="0" lvl="0" marL="0" rtl="0" algn="l">
              <a:spcBef>
                <a:spcPts val="0"/>
              </a:spcBef>
              <a:spcAft>
                <a:spcPts val="0"/>
              </a:spcAft>
              <a:buNone/>
            </a:pPr>
            <a:r>
              <a:rPr lang="en"/>
              <a:t>(free response word cloud, no correct/wrong answer)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e313a793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ee313a793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e313a793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e313a793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e313a793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e313a793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e313a793c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e313a793c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e313a793c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ee313a793c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https://PollEv.com/multiple_choice_polls/GIf90Z1qvotnDzwVsOOYj/respond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should you do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latin typeface="Consolas"/>
                <a:ea typeface="Consolas"/>
                <a:cs typeface="Consolas"/>
                <a:sym typeface="Consolas"/>
              </a:rPr>
              <a:t>&gt;&gt;&gt; cs cs61a</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File "&lt;python-input-0&gt;", line 1</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cs cs61a</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SyntaxError: invalid syntax</a:t>
            </a:r>
            <a:endParaRPr>
              <a:latin typeface="Consolas"/>
              <a:ea typeface="Consolas"/>
              <a:cs typeface="Consolas"/>
              <a:sym typeface="Consolas"/>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lphaLcParenBoth"/>
            </a:pPr>
            <a:r>
              <a:rPr lang="en"/>
              <a:t>Exit the terminal</a:t>
            </a:r>
            <a:endParaRPr/>
          </a:p>
          <a:p>
            <a:pPr indent="-298450" lvl="0" marL="457200" rtl="0" algn="l">
              <a:spcBef>
                <a:spcPts val="0"/>
              </a:spcBef>
              <a:spcAft>
                <a:spcPts val="0"/>
              </a:spcAft>
              <a:buSzPts val="1100"/>
              <a:buAutoNum type="alphaLcParenBoth"/>
            </a:pPr>
            <a:r>
              <a:rPr lang="en"/>
              <a:t>Exit the Python interpreter</a:t>
            </a:r>
            <a:endParaRPr/>
          </a:p>
          <a:p>
            <a:pPr indent="-298450" lvl="0" marL="457200" rtl="0" algn="l">
              <a:spcBef>
                <a:spcPts val="0"/>
              </a:spcBef>
              <a:spcAft>
                <a:spcPts val="0"/>
              </a:spcAft>
              <a:buSzPts val="1100"/>
              <a:buAutoNum type="alphaLcParenBoth"/>
            </a:pPr>
            <a:r>
              <a:rPr lang="en"/>
              <a:t>Retry the same command</a:t>
            </a:r>
            <a:endParaRPr/>
          </a:p>
          <a:p>
            <a:pPr indent="-298450" lvl="0" marL="457200" rtl="0" algn="l">
              <a:spcBef>
                <a:spcPts val="0"/>
              </a:spcBef>
              <a:spcAft>
                <a:spcPts val="0"/>
              </a:spcAft>
              <a:buSzPts val="1100"/>
              <a:buAutoNum type="alphaLcParenBoth"/>
            </a:pPr>
            <a:r>
              <a:rPr lang="en"/>
              <a:t>Use the ls command instead of cd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(b)</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e313a79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ee313a79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e313a793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ee313a793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e313a793c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e313a793c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Explain that weird floating point arithmetic is explained in CS 61C</a:t>
            </a:r>
            <a:endParaRPr/>
          </a:p>
          <a:p>
            <a:pPr indent="-298450" lvl="0" marL="457200" rtl="0" algn="l">
              <a:spcBef>
                <a:spcPts val="0"/>
              </a:spcBef>
              <a:spcAft>
                <a:spcPts val="0"/>
              </a:spcAft>
              <a:buSzPts val="1100"/>
              <a:buChar char="-"/>
            </a:pPr>
            <a:r>
              <a:rPr lang="en"/>
              <a:t>Order of operations is PEMDAS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ee313a793c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ee313a793c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e313a793c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e313a793c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https://PollEv.com/multiple_choice_polls/IiWLVV2YPqLUUOvOUUfRs/respond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Names and assignment: What would Python display?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latin typeface="Consolas"/>
                <a:ea typeface="Consolas"/>
                <a:cs typeface="Consolas"/>
                <a:sym typeface="Consolas"/>
              </a:rPr>
              <a:t>&gt;&gt;&gt; length = 5</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&gt;&gt;&gt; width = 10</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&gt;&gt;&gt; area = length * width</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&gt;&gt;&gt; area</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50</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&gt;&gt;&gt; width = 20</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&gt;&gt;&gt; area</a:t>
            </a:r>
            <a:endParaRPr>
              <a:latin typeface="Consolas"/>
              <a:ea typeface="Consolas"/>
              <a:cs typeface="Consolas"/>
              <a:sym typeface="Consolas"/>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lphaLcParenBoth"/>
            </a:pPr>
            <a:r>
              <a:rPr lang="en"/>
              <a:t>5</a:t>
            </a:r>
            <a:endParaRPr/>
          </a:p>
          <a:p>
            <a:pPr indent="-298450" lvl="0" marL="457200" rtl="0" algn="l">
              <a:spcBef>
                <a:spcPts val="0"/>
              </a:spcBef>
              <a:spcAft>
                <a:spcPts val="0"/>
              </a:spcAft>
              <a:buSzPts val="1100"/>
              <a:buAutoNum type="alphaLcParenBoth"/>
            </a:pPr>
            <a:r>
              <a:rPr lang="en"/>
              <a:t>10</a:t>
            </a:r>
            <a:endParaRPr/>
          </a:p>
          <a:p>
            <a:pPr indent="-298450" lvl="0" marL="457200" rtl="0" algn="l">
              <a:spcBef>
                <a:spcPts val="0"/>
              </a:spcBef>
              <a:spcAft>
                <a:spcPts val="0"/>
              </a:spcAft>
              <a:buSzPts val="1100"/>
              <a:buAutoNum type="alphaLcParenBoth"/>
            </a:pPr>
            <a:r>
              <a:rPr lang="en"/>
              <a:t>50</a:t>
            </a:r>
            <a:endParaRPr/>
          </a:p>
          <a:p>
            <a:pPr indent="-298450" lvl="0" marL="457200" rtl="0" algn="l">
              <a:spcBef>
                <a:spcPts val="0"/>
              </a:spcBef>
              <a:spcAft>
                <a:spcPts val="0"/>
              </a:spcAft>
              <a:buSzPts val="1100"/>
              <a:buAutoNum type="alphaLcParenBoth"/>
            </a:pPr>
            <a:r>
              <a:rPr lang="en"/>
              <a:t>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a:t>
            </a:r>
            <a:r>
              <a:rPr lang="en"/>
              <a:t>(c)</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e313a793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e313a793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e313a793c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ee313a793c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e313a793c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ee313a793c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e313a793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e313a793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ee313a793c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ee313a793c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e313a793c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ee313a793c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https://PollEv.com/multiple_choice_polls/BZTJPiuHZG8GOpi3nKOWL/respond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Functions: What would Python display?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&gt;&gt;&gt; f = max</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&gt;&gt;&gt; g = min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&gt;&gt;&gt; f(2, g(5, 3), 4)</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AutoNum type="alphaLcParenBoth"/>
            </a:pPr>
            <a:r>
              <a:rPr lang="en">
                <a:solidFill>
                  <a:schemeClr val="dk1"/>
                </a:solidFill>
              </a:rPr>
              <a:t>2</a:t>
            </a:r>
            <a:endParaRPr>
              <a:solidFill>
                <a:schemeClr val="dk1"/>
              </a:solidFill>
            </a:endParaRPr>
          </a:p>
          <a:p>
            <a:pPr indent="-298450" lvl="0" marL="457200" rtl="0" algn="l">
              <a:spcBef>
                <a:spcPts val="0"/>
              </a:spcBef>
              <a:spcAft>
                <a:spcPts val="0"/>
              </a:spcAft>
              <a:buClr>
                <a:schemeClr val="dk1"/>
              </a:buClr>
              <a:buSzPts val="1100"/>
              <a:buAutoNum type="alphaLcParenBoth"/>
            </a:pPr>
            <a:r>
              <a:rPr lang="en">
                <a:solidFill>
                  <a:schemeClr val="dk1"/>
                </a:solidFill>
              </a:rPr>
              <a:t>3</a:t>
            </a:r>
            <a:endParaRPr>
              <a:solidFill>
                <a:schemeClr val="dk1"/>
              </a:solidFill>
            </a:endParaRPr>
          </a:p>
          <a:p>
            <a:pPr indent="-298450" lvl="0" marL="457200" rtl="0" algn="l">
              <a:spcBef>
                <a:spcPts val="0"/>
              </a:spcBef>
              <a:spcAft>
                <a:spcPts val="0"/>
              </a:spcAft>
              <a:buClr>
                <a:schemeClr val="dk1"/>
              </a:buClr>
              <a:buSzPts val="1100"/>
              <a:buAutoNum type="alphaLcParenBoth"/>
            </a:pPr>
            <a:r>
              <a:rPr lang="en">
                <a:solidFill>
                  <a:schemeClr val="dk1"/>
                </a:solidFill>
              </a:rPr>
              <a:t>4</a:t>
            </a:r>
            <a:endParaRPr>
              <a:solidFill>
                <a:schemeClr val="dk1"/>
              </a:solidFill>
            </a:endParaRPr>
          </a:p>
          <a:p>
            <a:pPr indent="-298450" lvl="0" marL="457200" rtl="0" algn="l">
              <a:spcBef>
                <a:spcPts val="0"/>
              </a:spcBef>
              <a:spcAft>
                <a:spcPts val="0"/>
              </a:spcAft>
              <a:buClr>
                <a:schemeClr val="dk1"/>
              </a:buClr>
              <a:buSzPts val="1100"/>
              <a:buAutoNum type="alphaLcParenBoth"/>
            </a:pPr>
            <a:r>
              <a:rPr lang="en">
                <a:solidFill>
                  <a:schemeClr val="dk1"/>
                </a:solidFill>
              </a:rPr>
              <a:t>5</a:t>
            </a:r>
            <a:endParaRPr>
              <a:solidFill>
                <a:schemeClr val="dk1"/>
              </a:solidFill>
            </a:endParaRPr>
          </a:p>
          <a:p>
            <a:pPr indent="-298450" lvl="0" marL="457200" rtl="0" algn="l">
              <a:spcBef>
                <a:spcPts val="0"/>
              </a:spcBef>
              <a:spcAft>
                <a:spcPts val="0"/>
              </a:spcAft>
              <a:buClr>
                <a:schemeClr val="dk1"/>
              </a:buClr>
              <a:buSzPts val="1100"/>
              <a:buAutoNum type="alphaLcParenBoth"/>
            </a:pPr>
            <a:r>
              <a:rPr lang="en">
                <a:solidFill>
                  <a:schemeClr val="dk1"/>
                </a:solidFill>
              </a:rPr>
              <a:t>It would error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Answer: (c)</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Permalink to environment diagram: </a:t>
            </a:r>
            <a:r>
              <a:rPr lang="en" u="sng">
                <a:solidFill>
                  <a:schemeClr val="hlink"/>
                </a:solidFill>
                <a:hlinkClick r:id="rId3"/>
              </a:rPr>
              <a:t>https://pythontutor.com/cp/composingprograms.html#code=f%20%3D%20max%0Ag%20%3D%20min%0Af%282,%20g%285,%203%29,%204%29&amp;cumulative=true&amp;mode=edit&amp;origin=composingprograms.js&amp;py=3&amp;rawInputLstJSON=%5B%5D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e313a793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ee313a793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e313a793c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e313a793c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e313a793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ee313a793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e313a793c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ee313a793c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e313a793c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ee313a793c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e313a793c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ee313a793c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e313a793c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e313a793c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e313a793c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e313a793c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credit: </a:t>
            </a:r>
            <a:r>
              <a:rPr lang="en" u="sng">
                <a:solidFill>
                  <a:schemeClr val="hlink"/>
                </a:solidFill>
                <a:hlinkClick r:id="rId2"/>
              </a:rPr>
              <a:t>https://realpython.com/python-traceback/</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e313a793c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e313a793c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ee313a793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ee313a793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3"/>
              </a:buClr>
              <a:buSzPts val="4400"/>
              <a:buFont typeface="Inter ExtraBold"/>
              <a:buNone/>
              <a:defRPr b="0" sz="4400">
                <a:solidFill>
                  <a:schemeClr val="accent3"/>
                </a:solidFill>
                <a:latin typeface="Inter ExtraBold"/>
                <a:ea typeface="Inter ExtraBold"/>
                <a:cs typeface="Inter ExtraBold"/>
                <a:sym typeface="Inter ExtraBold"/>
              </a:defRPr>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None/>
              <a:defRPr sz="2400"/>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3600"/>
              <a:buFont typeface="Inter ExtraBold"/>
              <a:buNone/>
              <a:defRPr b="0" sz="3600">
                <a:solidFill>
                  <a:schemeClr val="accent3"/>
                </a:solidFill>
                <a:latin typeface="Inter ExtraBold"/>
                <a:ea typeface="Inter ExtraBold"/>
                <a:cs typeface="Inter ExtraBold"/>
                <a:sym typeface="Inter Extra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None/>
              <a:defRPr sz="2400"/>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0"/>
            <a:ext cx="91440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 name="Google Shape;20;p4"/>
          <p:cNvSpPr txBox="1"/>
          <p:nvPr>
            <p:ph type="title"/>
          </p:nvPr>
        </p:nvSpPr>
        <p:spPr>
          <a:xfrm>
            <a:off x="0" y="0"/>
            <a:ext cx="91440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Inter"/>
                <a:ea typeface="Inter"/>
                <a:cs typeface="Inter"/>
                <a:sym typeface="Inter"/>
              </a:defRPr>
            </a:lvl1pPr>
            <a:lvl2pPr lvl="1" rtl="0">
              <a:buNone/>
              <a:defRPr>
                <a:latin typeface="Inter"/>
                <a:ea typeface="Inter"/>
                <a:cs typeface="Inter"/>
                <a:sym typeface="Inter"/>
              </a:defRPr>
            </a:lvl2pPr>
            <a:lvl3pPr lvl="2" rtl="0">
              <a:buNone/>
              <a:defRPr>
                <a:latin typeface="Inter"/>
                <a:ea typeface="Inter"/>
                <a:cs typeface="Inter"/>
                <a:sym typeface="Inter"/>
              </a:defRPr>
            </a:lvl3pPr>
            <a:lvl4pPr lvl="3" rtl="0">
              <a:buNone/>
              <a:defRPr>
                <a:latin typeface="Inter"/>
                <a:ea typeface="Inter"/>
                <a:cs typeface="Inter"/>
                <a:sym typeface="Inter"/>
              </a:defRPr>
            </a:lvl4pPr>
            <a:lvl5pPr lvl="4" rtl="0">
              <a:buNone/>
              <a:defRPr>
                <a:latin typeface="Inter"/>
                <a:ea typeface="Inter"/>
                <a:cs typeface="Inter"/>
                <a:sym typeface="Inter"/>
              </a:defRPr>
            </a:lvl5pPr>
            <a:lvl6pPr lvl="5" rtl="0">
              <a:buNone/>
              <a:defRPr>
                <a:latin typeface="Inter"/>
                <a:ea typeface="Inter"/>
                <a:cs typeface="Inter"/>
                <a:sym typeface="Inter"/>
              </a:defRPr>
            </a:lvl6pPr>
            <a:lvl7pPr lvl="6" rtl="0">
              <a:buNone/>
              <a:defRPr>
                <a:latin typeface="Inter"/>
                <a:ea typeface="Inter"/>
                <a:cs typeface="Inter"/>
                <a:sym typeface="Inter"/>
              </a:defRPr>
            </a:lvl7pPr>
            <a:lvl8pPr lvl="7" rtl="0">
              <a:buNone/>
              <a:defRPr>
                <a:latin typeface="Inter"/>
                <a:ea typeface="Inter"/>
                <a:cs typeface="Inter"/>
                <a:sym typeface="Inter"/>
              </a:defRPr>
            </a:lvl8pPr>
            <a:lvl9pPr lvl="8" rtl="0">
              <a:buNone/>
              <a:defRPr>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3" name="Google Shape;23;p4"/>
          <p:cNvCxnSpPr/>
          <p:nvPr/>
        </p:nvCxnSpPr>
        <p:spPr>
          <a:xfrm>
            <a:off x="0" y="457200"/>
            <a:ext cx="91440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4" name="Shape 24"/>
        <p:cNvGrpSpPr/>
        <p:nvPr/>
      </p:nvGrpSpPr>
      <p:grpSpPr>
        <a:xfrm>
          <a:off x="0" y="0"/>
          <a:ext cx="0" cy="0"/>
          <a:chOff x="0" y="0"/>
          <a:chExt cx="0" cy="0"/>
        </a:xfrm>
      </p:grpSpPr>
      <p:sp>
        <p:nvSpPr>
          <p:cNvPr id="25" name="Google Shape;25;p5"/>
          <p:cNvSpPr/>
          <p:nvPr/>
        </p:nvSpPr>
        <p:spPr>
          <a:xfrm>
            <a:off x="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pic>
        <p:nvPicPr>
          <p:cNvPr id="28" name="Google Shape;28;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9" name="Google Shape;29;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2676"/>
              </a:buClr>
              <a:buSzPts val="3600"/>
              <a:buNone/>
              <a:defRPr sz="3600">
                <a:solidFill>
                  <a:srgbClr val="002676"/>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30" name="Google Shape;30;p5"/>
          <p:cNvCxnSpPr/>
          <p:nvPr/>
        </p:nvCxnSpPr>
        <p:spPr>
          <a:xfrm>
            <a:off x="266975" y="4049175"/>
            <a:ext cx="4038000" cy="0"/>
          </a:xfrm>
          <a:prstGeom prst="straightConnector1">
            <a:avLst/>
          </a:prstGeom>
          <a:noFill/>
          <a:ln cap="flat" cmpd="sng" w="38100">
            <a:solidFill>
              <a:schemeClr val="accent4"/>
            </a:solidFill>
            <a:prstDash val="solid"/>
            <a:round/>
            <a:headEnd len="med" w="med" type="none"/>
            <a:tailEnd len="med" w="med" type="none"/>
          </a:ln>
        </p:spPr>
      </p:cxnSp>
      <p:sp>
        <p:nvSpPr>
          <p:cNvPr id="31" name="Google Shape;31;p5"/>
          <p:cNvSpPr txBox="1"/>
          <p:nvPr/>
        </p:nvSpPr>
        <p:spPr>
          <a:xfrm>
            <a:off x="177925" y="4068000"/>
            <a:ext cx="4158000" cy="3936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t/>
            </a:r>
            <a:endParaRPr sz="1800">
              <a:solidFill>
                <a:srgbClr val="000000"/>
              </a:solidFill>
              <a:latin typeface="Inter"/>
              <a:ea typeface="Inter"/>
              <a:cs typeface="Inter"/>
              <a:sym typeface="Inte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2" name="Shape 32"/>
        <p:cNvGrpSpPr/>
        <p:nvPr/>
      </p:nvGrpSpPr>
      <p:grpSpPr>
        <a:xfrm>
          <a:off x="0" y="0"/>
          <a:ext cx="0" cy="0"/>
          <a:chOff x="0" y="0"/>
          <a:chExt cx="0" cy="0"/>
        </a:xfrm>
      </p:grpSpPr>
      <p:sp>
        <p:nvSpPr>
          <p:cNvPr id="33" name="Google Shape;33;p6"/>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2500">
                <a:solidFill>
                  <a:schemeClr val="accent3"/>
                </a:solidFill>
                <a:latin typeface="Inter ExtraBold"/>
                <a:ea typeface="Inter ExtraBold"/>
                <a:cs typeface="Inter ExtraBold"/>
                <a:sym typeface="Inter ExtraBold"/>
              </a:rPr>
              <a:t>Demo Slides</a:t>
            </a:r>
            <a:endParaRPr sz="2500">
              <a:solidFill>
                <a:schemeClr val="accent3"/>
              </a:solidFill>
              <a:latin typeface="Inter ExtraBold"/>
              <a:ea typeface="Inter ExtraBold"/>
              <a:cs typeface="Inter ExtraBold"/>
              <a:sym typeface="Inter ExtraBold"/>
            </a:endParaRPr>
          </a:p>
        </p:txBody>
      </p:sp>
      <p:sp>
        <p:nvSpPr>
          <p:cNvPr id="37" name="Google Shape;37;p6"/>
          <p:cNvSpPr txBox="1"/>
          <p:nvPr>
            <p:ph idx="2" type="body"/>
          </p:nvPr>
        </p:nvSpPr>
        <p:spPr>
          <a:xfrm>
            <a:off x="76200" y="466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38" name="Google Shape;38;p6"/>
          <p:cNvSpPr/>
          <p:nvPr/>
        </p:nvSpPr>
        <p:spPr>
          <a:xfrm>
            <a:off x="0" y="0"/>
            <a:ext cx="45720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 name="Google Shape;39;p6"/>
          <p:cNvSpPr txBox="1"/>
          <p:nvPr>
            <p:ph type="title"/>
          </p:nvPr>
        </p:nvSpPr>
        <p:spPr>
          <a:xfrm>
            <a:off x="0" y="0"/>
            <a:ext cx="45720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0" name="Google Shape;40;p6"/>
          <p:cNvCxnSpPr/>
          <p:nvPr/>
        </p:nvCxnSpPr>
        <p:spPr>
          <a:xfrm>
            <a:off x="0" y="457200"/>
            <a:ext cx="45720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ECTION_TITLE_AND_DESCRIPTION_2_1_1">
    <p:spTree>
      <p:nvGrpSpPr>
        <p:cNvPr id="41" name="Shape 41"/>
        <p:cNvGrpSpPr/>
        <p:nvPr/>
      </p:nvGrpSpPr>
      <p:grpSpPr>
        <a:xfrm>
          <a:off x="0" y="0"/>
          <a:ext cx="0" cy="0"/>
          <a:chOff x="0" y="0"/>
          <a:chExt cx="0" cy="0"/>
        </a:xfrm>
      </p:grpSpPr>
      <p:sp>
        <p:nvSpPr>
          <p:cNvPr id="42" name="Google Shape;42;p7"/>
          <p:cNvSpPr/>
          <p:nvPr/>
        </p:nvSpPr>
        <p:spPr>
          <a:xfrm>
            <a:off x="0" y="-125"/>
            <a:ext cx="27432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txBox="1"/>
          <p:nvPr>
            <p:ph idx="1" type="body"/>
          </p:nvPr>
        </p:nvSpPr>
        <p:spPr>
          <a:xfrm>
            <a:off x="2819400" y="457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7"/>
          <p:cNvSpPr txBox="1"/>
          <p:nvPr/>
        </p:nvSpPr>
        <p:spPr>
          <a:xfrm>
            <a:off x="208446" y="3420075"/>
            <a:ext cx="2534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accent3"/>
                </a:solidFill>
                <a:latin typeface="Inter ExtraBold"/>
                <a:ea typeface="Inter ExtraBold"/>
                <a:cs typeface="Inter ExtraBold"/>
                <a:sym typeface="Inter ExtraBold"/>
              </a:rPr>
              <a:t>Summary</a:t>
            </a:r>
            <a:endParaRPr sz="2500">
              <a:solidFill>
                <a:schemeClr val="accent3"/>
              </a:solidFill>
              <a:latin typeface="Inter ExtraBold"/>
              <a:ea typeface="Inter ExtraBold"/>
              <a:cs typeface="Inter ExtraBold"/>
              <a:sym typeface="Inter ExtraBold"/>
            </a:endParaRPr>
          </a:p>
          <a:p>
            <a:pPr indent="0" lvl="0" marL="0" rtl="0" algn="l">
              <a:spcBef>
                <a:spcPts val="0"/>
              </a:spcBef>
              <a:spcAft>
                <a:spcPts val="0"/>
              </a:spcAft>
              <a:buNone/>
            </a:pPr>
            <a:r>
              <a:rPr lang="en" sz="2500">
                <a:solidFill>
                  <a:schemeClr val="accent3"/>
                </a:solidFill>
                <a:latin typeface="Inter ExtraBold"/>
                <a:ea typeface="Inter ExtraBold"/>
                <a:cs typeface="Inter ExtraBold"/>
                <a:sym typeface="Inter ExtraBold"/>
              </a:rPr>
              <a:t>So Far</a:t>
            </a:r>
            <a:endParaRPr sz="2500">
              <a:solidFill>
                <a:schemeClr val="accent3"/>
              </a:solidFill>
              <a:latin typeface="Inter ExtraBold"/>
              <a:ea typeface="Inter ExtraBold"/>
              <a:cs typeface="Inter ExtraBold"/>
              <a:sym typeface="Inter ExtraBold"/>
            </a:endParaRPr>
          </a:p>
        </p:txBody>
      </p:sp>
      <p:sp>
        <p:nvSpPr>
          <p:cNvPr id="47" name="Google Shape;47;p7"/>
          <p:cNvSpPr/>
          <p:nvPr/>
        </p:nvSpPr>
        <p:spPr>
          <a:xfrm>
            <a:off x="2743200" y="0"/>
            <a:ext cx="64008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 name="Google Shape;48;p7"/>
          <p:cNvSpPr txBox="1"/>
          <p:nvPr>
            <p:ph type="title"/>
          </p:nvPr>
        </p:nvSpPr>
        <p:spPr>
          <a:xfrm>
            <a:off x="2743200" y="0"/>
            <a:ext cx="64008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9" name="Google Shape;49;p7"/>
          <p:cNvCxnSpPr/>
          <p:nvPr/>
        </p:nvCxnSpPr>
        <p:spPr>
          <a:xfrm>
            <a:off x="2743200" y="457200"/>
            <a:ext cx="64008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1">
  <p:cSld name="SECTION_TITLE_AND_DESCRIPTION_2_1_1_3">
    <p:spTree>
      <p:nvGrpSpPr>
        <p:cNvPr id="50" name="Shape 50"/>
        <p:cNvGrpSpPr/>
        <p:nvPr/>
      </p:nvGrpSpPr>
      <p:grpSpPr>
        <a:xfrm>
          <a:off x="0" y="0"/>
          <a:ext cx="0" cy="0"/>
          <a:chOff x="0" y="0"/>
          <a:chExt cx="0" cy="0"/>
        </a:xfrm>
      </p:grpSpPr>
      <p:sp>
        <p:nvSpPr>
          <p:cNvPr id="51" name="Google Shape;51;p8"/>
          <p:cNvSpPr/>
          <p:nvPr/>
        </p:nvSpPr>
        <p:spPr>
          <a:xfrm>
            <a:off x="0" y="-125"/>
            <a:ext cx="2743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8"/>
          <p:cNvSpPr txBox="1"/>
          <p:nvPr>
            <p:ph idx="1" type="subTitle"/>
          </p:nvPr>
        </p:nvSpPr>
        <p:spPr>
          <a:xfrm>
            <a:off x="225450" y="3943400"/>
            <a:ext cx="25347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3" name="Google Shape;53;p8"/>
          <p:cNvSpPr txBox="1"/>
          <p:nvPr>
            <p:ph idx="2" type="body"/>
          </p:nvPr>
        </p:nvSpPr>
        <p:spPr>
          <a:xfrm>
            <a:off x="2819400" y="457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6" y="3420075"/>
            <a:ext cx="2534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accent3"/>
                </a:solidFill>
                <a:latin typeface="Inter ExtraBold"/>
                <a:ea typeface="Inter ExtraBold"/>
                <a:cs typeface="Inter ExtraBold"/>
                <a:sym typeface="Inter ExtraBold"/>
              </a:rPr>
              <a:t>Demo</a:t>
            </a:r>
            <a:endParaRPr sz="2500">
              <a:solidFill>
                <a:schemeClr val="accent3"/>
              </a:solidFill>
              <a:latin typeface="Inter ExtraBold"/>
              <a:ea typeface="Inter ExtraBold"/>
              <a:cs typeface="Inter ExtraBold"/>
              <a:sym typeface="Inter ExtraBold"/>
            </a:endParaRPr>
          </a:p>
        </p:txBody>
      </p:sp>
      <p:sp>
        <p:nvSpPr>
          <p:cNvPr id="57" name="Google Shape;57;p8"/>
          <p:cNvSpPr/>
          <p:nvPr/>
        </p:nvSpPr>
        <p:spPr>
          <a:xfrm>
            <a:off x="2743200" y="0"/>
            <a:ext cx="64008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8" name="Google Shape;58;p8"/>
          <p:cNvSpPr txBox="1"/>
          <p:nvPr>
            <p:ph type="title"/>
          </p:nvPr>
        </p:nvSpPr>
        <p:spPr>
          <a:xfrm>
            <a:off x="2743200" y="0"/>
            <a:ext cx="64008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9" name="Google Shape;59;p8"/>
          <p:cNvCxnSpPr/>
          <p:nvPr/>
        </p:nvCxnSpPr>
        <p:spPr>
          <a:xfrm>
            <a:off x="2743200" y="457200"/>
            <a:ext cx="64008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Code">
  <p:cSld name="SECTION_TITLE_AND_DESCRIPTION_2_1_1_2">
    <p:spTree>
      <p:nvGrpSpPr>
        <p:cNvPr id="60" name="Shape 60"/>
        <p:cNvGrpSpPr/>
        <p:nvPr/>
      </p:nvGrpSpPr>
      <p:grpSpPr>
        <a:xfrm>
          <a:off x="0" y="0"/>
          <a:ext cx="0" cy="0"/>
          <a:chOff x="0" y="0"/>
          <a:chExt cx="0" cy="0"/>
        </a:xfrm>
      </p:grpSpPr>
      <p:sp>
        <p:nvSpPr>
          <p:cNvPr id="61" name="Google Shape;61;p9"/>
          <p:cNvSpPr/>
          <p:nvPr/>
        </p:nvSpPr>
        <p:spPr>
          <a:xfrm>
            <a:off x="0" y="-125"/>
            <a:ext cx="2743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3" name="Google Shape;63;p9"/>
          <p:cNvSpPr txBox="1"/>
          <p:nvPr/>
        </p:nvSpPr>
        <p:spPr>
          <a:xfrm>
            <a:off x="208451" y="3420075"/>
            <a:ext cx="2125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accent3"/>
                </a:solidFill>
                <a:latin typeface="Inter ExtraBold"/>
                <a:ea typeface="Inter ExtraBold"/>
                <a:cs typeface="Inter ExtraBold"/>
                <a:sym typeface="Inter ExtraBold"/>
              </a:rPr>
              <a:t>Demo Code</a:t>
            </a:r>
            <a:endParaRPr sz="2500">
              <a:solidFill>
                <a:schemeClr val="accent3"/>
              </a:solidFill>
              <a:latin typeface="Inter ExtraBold"/>
              <a:ea typeface="Inter ExtraBold"/>
              <a:cs typeface="Inter ExtraBold"/>
              <a:sym typeface="Inter ExtraBold"/>
            </a:endParaRPr>
          </a:p>
        </p:txBody>
      </p: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9"/>
          <p:cNvSpPr txBox="1"/>
          <p:nvPr>
            <p:ph idx="2" type="body"/>
          </p:nvPr>
        </p:nvSpPr>
        <p:spPr>
          <a:xfrm>
            <a:off x="2848425" y="457200"/>
            <a:ext cx="6171000" cy="41916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Font typeface="Source Code Pro"/>
              <a:buChar char="•"/>
              <a:defRPr>
                <a:latin typeface="Source Code Pro"/>
                <a:ea typeface="Source Code Pro"/>
                <a:cs typeface="Source Code Pro"/>
                <a:sym typeface="Source Code Pro"/>
              </a:defRPr>
            </a:lvl1pPr>
            <a:lvl2pPr indent="-342900" lvl="1" marL="914400">
              <a:spcBef>
                <a:spcPts val="600"/>
              </a:spcBef>
              <a:spcAft>
                <a:spcPts val="0"/>
              </a:spcAft>
              <a:buSzPts val="1800"/>
              <a:buFont typeface="Source Code Pro"/>
              <a:buChar char="•"/>
              <a:defRPr>
                <a:latin typeface="Source Code Pro"/>
                <a:ea typeface="Source Code Pro"/>
                <a:cs typeface="Source Code Pro"/>
                <a:sym typeface="Source Code Pro"/>
              </a:defRPr>
            </a:lvl2pPr>
            <a:lvl3pPr indent="-342900" lvl="2" marL="1371600">
              <a:spcBef>
                <a:spcPts val="600"/>
              </a:spcBef>
              <a:spcAft>
                <a:spcPts val="0"/>
              </a:spcAft>
              <a:buSzPts val="1800"/>
              <a:buFont typeface="Source Code Pro"/>
              <a:buChar char="•"/>
              <a:defRPr>
                <a:latin typeface="Source Code Pro"/>
                <a:ea typeface="Source Code Pro"/>
                <a:cs typeface="Source Code Pro"/>
                <a:sym typeface="Source Code Pro"/>
              </a:defRPr>
            </a:lvl3pPr>
            <a:lvl4pPr indent="-342900" lvl="3" marL="1828800">
              <a:spcBef>
                <a:spcPts val="600"/>
              </a:spcBef>
              <a:spcAft>
                <a:spcPts val="0"/>
              </a:spcAft>
              <a:buSzPts val="1800"/>
              <a:buFont typeface="Source Code Pro"/>
              <a:buChar char="•"/>
              <a:defRPr>
                <a:latin typeface="Source Code Pro"/>
                <a:ea typeface="Source Code Pro"/>
                <a:cs typeface="Source Code Pro"/>
                <a:sym typeface="Source Code Pro"/>
              </a:defRPr>
            </a:lvl4pPr>
            <a:lvl5pPr indent="-342900" lvl="4" marL="2286000">
              <a:spcBef>
                <a:spcPts val="600"/>
              </a:spcBef>
              <a:spcAft>
                <a:spcPts val="0"/>
              </a:spcAft>
              <a:buSzPts val="1800"/>
              <a:buFont typeface="Source Code Pro"/>
              <a:buChar char="•"/>
              <a:defRPr>
                <a:latin typeface="Source Code Pro"/>
                <a:ea typeface="Source Code Pro"/>
                <a:cs typeface="Source Code Pro"/>
                <a:sym typeface="Source Code Pro"/>
              </a:defRPr>
            </a:lvl5pPr>
            <a:lvl6pPr indent="-342900" lvl="5" marL="2743200">
              <a:spcBef>
                <a:spcPts val="600"/>
              </a:spcBef>
              <a:spcAft>
                <a:spcPts val="0"/>
              </a:spcAft>
              <a:buSzPts val="1800"/>
              <a:buFont typeface="Source Code Pro"/>
              <a:buChar char="•"/>
              <a:defRPr>
                <a:latin typeface="Source Code Pro"/>
                <a:ea typeface="Source Code Pro"/>
                <a:cs typeface="Source Code Pro"/>
                <a:sym typeface="Source Code Pro"/>
              </a:defRPr>
            </a:lvl6pPr>
            <a:lvl7pPr indent="-342900" lvl="6" marL="3200400">
              <a:spcBef>
                <a:spcPts val="600"/>
              </a:spcBef>
              <a:spcAft>
                <a:spcPts val="0"/>
              </a:spcAft>
              <a:buSzPts val="1800"/>
              <a:buFont typeface="Source Code Pro"/>
              <a:buChar char="•"/>
              <a:defRPr>
                <a:latin typeface="Source Code Pro"/>
                <a:ea typeface="Source Code Pro"/>
                <a:cs typeface="Source Code Pro"/>
                <a:sym typeface="Source Code Pro"/>
              </a:defRPr>
            </a:lvl7pPr>
            <a:lvl8pPr indent="-342900" lvl="7" marL="3657600">
              <a:spcBef>
                <a:spcPts val="600"/>
              </a:spcBef>
              <a:spcAft>
                <a:spcPts val="0"/>
              </a:spcAft>
              <a:buSzPts val="1800"/>
              <a:buFont typeface="Source Code Pro"/>
              <a:buChar char="•"/>
              <a:defRPr>
                <a:latin typeface="Source Code Pro"/>
                <a:ea typeface="Source Code Pro"/>
                <a:cs typeface="Source Code Pro"/>
                <a:sym typeface="Source Code Pro"/>
              </a:defRPr>
            </a:lvl8pPr>
            <a:lvl9pPr indent="-342900" lvl="8" marL="4114800">
              <a:spcBef>
                <a:spcPts val="600"/>
              </a:spcBef>
              <a:spcAft>
                <a:spcPts val="0"/>
              </a:spcAft>
              <a:buSzPts val="1800"/>
              <a:buFont typeface="Source Code Pro"/>
              <a:buChar char="•"/>
              <a:defRPr>
                <a:latin typeface="Source Code Pro"/>
                <a:ea typeface="Source Code Pro"/>
                <a:cs typeface="Source Code Pro"/>
                <a:sym typeface="Source Code Pro"/>
              </a:defRPr>
            </a:lvl9pPr>
          </a:lstStyle>
          <a:p/>
        </p:txBody>
      </p:sp>
      <p:sp>
        <p:nvSpPr>
          <p:cNvPr id="67" name="Google Shape;67;p9"/>
          <p:cNvSpPr/>
          <p:nvPr/>
        </p:nvSpPr>
        <p:spPr>
          <a:xfrm>
            <a:off x="2743200" y="0"/>
            <a:ext cx="64008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 name="Google Shape;68;p9"/>
          <p:cNvSpPr txBox="1"/>
          <p:nvPr>
            <p:ph type="title"/>
          </p:nvPr>
        </p:nvSpPr>
        <p:spPr>
          <a:xfrm>
            <a:off x="2743200" y="0"/>
            <a:ext cx="64008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9" name="Google Shape;69;p9"/>
          <p:cNvCxnSpPr/>
          <p:nvPr/>
        </p:nvCxnSpPr>
        <p:spPr>
          <a:xfrm>
            <a:off x="2743200" y="457200"/>
            <a:ext cx="64008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0"/>
          <p:cNvSpPr txBox="1"/>
          <p:nvPr>
            <p:ph idx="1" type="body"/>
          </p:nvPr>
        </p:nvSpPr>
        <p:spPr>
          <a:xfrm>
            <a:off x="4812381" y="457200"/>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0"/>
          <p:cNvSpPr txBox="1"/>
          <p:nvPr>
            <p:ph idx="2" type="body"/>
          </p:nvPr>
        </p:nvSpPr>
        <p:spPr>
          <a:xfrm>
            <a:off x="95431" y="457200"/>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74" name="Google Shape;74;p10"/>
          <p:cNvSpPr/>
          <p:nvPr/>
        </p:nvSpPr>
        <p:spPr>
          <a:xfrm>
            <a:off x="0" y="0"/>
            <a:ext cx="91440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5" name="Google Shape;75;p10"/>
          <p:cNvSpPr txBox="1"/>
          <p:nvPr>
            <p:ph type="title"/>
          </p:nvPr>
        </p:nvSpPr>
        <p:spPr>
          <a:xfrm>
            <a:off x="0" y="0"/>
            <a:ext cx="91440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6" name="Google Shape;76;p10"/>
          <p:cNvCxnSpPr/>
          <p:nvPr/>
        </p:nvCxnSpPr>
        <p:spPr>
          <a:xfrm>
            <a:off x="0" y="457200"/>
            <a:ext cx="91440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1"/>
          <p:cNvSpPr/>
          <p:nvPr/>
        </p:nvSpPr>
        <p:spPr>
          <a:xfrm>
            <a:off x="0" y="0"/>
            <a:ext cx="91440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 name="Google Shape;80;p11"/>
          <p:cNvSpPr txBox="1"/>
          <p:nvPr>
            <p:ph type="title"/>
          </p:nvPr>
        </p:nvSpPr>
        <p:spPr>
          <a:xfrm>
            <a:off x="0" y="0"/>
            <a:ext cx="91440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Clr>
                <a:srgbClr val="FAB516"/>
              </a:buClr>
              <a:buSzPts val="1800"/>
              <a:buNone/>
              <a:defRPr>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1" name="Google Shape;81;p11"/>
          <p:cNvCxnSpPr/>
          <p:nvPr/>
        </p:nvCxnSpPr>
        <p:spPr>
          <a:xfrm>
            <a:off x="0" y="457200"/>
            <a:ext cx="9144000" cy="9000"/>
          </a:xfrm>
          <a:prstGeom prst="straightConnector1">
            <a:avLst/>
          </a:prstGeom>
          <a:noFill/>
          <a:ln cap="flat" cmpd="sng" w="38100">
            <a:solidFill>
              <a:srgbClr val="F0B91B"/>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1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3"/>
              </a:buClr>
              <a:buSzPts val="4800"/>
              <a:buNone/>
              <a:defRPr b="1" sz="4800">
                <a:solidFill>
                  <a:schemeClr val="accent3"/>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5" name="Shape 85"/>
        <p:cNvGrpSpPr/>
        <p:nvPr/>
      </p:nvGrpSpPr>
      <p:grpSpPr>
        <a:xfrm>
          <a:off x="0" y="0"/>
          <a:ext cx="0" cy="0"/>
          <a:chOff x="0" y="0"/>
          <a:chExt cx="0" cy="0"/>
        </a:xfrm>
      </p:grpSpPr>
      <p:sp>
        <p:nvSpPr>
          <p:cNvPr id="86" name="Google Shape;86;p13"/>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3"/>
              </a:buClr>
              <a:buSzPts val="1800"/>
              <a:buNone/>
              <a:defRPr>
                <a:solidFill>
                  <a:schemeClr val="accent3"/>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1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89" name="Google Shape;8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3"/>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2400"/>
              <a:buNone/>
              <a:defRPr sz="2400">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4" name="Google Shape;94;p14"/>
          <p:cNvCxnSpPr/>
          <p:nvPr/>
        </p:nvCxnSpPr>
        <p:spPr>
          <a:xfrm>
            <a:off x="168250" y="4288400"/>
            <a:ext cx="8757000" cy="0"/>
          </a:xfrm>
          <a:prstGeom prst="straightConnector1">
            <a:avLst/>
          </a:prstGeom>
          <a:noFill/>
          <a:ln cap="flat" cmpd="sng" w="19050">
            <a:solidFill>
              <a:schemeClr val="accent4"/>
            </a:solidFill>
            <a:prstDash val="solid"/>
            <a:round/>
            <a:headEnd len="med" w="med" type="none"/>
            <a:tailEnd len="med" w="med" type="none"/>
          </a:ln>
        </p:spPr>
      </p:cxnSp>
      <p:sp>
        <p:nvSpPr>
          <p:cNvPr id="95" name="Google Shape;95;p14"/>
          <p:cNvSpPr/>
          <p:nvPr/>
        </p:nvSpPr>
        <p:spPr>
          <a:xfrm>
            <a:off x="0" y="4230550"/>
            <a:ext cx="9144000" cy="9144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96" name="Google Shape;96;p14"/>
          <p:cNvCxnSpPr/>
          <p:nvPr/>
        </p:nvCxnSpPr>
        <p:spPr>
          <a:xfrm>
            <a:off x="0" y="4230550"/>
            <a:ext cx="9144000" cy="9000"/>
          </a:xfrm>
          <a:prstGeom prst="straightConnector1">
            <a:avLst/>
          </a:prstGeom>
          <a:noFill/>
          <a:ln cap="flat" cmpd="sng" w="38100">
            <a:solidFill>
              <a:srgbClr val="F0B91B"/>
            </a:solidFill>
            <a:prstDash val="solid"/>
            <a:round/>
            <a:headEnd len="med" w="med" type="none"/>
            <a:tailEnd len="med" w="med" type="none"/>
          </a:ln>
        </p:spPr>
      </p:cxnSp>
      <p:sp>
        <p:nvSpPr>
          <p:cNvPr id="97" name="Google Shape;97;p14"/>
          <p:cNvSpPr txBox="1"/>
          <p:nvPr>
            <p:ph idx="2" type="title"/>
          </p:nvPr>
        </p:nvSpPr>
        <p:spPr>
          <a:xfrm>
            <a:off x="0" y="4401400"/>
            <a:ext cx="9144000" cy="5727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AB516"/>
              </a:buClr>
              <a:buSzPts val="2400"/>
              <a:buNone/>
              <a:defRPr sz="2400">
                <a:solidFill>
                  <a:srgbClr val="FAB516"/>
                </a:solidFill>
              </a:defRPr>
            </a:lvl1pPr>
            <a:lvl2pPr lvl="1" rtl="0">
              <a:spcBef>
                <a:spcPts val="4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7"/>
          <p:cNvSpPr/>
          <p:nvPr/>
        </p:nvSpPr>
        <p:spPr>
          <a:xfrm>
            <a:off x="0" y="-125"/>
            <a:ext cx="4572000" cy="51435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pic>
        <p:nvPicPr>
          <p:cNvPr id="106" name="Google Shape;106;p1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7"/>
          <p:cNvCxnSpPr/>
          <p:nvPr/>
        </p:nvCxnSpPr>
        <p:spPr>
          <a:xfrm>
            <a:off x="266975" y="4049175"/>
            <a:ext cx="4038000" cy="0"/>
          </a:xfrm>
          <a:prstGeom prst="straightConnector1">
            <a:avLst/>
          </a:prstGeom>
          <a:noFill/>
          <a:ln cap="flat" cmpd="sng" w="38100">
            <a:solidFill>
              <a:schemeClr val="accent4"/>
            </a:solidFill>
            <a:prstDash val="solid"/>
            <a:round/>
            <a:headEnd len="med" w="med" type="none"/>
            <a:tailEnd len="med" w="med" type="none"/>
          </a:ln>
        </p:spPr>
      </p:cxnSp>
      <p:sp>
        <p:nvSpPr>
          <p:cNvPr id="109" name="Google Shape;109;p1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8"/>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3"/>
              </a:buClr>
              <a:buSzPts val="3600"/>
              <a:buNone/>
              <a:defRPr sz="3600">
                <a:solidFill>
                  <a:schemeClr val="accent3"/>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3" name="Google Shape;113;p1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19"/>
          <p:cNvSpPr/>
          <p:nvPr/>
        </p:nvSpPr>
        <p:spPr>
          <a:xfrm>
            <a:off x="0" y="6"/>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19"/>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19"/>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19"/>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2000"/>
              <a:buNone/>
              <a:defRPr sz="2000">
                <a:solidFill>
                  <a:schemeClr val="accent3"/>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122" name="Google Shape;122;p19"/>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26" name="Shape 126"/>
        <p:cNvGrpSpPr/>
        <p:nvPr/>
      </p:nvGrpSpPr>
      <p:grpSpPr>
        <a:xfrm>
          <a:off x="0" y="0"/>
          <a:ext cx="0" cy="0"/>
          <a:chOff x="0" y="0"/>
          <a:chExt cx="0" cy="0"/>
        </a:xfrm>
      </p:grpSpPr>
      <p:sp>
        <p:nvSpPr>
          <p:cNvPr id="127" name="Google Shape;12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1"/>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0" name="Google Shape;130;p21"/>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1" name="Google Shape;131;p21"/>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1800"/>
              <a:buNone/>
              <a:defRPr>
                <a:solidFill>
                  <a:schemeClr val="accent3"/>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2.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3"/>
              </a:buClr>
              <a:buSzPts val="1800"/>
              <a:buFont typeface="Inter"/>
              <a:buNone/>
              <a:defRPr b="1" sz="1800">
                <a:solidFill>
                  <a:schemeClr val="accent3"/>
                </a:solidFill>
                <a:latin typeface="Inter"/>
                <a:ea typeface="Inter"/>
                <a:cs typeface="Inter"/>
                <a:sym typeface="Inter"/>
              </a:defRPr>
            </a:lvl1pPr>
            <a:lvl2pPr lvl="1"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3000"/>
              <a:buFont typeface="Roboto Medium"/>
              <a:buNone/>
              <a:defRPr sz="30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42900" lvl="1" marL="9144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2pPr>
            <a:lvl3pPr indent="-342900" lvl="2" marL="13716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3pPr>
            <a:lvl4pPr indent="-342900" lvl="3" marL="18288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4pPr>
            <a:lvl5pPr indent="-342900" lvl="4" marL="22860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5pPr>
            <a:lvl6pPr indent="-342900" lvl="5" marL="27432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6pPr>
            <a:lvl7pPr indent="-342900" lvl="6" marL="32004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7pPr>
            <a:lvl8pPr indent="-342900" lvl="7" marL="36576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8pPr>
            <a:lvl9pPr indent="-342900" lvl="8" marL="4114800" rtl="0">
              <a:lnSpc>
                <a:spcPct val="100000"/>
              </a:lnSpc>
              <a:spcBef>
                <a:spcPts val="600"/>
              </a:spcBef>
              <a:spcAft>
                <a:spcPts val="0"/>
              </a:spcAft>
              <a:buClr>
                <a:schemeClr val="dk1"/>
              </a:buClr>
              <a:buSzPts val="1800"/>
              <a:buFont typeface="Inter"/>
              <a:buChar char="•"/>
              <a:defRPr sz="1800">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pollev.com/rebeccadang831"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hyperlink" Target="https://phrdang.github.io" TargetMode="External"/><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2.eecs.berkeley.edu/Pubs/TechRpts/2026/EECS-2026-196.html" TargetMode="External"/><Relationship Id="rId4" Type="http://schemas.openxmlformats.org/officeDocument/2006/relationships/hyperlink" Target="https://data-188-berkeley.github.io/sp26/" TargetMode="External"/><Relationship Id="rId9" Type="http://schemas.openxmlformats.org/officeDocument/2006/relationships/hyperlink" Target="https://letterboxd.com/phrdang/" TargetMode="External"/><Relationship Id="rId5" Type="http://schemas.openxmlformats.org/officeDocument/2006/relationships/hyperlink" Target="https://c88c.org" TargetMode="External"/><Relationship Id="rId6" Type="http://schemas.openxmlformats.org/officeDocument/2006/relationships/hyperlink" Target="https://data101.org/fa24/" TargetMode="External"/><Relationship Id="rId7" Type="http://schemas.openxmlformats.org/officeDocument/2006/relationships/hyperlink" Target="https://cs61a.org" TargetMode="External"/><Relationship Id="rId8" Type="http://schemas.openxmlformats.org/officeDocument/2006/relationships/hyperlink" Target="https://csmentors.studentorg.berkeley.edu/#/" TargetMode="External"/></Relationships>
</file>

<file path=ppt/slides/_rels/slide4.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9.png"/><Relationship Id="rId12"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12.png"/><Relationship Id="rId7" Type="http://schemas.openxmlformats.org/officeDocument/2006/relationships/image" Target="../media/image4.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21.png"/><Relationship Id="rId12" Type="http://schemas.openxmlformats.org/officeDocument/2006/relationships/image" Target="../media/image34.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9.png"/><Relationship Id="rId9" Type="http://schemas.openxmlformats.org/officeDocument/2006/relationships/image" Target="../media/image16.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22.png"/><Relationship Id="rId8"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go.cs61a.org/prese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s61a.org/articles/advi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s61a.org" TargetMode="External"/><Relationship Id="rId4" Type="http://schemas.openxmlformats.org/officeDocument/2006/relationships/hyperlink" Target="https://bcourses.berkeley.edu/courses/1555178" TargetMode="External"/><Relationship Id="rId5" Type="http://schemas.openxmlformats.org/officeDocument/2006/relationships/hyperlink" Target="http://edstem.org" TargetMode="External"/><Relationship Id="rId6" Type="http://schemas.openxmlformats.org/officeDocument/2006/relationships/hyperlink" Target="https://www.gradescope.com/" TargetMode="External"/><Relationship Id="rId7" Type="http://schemas.openxmlformats.org/officeDocument/2006/relationships/hyperlink" Target="https://www.composingprogram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s61a.org/articles/about-61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s61a.org/office-hours/" TargetMode="External"/><Relationship Id="rId4" Type="http://schemas.openxmlformats.org/officeDocument/2006/relationships/hyperlink" Target="mailto:cs61a@berkeley.edu" TargetMode="External"/><Relationship Id="rId5" Type="http://schemas.openxmlformats.org/officeDocument/2006/relationships/hyperlink" Target="http://go.cs61a.org/extension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mailto:cs61a@berkeley.edu" TargetMode="External"/><Relationship Id="rId4" Type="http://schemas.openxmlformats.org/officeDocument/2006/relationships/hyperlink" Target="mailto:cs61a@berkeley.edu" TargetMode="External"/><Relationship Id="rId5" Type="http://schemas.openxmlformats.org/officeDocument/2006/relationships/hyperlink" Target="mailto:cs61a@berkeley.edu" TargetMode="External"/><Relationship Id="rId6" Type="http://schemas.openxmlformats.org/officeDocument/2006/relationships/hyperlink" Target="http://go.cs61a.org/anon-feedback" TargetMode="External"/><Relationship Id="rId7" Type="http://schemas.openxmlformats.org/officeDocument/2006/relationships/hyperlink" Target="mailto:rdang@berkeley.edu"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cs61a.org/articles/about-61a/#ai-tools-and-the-interne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nytimes.com/2026/06/14/us/ai-deepfake-hany-farid.html?unlocked_article_code=1.qVA.LVzW.fcTWNHMP_3bU&amp;smid=url-share" TargetMode="External"/><Relationship Id="rId4" Type="http://schemas.openxmlformats.org/officeDocument/2006/relationships/hyperlink" Target="https://www.dailycal.org/news/campus/academics/failing-grades-soar-as-professors-see-greater-ai-usage-dwindling-math-skills-in-uc-berkeley/article_16fad0bf-02cb-4b8c-8d88-888ffd9f8608.html" TargetMode="External"/><Relationship Id="rId5" Type="http://schemas.openxmlformats.org/officeDocument/2006/relationships/hyperlink" Target="https://time.com/article/2026/06/13/anthropic-fable-mythos-ban-US-securit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starship.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ctrTitle"/>
          </p:nvPr>
        </p:nvSpPr>
        <p:spPr>
          <a:xfrm>
            <a:off x="311708" y="1267999"/>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Lecture 01: Welcome, Coding Environment, Functions, and Exceptions I</a:t>
            </a:r>
            <a:endParaRPr sz="4100"/>
          </a:p>
        </p:txBody>
      </p:sp>
      <p:sp>
        <p:nvSpPr>
          <p:cNvPr id="137" name="Google Shape;137;p22"/>
          <p:cNvSpPr txBox="1"/>
          <p:nvPr>
            <p:ph idx="1" type="subTitle"/>
          </p:nvPr>
        </p:nvSpPr>
        <p:spPr>
          <a:xfrm>
            <a:off x="311700" y="3320599"/>
            <a:ext cx="8520600" cy="44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800">
                <a:solidFill>
                  <a:schemeClr val="dk2"/>
                </a:solidFill>
              </a:rPr>
              <a:t>June 22, 2026</a:t>
            </a:r>
            <a:endParaRPr sz="1800">
              <a:solidFill>
                <a:schemeClr val="dk2"/>
              </a:solidFill>
              <a:latin typeface="Inter"/>
              <a:ea typeface="Inter"/>
              <a:cs typeface="Inter"/>
              <a:sym typeface="Inter"/>
            </a:endParaRPr>
          </a:p>
        </p:txBody>
      </p:sp>
      <p:sp>
        <p:nvSpPr>
          <p:cNvPr id="138" name="Google Shape;138;p22"/>
          <p:cNvSpPr txBox="1"/>
          <p:nvPr>
            <p:ph idx="1" type="subTitle"/>
          </p:nvPr>
        </p:nvSpPr>
        <p:spPr>
          <a:xfrm>
            <a:off x="311700" y="3735425"/>
            <a:ext cx="8520600" cy="1116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t>Rebecca Dang</a:t>
            </a:r>
            <a:endParaRPr sz="1600"/>
          </a:p>
          <a:p>
            <a:pPr indent="0" lvl="0" marL="0" rtl="0" algn="l">
              <a:spcBef>
                <a:spcPts val="600"/>
              </a:spcBef>
              <a:spcAft>
                <a:spcPts val="0"/>
              </a:spcAft>
              <a:buNone/>
            </a:pPr>
            <a:r>
              <a:rPr lang="en" sz="1600"/>
              <a:t>Join </a:t>
            </a:r>
            <a:r>
              <a:rPr lang="en" sz="1600" u="sng">
                <a:solidFill>
                  <a:schemeClr val="hlink"/>
                </a:solidFill>
                <a:hlinkClick r:id="rId3"/>
              </a:rPr>
              <a:t>pollev.com/rebeccadang831</a:t>
            </a:r>
            <a:r>
              <a:rPr lang="en" sz="1600"/>
              <a:t> (or scan QR code) on your phone or laptop</a:t>
            </a:r>
            <a:endParaRPr sz="1600"/>
          </a:p>
          <a:p>
            <a:pPr indent="0" lvl="0" marL="0" rtl="0" algn="l">
              <a:spcBef>
                <a:spcPts val="600"/>
              </a:spcBef>
              <a:spcAft>
                <a:spcPts val="0"/>
              </a:spcAft>
              <a:buNone/>
            </a:pPr>
            <a:r>
              <a:rPr lang="en" sz="1600"/>
              <a:t>We’ll begin at Berkeley time (10 minutes after), as per tradition!</a:t>
            </a:r>
            <a:endParaRPr sz="1600"/>
          </a:p>
        </p:txBody>
      </p:sp>
      <p:sp>
        <p:nvSpPr>
          <p:cNvPr id="139" name="Google Shape;139;p22"/>
          <p:cNvSpPr txBox="1"/>
          <p:nvPr/>
        </p:nvSpPr>
        <p:spPr>
          <a:xfrm>
            <a:off x="311700" y="875000"/>
            <a:ext cx="20157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4"/>
                </a:solidFill>
                <a:latin typeface="Inter ExtraBold"/>
                <a:ea typeface="Inter ExtraBold"/>
                <a:cs typeface="Inter ExtraBold"/>
                <a:sym typeface="Inter ExtraBold"/>
              </a:rPr>
              <a:t>CS 61A SU26</a:t>
            </a:r>
            <a:endParaRPr sz="1500">
              <a:solidFill>
                <a:schemeClr val="accent4"/>
              </a:solidFill>
              <a:latin typeface="Inter ExtraBold"/>
              <a:ea typeface="Inter ExtraBold"/>
              <a:cs typeface="Inter ExtraBold"/>
              <a:sym typeface="Inter ExtraBold"/>
            </a:endParaRPr>
          </a:p>
        </p:txBody>
      </p:sp>
      <p:sp>
        <p:nvSpPr>
          <p:cNvPr id="140" name="Google Shape;14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pollev.com/rebeccadang831" id="141" name="Google Shape;141;p22" title="rebeccadang831.png"/>
          <p:cNvPicPr preferRelativeResize="0"/>
          <p:nvPr/>
        </p:nvPicPr>
        <p:blipFill>
          <a:blip r:embed="rId4">
            <a:alphaModFix/>
          </a:blip>
          <a:stretch>
            <a:fillRect/>
          </a:stretch>
        </p:blipFill>
        <p:spPr>
          <a:xfrm>
            <a:off x="7898950" y="50625"/>
            <a:ext cx="1186475" cy="1186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Welcome</a:t>
            </a:r>
            <a:endParaRPr/>
          </a:p>
        </p:txBody>
      </p:sp>
      <p:sp>
        <p:nvSpPr>
          <p:cNvPr id="147" name="Google Shape;147;p2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30 min</a:t>
            </a:r>
            <a:endParaRPr/>
          </a:p>
        </p:txBody>
      </p:sp>
      <p:sp>
        <p:nvSpPr>
          <p:cNvPr id="148" name="Google Shape;14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600"/>
              </a:spcBef>
              <a:spcAft>
                <a:spcPts val="0"/>
              </a:spcAft>
              <a:buSzPts val="1800"/>
              <a:buChar char="•"/>
            </a:pPr>
            <a:r>
              <a:rPr lang="en"/>
              <a:t>Introductions</a:t>
            </a:r>
            <a:endParaRPr/>
          </a:p>
          <a:p>
            <a:pPr indent="-342900" lvl="0" marL="457200" rtl="0" algn="l">
              <a:spcBef>
                <a:spcPts val="0"/>
              </a:spcBef>
              <a:spcAft>
                <a:spcPts val="0"/>
              </a:spcAft>
              <a:buSzPts val="1800"/>
              <a:buChar char="•"/>
            </a:pPr>
            <a:r>
              <a:rPr lang="en"/>
              <a:t>Pre-semester survey</a:t>
            </a:r>
            <a:endParaRPr/>
          </a:p>
          <a:p>
            <a:pPr indent="-342900" lvl="0" marL="457200" rtl="0" algn="l">
              <a:spcBef>
                <a:spcPts val="0"/>
              </a:spcBef>
              <a:spcAft>
                <a:spcPts val="0"/>
              </a:spcAft>
              <a:buSzPts val="1800"/>
              <a:buChar char="•"/>
            </a:pPr>
            <a:r>
              <a:rPr lang="en"/>
              <a:t>About the course</a:t>
            </a:r>
            <a:endParaRPr/>
          </a:p>
          <a:p>
            <a:pPr indent="-342900" lvl="0" marL="457200" rtl="0" algn="l">
              <a:spcBef>
                <a:spcPts val="0"/>
              </a:spcBef>
              <a:spcAft>
                <a:spcPts val="0"/>
              </a:spcAft>
              <a:buSzPts val="1800"/>
              <a:buChar char="•"/>
            </a:pPr>
            <a:r>
              <a:rPr lang="en"/>
              <a:t>Course materials</a:t>
            </a:r>
            <a:endParaRPr/>
          </a:p>
          <a:p>
            <a:pPr indent="-342900" lvl="0" marL="457200" rtl="0" algn="l">
              <a:spcBef>
                <a:spcPts val="0"/>
              </a:spcBef>
              <a:spcAft>
                <a:spcPts val="0"/>
              </a:spcAft>
              <a:buSzPts val="1800"/>
              <a:buChar char="•"/>
            </a:pPr>
            <a:r>
              <a:rPr lang="en"/>
              <a:t>Syllabus, logistics, and support</a:t>
            </a:r>
            <a:endParaRPr/>
          </a:p>
          <a:p>
            <a:pPr indent="-342900" lvl="0" marL="457200" rtl="0" algn="l">
              <a:spcBef>
                <a:spcPts val="0"/>
              </a:spcBef>
              <a:spcAft>
                <a:spcPts val="0"/>
              </a:spcAft>
              <a:buSzPts val="1800"/>
              <a:buChar char="•"/>
            </a:pPr>
            <a:r>
              <a:rPr lang="en"/>
              <a:t>Questions or concerns? Here’s how to let us know</a:t>
            </a:r>
            <a:endParaRPr/>
          </a:p>
          <a:p>
            <a:pPr indent="-342900" lvl="0" marL="457200" rtl="0" algn="l">
              <a:spcBef>
                <a:spcPts val="0"/>
              </a:spcBef>
              <a:spcAft>
                <a:spcPts val="0"/>
              </a:spcAft>
              <a:buSzPts val="1800"/>
              <a:buChar char="•"/>
            </a:pPr>
            <a:r>
              <a:rPr lang="en"/>
              <a:t>AI</a:t>
            </a:r>
            <a:endParaRPr/>
          </a:p>
          <a:p>
            <a:pPr indent="-342900" lvl="0" marL="457200" rtl="0" algn="l">
              <a:spcBef>
                <a:spcPts val="0"/>
              </a:spcBef>
              <a:spcAft>
                <a:spcPts val="0"/>
              </a:spcAft>
              <a:buSzPts val="1800"/>
              <a:buChar char="•"/>
            </a:pPr>
            <a:r>
              <a:rPr i="1" lang="en"/>
              <a:t>If time:</a:t>
            </a:r>
            <a:endParaRPr i="1"/>
          </a:p>
          <a:p>
            <a:pPr indent="-342900" lvl="1" marL="914400" rtl="0" algn="l">
              <a:spcBef>
                <a:spcPts val="0"/>
              </a:spcBef>
              <a:spcAft>
                <a:spcPts val="0"/>
              </a:spcAft>
              <a:buSzPts val="1800"/>
              <a:buChar char="•"/>
            </a:pPr>
            <a:r>
              <a:rPr i="1" lang="en"/>
              <a:t>Computing in the news</a:t>
            </a:r>
            <a:endParaRPr i="1"/>
          </a:p>
          <a:p>
            <a:pPr indent="-342900" lvl="1" marL="914400" rtl="0" algn="l">
              <a:spcBef>
                <a:spcPts val="0"/>
              </a:spcBef>
              <a:spcAft>
                <a:spcPts val="0"/>
              </a:spcAft>
              <a:buSzPts val="1800"/>
              <a:buChar char="•"/>
            </a:pPr>
            <a:r>
              <a:rPr i="1" lang="en"/>
              <a:t>What do you want to build?</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Introductions (1 of 2)</a:t>
            </a:r>
            <a:endParaRPr/>
          </a:p>
        </p:txBody>
      </p:sp>
      <p:sp>
        <p:nvSpPr>
          <p:cNvPr id="155" name="Google Shape;155;p24"/>
          <p:cNvSpPr txBox="1"/>
          <p:nvPr>
            <p:ph idx="1" type="body"/>
          </p:nvPr>
        </p:nvSpPr>
        <p:spPr>
          <a:xfrm>
            <a:off x="107050" y="457200"/>
            <a:ext cx="8721900" cy="429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Hey there, I’m Rebecca (she/her)!</a:t>
            </a:r>
            <a:endParaRPr b="1"/>
          </a:p>
          <a:p>
            <a:pPr indent="-342900" lvl="0" marL="457200" rtl="0" algn="l">
              <a:spcBef>
                <a:spcPts val="600"/>
              </a:spcBef>
              <a:spcAft>
                <a:spcPts val="0"/>
              </a:spcAft>
              <a:buSzPts val="1800"/>
              <a:buChar char="●"/>
            </a:pPr>
            <a:r>
              <a:rPr b="1" lang="en"/>
              <a:t>Education: </a:t>
            </a:r>
            <a:r>
              <a:rPr lang="en"/>
              <a:t>Cal BS EECS ‘25, </a:t>
            </a:r>
            <a:r>
              <a:rPr lang="en" u="sng">
                <a:solidFill>
                  <a:schemeClr val="hlink"/>
                </a:solidFill>
                <a:hlinkClick r:id="rId3"/>
              </a:rPr>
              <a:t>MS</a:t>
            </a:r>
            <a:r>
              <a:rPr lang="en"/>
              <a:t> EECS ‘26 (go bears 🐻)</a:t>
            </a:r>
            <a:endParaRPr/>
          </a:p>
          <a:p>
            <a:pPr indent="-342900" lvl="0" marL="457200" rtl="0" algn="l">
              <a:spcBef>
                <a:spcPts val="0"/>
              </a:spcBef>
              <a:spcAft>
                <a:spcPts val="0"/>
              </a:spcAft>
              <a:buSzPts val="1800"/>
              <a:buChar char="●"/>
            </a:pPr>
            <a:r>
              <a:rPr b="1" lang="en"/>
              <a:t>Teaching:</a:t>
            </a:r>
            <a:endParaRPr b="1"/>
          </a:p>
          <a:p>
            <a:pPr indent="-342900" lvl="1" marL="914400" rtl="0" algn="l">
              <a:spcBef>
                <a:spcPts val="0"/>
              </a:spcBef>
              <a:spcAft>
                <a:spcPts val="0"/>
              </a:spcAft>
              <a:buSzPts val="1800"/>
              <a:buChar char="○"/>
            </a:pPr>
            <a:r>
              <a:rPr lang="en" u="sng">
                <a:solidFill>
                  <a:schemeClr val="hlink"/>
                </a:solidFill>
                <a:hlinkClick r:id="rId4"/>
              </a:rPr>
              <a:t>DATA 188</a:t>
            </a:r>
            <a:r>
              <a:rPr lang="en"/>
              <a:t> (Intro to Deep Learning)</a:t>
            </a:r>
            <a:endParaRPr/>
          </a:p>
          <a:p>
            <a:pPr indent="-342900" lvl="1" marL="914400" rtl="0" algn="l">
              <a:spcBef>
                <a:spcPts val="0"/>
              </a:spcBef>
              <a:spcAft>
                <a:spcPts val="0"/>
              </a:spcAft>
              <a:buSzPts val="1800"/>
              <a:buChar char="○"/>
            </a:pPr>
            <a:r>
              <a:rPr lang="en" u="sng">
                <a:solidFill>
                  <a:schemeClr val="hlink"/>
                </a:solidFill>
                <a:hlinkClick r:id="rId5"/>
              </a:rPr>
              <a:t>DATA C88C</a:t>
            </a:r>
            <a:r>
              <a:rPr lang="en"/>
              <a:t> (Computational Structures in Data Science) 5x</a:t>
            </a:r>
            <a:endParaRPr/>
          </a:p>
          <a:p>
            <a:pPr indent="-342900" lvl="1" marL="914400" rtl="0" algn="l">
              <a:spcBef>
                <a:spcPts val="0"/>
              </a:spcBef>
              <a:spcAft>
                <a:spcPts val="0"/>
              </a:spcAft>
              <a:buSzPts val="1800"/>
              <a:buChar char="○"/>
            </a:pPr>
            <a:r>
              <a:rPr lang="en" u="sng">
                <a:solidFill>
                  <a:schemeClr val="hlink"/>
                </a:solidFill>
                <a:hlinkClick r:id="rId6"/>
              </a:rPr>
              <a:t>DATA 101</a:t>
            </a:r>
            <a:r>
              <a:rPr lang="en"/>
              <a:t> (Data Engineering)</a:t>
            </a:r>
            <a:endParaRPr/>
          </a:p>
          <a:p>
            <a:pPr indent="-342900" lvl="1" marL="914400" rtl="0" algn="l">
              <a:spcBef>
                <a:spcPts val="0"/>
              </a:spcBef>
              <a:spcAft>
                <a:spcPts val="0"/>
              </a:spcAft>
              <a:buSzPts val="1800"/>
              <a:buChar char="○"/>
            </a:pPr>
            <a:r>
              <a:rPr lang="en" u="sng">
                <a:solidFill>
                  <a:schemeClr val="hlink"/>
                </a:solidFill>
                <a:hlinkClick r:id="rId7"/>
              </a:rPr>
              <a:t>CS 61A</a:t>
            </a:r>
            <a:r>
              <a:rPr lang="en"/>
              <a:t> (teaching/academic intern)</a:t>
            </a:r>
            <a:endParaRPr/>
          </a:p>
          <a:p>
            <a:pPr indent="-342900" lvl="1" marL="914400" rtl="0" algn="l">
              <a:spcBef>
                <a:spcPts val="0"/>
              </a:spcBef>
              <a:spcAft>
                <a:spcPts val="0"/>
              </a:spcAft>
              <a:buSzPts val="1800"/>
              <a:buChar char="○"/>
            </a:pPr>
            <a:r>
              <a:rPr lang="en" u="sng">
                <a:solidFill>
                  <a:schemeClr val="hlink"/>
                </a:solidFill>
                <a:hlinkClick r:id="rId8"/>
              </a:rPr>
              <a:t>Computer Science Mentors</a:t>
            </a:r>
            <a:r>
              <a:rPr lang="en"/>
              <a:t> 4x (volunteer tutoring)</a:t>
            </a:r>
            <a:endParaRPr/>
          </a:p>
          <a:p>
            <a:pPr indent="-342900" lvl="0" marL="457200" rtl="0" algn="l">
              <a:spcBef>
                <a:spcPts val="0"/>
              </a:spcBef>
              <a:spcAft>
                <a:spcPts val="0"/>
              </a:spcAft>
              <a:buSzPts val="1800"/>
              <a:buChar char="●"/>
            </a:pPr>
            <a:r>
              <a:rPr b="1" lang="en"/>
              <a:t>Professional (all SWE internships):</a:t>
            </a:r>
            <a:endParaRPr b="1"/>
          </a:p>
          <a:p>
            <a:pPr indent="-342900" lvl="1" marL="914400" rtl="0" algn="l">
              <a:spcBef>
                <a:spcPts val="0"/>
              </a:spcBef>
              <a:spcAft>
                <a:spcPts val="0"/>
              </a:spcAft>
              <a:buSzPts val="1800"/>
              <a:buChar char="○"/>
            </a:pPr>
            <a:r>
              <a:rPr lang="en"/>
              <a:t>Databricks (also incoming full-time)</a:t>
            </a:r>
            <a:endParaRPr/>
          </a:p>
          <a:p>
            <a:pPr indent="-342900" lvl="1" marL="914400" rtl="0" algn="l">
              <a:spcBef>
                <a:spcPts val="0"/>
              </a:spcBef>
              <a:spcAft>
                <a:spcPts val="0"/>
              </a:spcAft>
              <a:buSzPts val="1800"/>
              <a:buChar char="○"/>
            </a:pPr>
            <a:r>
              <a:rPr lang="en"/>
              <a:t>Stripe</a:t>
            </a:r>
            <a:endParaRPr/>
          </a:p>
          <a:p>
            <a:pPr indent="-342900" lvl="1" marL="914400" rtl="0" algn="l">
              <a:spcBef>
                <a:spcPts val="0"/>
              </a:spcBef>
              <a:spcAft>
                <a:spcPts val="0"/>
              </a:spcAft>
              <a:buSzPts val="1800"/>
              <a:buChar char="○"/>
            </a:pPr>
            <a:r>
              <a:rPr lang="en"/>
              <a:t>Bloomberg 2x</a:t>
            </a:r>
            <a:endParaRPr/>
          </a:p>
          <a:p>
            <a:pPr indent="-342900" lvl="0" marL="457200" rtl="0" algn="l">
              <a:spcBef>
                <a:spcPts val="0"/>
              </a:spcBef>
              <a:spcAft>
                <a:spcPts val="0"/>
              </a:spcAft>
              <a:buSzPts val="1800"/>
              <a:buChar char="●"/>
            </a:pPr>
            <a:r>
              <a:rPr b="1" lang="en"/>
              <a:t>Hobbies/interests: </a:t>
            </a:r>
            <a:r>
              <a:rPr lang="en"/>
              <a:t>Watching </a:t>
            </a:r>
            <a:r>
              <a:rPr lang="en" u="sng">
                <a:solidFill>
                  <a:schemeClr val="hlink"/>
                </a:solidFill>
                <a:hlinkClick r:id="rId9"/>
              </a:rPr>
              <a:t>movies</a:t>
            </a:r>
            <a:r>
              <a:rPr lang="en"/>
              <a:t>/TV shows, reading, hiking, plushies</a:t>
            </a:r>
            <a:endParaRPr/>
          </a:p>
          <a:p>
            <a:pPr indent="-342900" lvl="0" marL="457200" rtl="0" algn="l">
              <a:spcBef>
                <a:spcPts val="0"/>
              </a:spcBef>
              <a:spcAft>
                <a:spcPts val="0"/>
              </a:spcAft>
              <a:buSzPts val="1800"/>
              <a:buChar char="●"/>
            </a:pPr>
            <a:r>
              <a:rPr b="1" lang="en"/>
              <a:t>Website:</a:t>
            </a:r>
            <a:r>
              <a:rPr lang="en"/>
              <a:t> </a:t>
            </a:r>
            <a:r>
              <a:rPr lang="en" u="sng">
                <a:solidFill>
                  <a:schemeClr val="hlink"/>
                </a:solidFill>
                <a:hlinkClick r:id="rId10"/>
              </a:rPr>
              <a:t>phrdang.github.io</a:t>
            </a:r>
            <a:endParaRPr/>
          </a:p>
        </p:txBody>
      </p:sp>
      <p:sp>
        <p:nvSpPr>
          <p:cNvPr id="156" name="Google Shape;15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pic>
        <p:nvPicPr>
          <p:cNvPr descr="Rebecca Dang" id="157" name="Google Shape;157;p24"/>
          <p:cNvPicPr preferRelativeResize="0"/>
          <p:nvPr/>
        </p:nvPicPr>
        <p:blipFill rotWithShape="1">
          <a:blip r:embed="rId11">
            <a:alphaModFix/>
          </a:blip>
          <a:srcRect b="26769" l="20542" r="20565" t="12599"/>
          <a:stretch/>
        </p:blipFill>
        <p:spPr>
          <a:xfrm>
            <a:off x="7737303" y="820125"/>
            <a:ext cx="1031324" cy="1255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TAs!</a:t>
            </a:r>
            <a:endParaRPr/>
          </a:p>
        </p:txBody>
      </p:sp>
      <p:sp>
        <p:nvSpPr>
          <p:cNvPr id="163" name="Google Shape;163;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Amy" id="164" name="Google Shape;164;p25"/>
          <p:cNvPicPr preferRelativeResize="0"/>
          <p:nvPr/>
        </p:nvPicPr>
        <p:blipFill>
          <a:blip r:embed="rId3">
            <a:alphaModFix/>
          </a:blip>
          <a:stretch>
            <a:fillRect/>
          </a:stretch>
        </p:blipFill>
        <p:spPr>
          <a:xfrm>
            <a:off x="772225" y="1066800"/>
            <a:ext cx="1428750" cy="1428750"/>
          </a:xfrm>
          <a:prstGeom prst="rect">
            <a:avLst/>
          </a:prstGeom>
          <a:noFill/>
          <a:ln>
            <a:noFill/>
          </a:ln>
        </p:spPr>
      </p:pic>
      <p:pic>
        <p:nvPicPr>
          <p:cNvPr descr="Sriya" id="165" name="Google Shape;165;p25"/>
          <p:cNvPicPr preferRelativeResize="0"/>
          <p:nvPr/>
        </p:nvPicPr>
        <p:blipFill>
          <a:blip r:embed="rId4">
            <a:alphaModFix/>
          </a:blip>
          <a:stretch>
            <a:fillRect/>
          </a:stretch>
        </p:blipFill>
        <p:spPr>
          <a:xfrm>
            <a:off x="2353375" y="1066800"/>
            <a:ext cx="1428750" cy="1428750"/>
          </a:xfrm>
          <a:prstGeom prst="rect">
            <a:avLst/>
          </a:prstGeom>
          <a:noFill/>
          <a:ln>
            <a:noFill/>
          </a:ln>
        </p:spPr>
      </p:pic>
      <p:pic>
        <p:nvPicPr>
          <p:cNvPr descr="Emma" id="166" name="Google Shape;166;p25"/>
          <p:cNvPicPr preferRelativeResize="0"/>
          <p:nvPr/>
        </p:nvPicPr>
        <p:blipFill>
          <a:blip r:embed="rId5">
            <a:alphaModFix/>
          </a:blip>
          <a:stretch>
            <a:fillRect/>
          </a:stretch>
        </p:blipFill>
        <p:spPr>
          <a:xfrm>
            <a:off x="772225" y="2647950"/>
            <a:ext cx="1428750" cy="1428750"/>
          </a:xfrm>
          <a:prstGeom prst="rect">
            <a:avLst/>
          </a:prstGeom>
          <a:noFill/>
          <a:ln>
            <a:noFill/>
          </a:ln>
        </p:spPr>
      </p:pic>
      <p:pic>
        <p:nvPicPr>
          <p:cNvPr descr="Sultan" id="167" name="Google Shape;167;p25"/>
          <p:cNvPicPr preferRelativeResize="0"/>
          <p:nvPr/>
        </p:nvPicPr>
        <p:blipFill>
          <a:blip r:embed="rId6">
            <a:alphaModFix/>
          </a:blip>
          <a:stretch>
            <a:fillRect/>
          </a:stretch>
        </p:blipFill>
        <p:spPr>
          <a:xfrm>
            <a:off x="3934525" y="1066800"/>
            <a:ext cx="1428750" cy="1428750"/>
          </a:xfrm>
          <a:prstGeom prst="rect">
            <a:avLst/>
          </a:prstGeom>
          <a:noFill/>
          <a:ln>
            <a:noFill/>
          </a:ln>
        </p:spPr>
      </p:pic>
      <p:pic>
        <p:nvPicPr>
          <p:cNvPr descr="Alex" id="168" name="Google Shape;168;p25"/>
          <p:cNvPicPr preferRelativeResize="0"/>
          <p:nvPr/>
        </p:nvPicPr>
        <p:blipFill>
          <a:blip r:embed="rId7">
            <a:alphaModFix/>
          </a:blip>
          <a:stretch>
            <a:fillRect/>
          </a:stretch>
        </p:blipFill>
        <p:spPr>
          <a:xfrm>
            <a:off x="2353375" y="2647950"/>
            <a:ext cx="1428750" cy="1428750"/>
          </a:xfrm>
          <a:prstGeom prst="rect">
            <a:avLst/>
          </a:prstGeom>
          <a:noFill/>
          <a:ln>
            <a:noFill/>
          </a:ln>
        </p:spPr>
      </p:pic>
      <p:pic>
        <p:nvPicPr>
          <p:cNvPr descr="Bill" id="169" name="Google Shape;169;p25"/>
          <p:cNvPicPr preferRelativeResize="0"/>
          <p:nvPr/>
        </p:nvPicPr>
        <p:blipFill>
          <a:blip r:embed="rId8">
            <a:alphaModFix/>
          </a:blip>
          <a:stretch>
            <a:fillRect/>
          </a:stretch>
        </p:blipFill>
        <p:spPr>
          <a:xfrm>
            <a:off x="5515675" y="1066800"/>
            <a:ext cx="1428750" cy="1428750"/>
          </a:xfrm>
          <a:prstGeom prst="rect">
            <a:avLst/>
          </a:prstGeom>
          <a:noFill/>
          <a:ln>
            <a:noFill/>
          </a:ln>
        </p:spPr>
      </p:pic>
      <p:pic>
        <p:nvPicPr>
          <p:cNvPr descr="Dakota" id="170" name="Google Shape;170;p25"/>
          <p:cNvPicPr preferRelativeResize="0"/>
          <p:nvPr/>
        </p:nvPicPr>
        <p:blipFill>
          <a:blip r:embed="rId9">
            <a:alphaModFix/>
          </a:blip>
          <a:stretch>
            <a:fillRect/>
          </a:stretch>
        </p:blipFill>
        <p:spPr>
          <a:xfrm>
            <a:off x="3934525" y="2647950"/>
            <a:ext cx="1428750" cy="1428750"/>
          </a:xfrm>
          <a:prstGeom prst="rect">
            <a:avLst/>
          </a:prstGeom>
          <a:noFill/>
          <a:ln>
            <a:noFill/>
          </a:ln>
        </p:spPr>
      </p:pic>
      <p:pic>
        <p:nvPicPr>
          <p:cNvPr descr="Esha" id="171" name="Google Shape;171;p25"/>
          <p:cNvPicPr preferRelativeResize="0"/>
          <p:nvPr/>
        </p:nvPicPr>
        <p:blipFill>
          <a:blip r:embed="rId10">
            <a:alphaModFix/>
          </a:blip>
          <a:stretch>
            <a:fillRect/>
          </a:stretch>
        </p:blipFill>
        <p:spPr>
          <a:xfrm>
            <a:off x="7096825" y="2647950"/>
            <a:ext cx="1428750" cy="1428750"/>
          </a:xfrm>
          <a:prstGeom prst="rect">
            <a:avLst/>
          </a:prstGeom>
          <a:noFill/>
          <a:ln>
            <a:noFill/>
          </a:ln>
        </p:spPr>
      </p:pic>
      <p:pic>
        <p:nvPicPr>
          <p:cNvPr descr="Ethan" id="172" name="Google Shape;172;p25"/>
          <p:cNvPicPr preferRelativeResize="0"/>
          <p:nvPr/>
        </p:nvPicPr>
        <p:blipFill>
          <a:blip r:embed="rId11">
            <a:alphaModFix/>
          </a:blip>
          <a:stretch>
            <a:fillRect/>
          </a:stretch>
        </p:blipFill>
        <p:spPr>
          <a:xfrm>
            <a:off x="7096825" y="1066800"/>
            <a:ext cx="1428750" cy="1428750"/>
          </a:xfrm>
          <a:prstGeom prst="rect">
            <a:avLst/>
          </a:prstGeom>
          <a:noFill/>
          <a:ln>
            <a:noFill/>
          </a:ln>
        </p:spPr>
      </p:pic>
      <p:pic>
        <p:nvPicPr>
          <p:cNvPr descr="Lavanya" id="173" name="Google Shape;173;p25"/>
          <p:cNvPicPr preferRelativeResize="0"/>
          <p:nvPr/>
        </p:nvPicPr>
        <p:blipFill>
          <a:blip r:embed="rId12">
            <a:alphaModFix/>
          </a:blip>
          <a:stretch>
            <a:fillRect/>
          </a:stretch>
        </p:blipFill>
        <p:spPr>
          <a:xfrm>
            <a:off x="5515675" y="2647950"/>
            <a:ext cx="1428750" cy="1428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Tutors!</a:t>
            </a:r>
            <a:endParaRPr/>
          </a:p>
        </p:txBody>
      </p:sp>
      <p:sp>
        <p:nvSpPr>
          <p:cNvPr id="179" name="Google Shape;17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Ana" id="180" name="Google Shape;180;p26"/>
          <p:cNvPicPr preferRelativeResize="0"/>
          <p:nvPr/>
        </p:nvPicPr>
        <p:blipFill>
          <a:blip r:embed="rId3">
            <a:alphaModFix/>
          </a:blip>
          <a:stretch>
            <a:fillRect/>
          </a:stretch>
        </p:blipFill>
        <p:spPr>
          <a:xfrm>
            <a:off x="683888" y="1094000"/>
            <a:ext cx="1428750" cy="1428750"/>
          </a:xfrm>
          <a:prstGeom prst="rect">
            <a:avLst/>
          </a:prstGeom>
          <a:noFill/>
          <a:ln>
            <a:noFill/>
          </a:ln>
        </p:spPr>
      </p:pic>
      <p:pic>
        <p:nvPicPr>
          <p:cNvPr descr="Brian" id="181" name="Google Shape;181;p26"/>
          <p:cNvPicPr preferRelativeResize="0"/>
          <p:nvPr/>
        </p:nvPicPr>
        <p:blipFill>
          <a:blip r:embed="rId4">
            <a:alphaModFix/>
          </a:blip>
          <a:stretch>
            <a:fillRect/>
          </a:stretch>
        </p:blipFill>
        <p:spPr>
          <a:xfrm>
            <a:off x="2270138" y="1094000"/>
            <a:ext cx="1428750" cy="1428750"/>
          </a:xfrm>
          <a:prstGeom prst="rect">
            <a:avLst/>
          </a:prstGeom>
          <a:noFill/>
          <a:ln>
            <a:noFill/>
          </a:ln>
        </p:spPr>
      </p:pic>
      <p:pic>
        <p:nvPicPr>
          <p:cNvPr descr="Chloe" id="182" name="Google Shape;182;p26"/>
          <p:cNvPicPr preferRelativeResize="0"/>
          <p:nvPr/>
        </p:nvPicPr>
        <p:blipFill>
          <a:blip r:embed="rId5">
            <a:alphaModFix/>
          </a:blip>
          <a:stretch>
            <a:fillRect/>
          </a:stretch>
        </p:blipFill>
        <p:spPr>
          <a:xfrm>
            <a:off x="3856388" y="1094000"/>
            <a:ext cx="1428750" cy="1428750"/>
          </a:xfrm>
          <a:prstGeom prst="rect">
            <a:avLst/>
          </a:prstGeom>
          <a:noFill/>
          <a:ln>
            <a:noFill/>
          </a:ln>
        </p:spPr>
      </p:pic>
      <p:pic>
        <p:nvPicPr>
          <p:cNvPr descr="Karthik" id="183" name="Google Shape;183;p26"/>
          <p:cNvPicPr preferRelativeResize="0"/>
          <p:nvPr/>
        </p:nvPicPr>
        <p:blipFill>
          <a:blip r:embed="rId6">
            <a:alphaModFix/>
          </a:blip>
          <a:stretch>
            <a:fillRect/>
          </a:stretch>
        </p:blipFill>
        <p:spPr>
          <a:xfrm>
            <a:off x="706763" y="2675150"/>
            <a:ext cx="1428750" cy="1362075"/>
          </a:xfrm>
          <a:prstGeom prst="rect">
            <a:avLst/>
          </a:prstGeom>
          <a:noFill/>
          <a:ln>
            <a:noFill/>
          </a:ln>
        </p:spPr>
      </p:pic>
      <p:pic>
        <p:nvPicPr>
          <p:cNvPr descr="Muzainah" id="184" name="Google Shape;184;p26"/>
          <p:cNvPicPr preferRelativeResize="0"/>
          <p:nvPr/>
        </p:nvPicPr>
        <p:blipFill>
          <a:blip r:embed="rId7">
            <a:alphaModFix/>
          </a:blip>
          <a:stretch>
            <a:fillRect/>
          </a:stretch>
        </p:blipFill>
        <p:spPr>
          <a:xfrm>
            <a:off x="2287913" y="2675150"/>
            <a:ext cx="1428750" cy="1428750"/>
          </a:xfrm>
          <a:prstGeom prst="rect">
            <a:avLst/>
          </a:prstGeom>
          <a:noFill/>
          <a:ln>
            <a:noFill/>
          </a:ln>
        </p:spPr>
      </p:pic>
      <p:pic>
        <p:nvPicPr>
          <p:cNvPr descr="Pooja" id="185" name="Google Shape;185;p26"/>
          <p:cNvPicPr preferRelativeResize="0"/>
          <p:nvPr/>
        </p:nvPicPr>
        <p:blipFill>
          <a:blip r:embed="rId8">
            <a:alphaModFix/>
          </a:blip>
          <a:stretch>
            <a:fillRect/>
          </a:stretch>
        </p:blipFill>
        <p:spPr>
          <a:xfrm>
            <a:off x="5437538" y="1039600"/>
            <a:ext cx="1428750" cy="1428750"/>
          </a:xfrm>
          <a:prstGeom prst="rect">
            <a:avLst/>
          </a:prstGeom>
          <a:noFill/>
          <a:ln>
            <a:noFill/>
          </a:ln>
        </p:spPr>
      </p:pic>
      <p:pic>
        <p:nvPicPr>
          <p:cNvPr descr="Rabia" id="186" name="Google Shape;186;p26"/>
          <p:cNvPicPr preferRelativeResize="0"/>
          <p:nvPr/>
        </p:nvPicPr>
        <p:blipFill>
          <a:blip r:embed="rId9">
            <a:alphaModFix/>
          </a:blip>
          <a:stretch>
            <a:fillRect/>
          </a:stretch>
        </p:blipFill>
        <p:spPr>
          <a:xfrm>
            <a:off x="3869063" y="2675150"/>
            <a:ext cx="1428750" cy="1428750"/>
          </a:xfrm>
          <a:prstGeom prst="rect">
            <a:avLst/>
          </a:prstGeom>
          <a:noFill/>
          <a:ln>
            <a:noFill/>
          </a:ln>
        </p:spPr>
      </p:pic>
      <p:pic>
        <p:nvPicPr>
          <p:cNvPr descr="Richard" id="187" name="Google Shape;187;p26"/>
          <p:cNvPicPr preferRelativeResize="0"/>
          <p:nvPr/>
        </p:nvPicPr>
        <p:blipFill>
          <a:blip r:embed="rId10">
            <a:alphaModFix/>
          </a:blip>
          <a:stretch>
            <a:fillRect/>
          </a:stretch>
        </p:blipFill>
        <p:spPr>
          <a:xfrm>
            <a:off x="7031363" y="2620750"/>
            <a:ext cx="1428750" cy="1428750"/>
          </a:xfrm>
          <a:prstGeom prst="rect">
            <a:avLst/>
          </a:prstGeom>
          <a:noFill/>
          <a:ln>
            <a:noFill/>
          </a:ln>
        </p:spPr>
      </p:pic>
      <p:pic>
        <p:nvPicPr>
          <p:cNvPr descr="Riley" id="188" name="Google Shape;188;p26"/>
          <p:cNvPicPr preferRelativeResize="0"/>
          <p:nvPr/>
        </p:nvPicPr>
        <p:blipFill>
          <a:blip r:embed="rId11">
            <a:alphaModFix/>
          </a:blip>
          <a:stretch>
            <a:fillRect/>
          </a:stretch>
        </p:blipFill>
        <p:spPr>
          <a:xfrm>
            <a:off x="7018688" y="1039600"/>
            <a:ext cx="1428750" cy="1428750"/>
          </a:xfrm>
          <a:prstGeom prst="rect">
            <a:avLst/>
          </a:prstGeom>
          <a:noFill/>
          <a:ln>
            <a:noFill/>
          </a:ln>
        </p:spPr>
      </p:pic>
      <p:pic>
        <p:nvPicPr>
          <p:cNvPr descr="Terry" id="189" name="Google Shape;189;p26"/>
          <p:cNvPicPr preferRelativeResize="0"/>
          <p:nvPr/>
        </p:nvPicPr>
        <p:blipFill>
          <a:blip r:embed="rId12">
            <a:alphaModFix/>
          </a:blip>
          <a:stretch>
            <a:fillRect/>
          </a:stretch>
        </p:blipFill>
        <p:spPr>
          <a:xfrm>
            <a:off x="5450213" y="2620750"/>
            <a:ext cx="1428750" cy="142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Introductions (2 of 2)</a:t>
            </a:r>
            <a:endParaRPr/>
          </a:p>
        </p:txBody>
      </p:sp>
      <p:sp>
        <p:nvSpPr>
          <p:cNvPr id="195" name="Google Shape;195;p27"/>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400"/>
              <a:t>Turn to someone next to you and introduce yourselves!</a:t>
            </a:r>
            <a:endParaRPr sz="2400"/>
          </a:p>
          <a:p>
            <a:pPr indent="-381000" lvl="0" marL="457200" rtl="0" algn="l">
              <a:spcBef>
                <a:spcPts val="600"/>
              </a:spcBef>
              <a:spcAft>
                <a:spcPts val="0"/>
              </a:spcAft>
              <a:buSzPts val="2400"/>
              <a:buChar char="●"/>
            </a:pPr>
            <a:r>
              <a:rPr lang="en" sz="2400"/>
              <a:t>Name</a:t>
            </a:r>
            <a:endParaRPr sz="2400"/>
          </a:p>
          <a:p>
            <a:pPr indent="-381000" lvl="0" marL="457200" rtl="0" algn="l">
              <a:spcBef>
                <a:spcPts val="0"/>
              </a:spcBef>
              <a:spcAft>
                <a:spcPts val="0"/>
              </a:spcAft>
              <a:buSzPts val="2400"/>
              <a:buChar char="●"/>
            </a:pPr>
            <a:r>
              <a:rPr lang="en" sz="2400"/>
              <a:t>Year</a:t>
            </a:r>
            <a:endParaRPr sz="2400"/>
          </a:p>
          <a:p>
            <a:pPr indent="-381000" lvl="0" marL="457200" rtl="0" algn="l">
              <a:spcBef>
                <a:spcPts val="0"/>
              </a:spcBef>
              <a:spcAft>
                <a:spcPts val="0"/>
              </a:spcAft>
              <a:buSzPts val="2400"/>
              <a:buChar char="●"/>
            </a:pPr>
            <a:r>
              <a:rPr lang="en" sz="2400"/>
              <a:t>Major</a:t>
            </a:r>
            <a:endParaRPr sz="2400"/>
          </a:p>
          <a:p>
            <a:pPr indent="-381000" lvl="0" marL="457200" rtl="0" algn="l">
              <a:spcBef>
                <a:spcPts val="0"/>
              </a:spcBef>
              <a:spcAft>
                <a:spcPts val="0"/>
              </a:spcAft>
              <a:buSzPts val="2400"/>
              <a:buChar char="●"/>
            </a:pPr>
            <a:r>
              <a:rPr lang="en" sz="2400"/>
              <a:t>1 thing you’re excited about this summer</a:t>
            </a:r>
            <a:endParaRPr sz="2400"/>
          </a:p>
          <a:p>
            <a:pPr indent="-381000" lvl="0" marL="457200" rtl="0" algn="l">
              <a:spcBef>
                <a:spcPts val="0"/>
              </a:spcBef>
              <a:spcAft>
                <a:spcPts val="0"/>
              </a:spcAft>
              <a:buSzPts val="2400"/>
              <a:buChar char="●"/>
            </a:pPr>
            <a:r>
              <a:rPr lang="en" sz="2400"/>
              <a:t>1 thing you’re nervous about this summer</a:t>
            </a:r>
            <a:endParaRPr sz="2400"/>
          </a:p>
        </p:txBody>
      </p:sp>
      <p:sp>
        <p:nvSpPr>
          <p:cNvPr id="196" name="Google Shape;19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311700" y="1461963"/>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hlink"/>
                </a:solidFill>
                <a:hlinkClick r:id="rId3"/>
              </a:rPr>
              <a:t>go.cs61a.org/presem</a:t>
            </a:r>
            <a:endParaRPr/>
          </a:p>
        </p:txBody>
      </p:sp>
      <p:sp>
        <p:nvSpPr>
          <p:cNvPr id="202" name="Google Shape;202;p28"/>
          <p:cNvSpPr txBox="1"/>
          <p:nvPr>
            <p:ph idx="1" type="subTitle"/>
          </p:nvPr>
        </p:nvSpPr>
        <p:spPr>
          <a:xfrm>
            <a:off x="311700" y="2145238"/>
            <a:ext cx="8520600" cy="15363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Please fill out our pre-semester survey!</a:t>
            </a:r>
            <a:endParaRPr/>
          </a:p>
          <a:p>
            <a:pPr indent="0" lvl="0" marL="0" rtl="0" algn="ctr">
              <a:spcBef>
                <a:spcPts val="600"/>
              </a:spcBef>
              <a:spcAft>
                <a:spcPts val="0"/>
              </a:spcAft>
              <a:buNone/>
            </a:pPr>
            <a:r>
              <a:rPr lang="en">
                <a:solidFill>
                  <a:schemeClr val="dk2"/>
                </a:solidFill>
              </a:rPr>
              <a:t>(Part of Lab 0, so might as well do it now)</a:t>
            </a:r>
            <a:endParaRPr>
              <a:solidFill>
                <a:schemeClr val="dk2"/>
              </a:solidFill>
            </a:endParaRPr>
          </a:p>
        </p:txBody>
      </p:sp>
      <p:sp>
        <p:nvSpPr>
          <p:cNvPr id="203" name="Google Shape;203;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About the course</a:t>
            </a:r>
            <a:endParaRPr/>
          </a:p>
        </p:txBody>
      </p:sp>
      <p:sp>
        <p:nvSpPr>
          <p:cNvPr id="209" name="Google Shape;209;p29"/>
          <p:cNvSpPr txBox="1"/>
          <p:nvPr>
            <p:ph idx="1" type="body"/>
          </p:nvPr>
        </p:nvSpPr>
        <p:spPr>
          <a:xfrm>
            <a:off x="107050" y="457200"/>
            <a:ext cx="8458200" cy="2438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CS 61A: The Structure and Interpretation of Computer Programs</a:t>
            </a:r>
            <a:endParaRPr b="1"/>
          </a:p>
          <a:p>
            <a:pPr indent="-342900" lvl="0" marL="457200" rtl="0" algn="l">
              <a:spcBef>
                <a:spcPts val="1000"/>
              </a:spcBef>
              <a:spcAft>
                <a:spcPts val="0"/>
              </a:spcAft>
              <a:buSzPts val="1800"/>
              <a:buChar char="●"/>
            </a:pPr>
            <a:r>
              <a:rPr lang="en"/>
              <a:t>You will learn 3 programming languages: Python, Scheme, and SQL</a:t>
            </a:r>
            <a:endParaRPr/>
          </a:p>
          <a:p>
            <a:pPr indent="-342900" lvl="0" marL="457200" rtl="0" algn="l">
              <a:spcBef>
                <a:spcPts val="1000"/>
              </a:spcBef>
              <a:spcAft>
                <a:spcPts val="0"/>
              </a:spcAft>
              <a:buSzPts val="1800"/>
              <a:buChar char="●"/>
            </a:pPr>
            <a:r>
              <a:rPr lang="en"/>
              <a:t>… but this is </a:t>
            </a:r>
            <a:r>
              <a:rPr i="1" lang="en"/>
              <a:t>not just </a:t>
            </a:r>
            <a:r>
              <a:rPr lang="en"/>
              <a:t>an introductory programming course</a:t>
            </a:r>
            <a:endParaRPr/>
          </a:p>
          <a:p>
            <a:pPr indent="-342900" lvl="0" marL="457200" rtl="0" algn="l">
              <a:spcBef>
                <a:spcPts val="1000"/>
              </a:spcBef>
              <a:spcAft>
                <a:spcPts val="0"/>
              </a:spcAft>
              <a:buSzPts val="1800"/>
              <a:buChar char="●"/>
            </a:pPr>
            <a:r>
              <a:rPr lang="en"/>
              <a:t>Key ideas: Abstraction, problem solving, managing complexity, and interpreting programming languages</a:t>
            </a:r>
            <a:endParaRPr/>
          </a:p>
          <a:p>
            <a:pPr indent="-342900" lvl="0" marL="457200" rtl="0" algn="l">
              <a:spcBef>
                <a:spcPts val="1000"/>
              </a:spcBef>
              <a:spcAft>
                <a:spcPts val="1000"/>
              </a:spcAft>
              <a:buSzPts val="1800"/>
              <a:buChar char="●"/>
            </a:pPr>
            <a:r>
              <a:rPr lang="en"/>
              <a:t>… in other words, </a:t>
            </a:r>
            <a:r>
              <a:rPr i="1" lang="en"/>
              <a:t>how to think like a computer scientist</a:t>
            </a:r>
            <a:endParaRPr/>
          </a:p>
        </p:txBody>
      </p:sp>
      <p:sp>
        <p:nvSpPr>
          <p:cNvPr id="210" name="Google Shape;21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29"/>
          <p:cNvSpPr txBox="1"/>
          <p:nvPr/>
        </p:nvSpPr>
        <p:spPr>
          <a:xfrm>
            <a:off x="107050" y="2895600"/>
            <a:ext cx="8219400" cy="223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How to succeed? </a:t>
            </a:r>
            <a:r>
              <a:rPr lang="en" sz="1800">
                <a:solidFill>
                  <a:schemeClr val="dk1"/>
                </a:solidFill>
                <a:latin typeface="Inter"/>
                <a:ea typeface="Inter"/>
                <a:cs typeface="Inter"/>
                <a:sym typeface="Inter"/>
              </a:rPr>
              <a:t>(see also: </a:t>
            </a:r>
            <a:r>
              <a:rPr lang="en" sz="1800" u="sng">
                <a:solidFill>
                  <a:schemeClr val="hlink"/>
                </a:solidFill>
                <a:latin typeface="Inter"/>
                <a:ea typeface="Inter"/>
                <a:cs typeface="Inter"/>
                <a:sym typeface="Inter"/>
                <a:hlinkClick r:id="rId3"/>
              </a:rPr>
              <a:t>Advice</a:t>
            </a:r>
            <a:r>
              <a:rPr lang="en" sz="1800">
                <a:solidFill>
                  <a:schemeClr val="dk1"/>
                </a:solidFill>
                <a:latin typeface="Inter"/>
                <a:ea typeface="Inter"/>
                <a:cs typeface="Inter"/>
                <a:sym typeface="Inter"/>
              </a:rPr>
              <a:t> from past students)</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n" sz="1800">
                <a:solidFill>
                  <a:schemeClr val="dk1"/>
                </a:solidFill>
                <a:latin typeface="Inter"/>
                <a:ea typeface="Inter"/>
                <a:cs typeface="Inter"/>
                <a:sym typeface="Inter"/>
              </a:rPr>
              <a:t>Attend and actively participate in all synchronous parts of the course (lecture, lab, discussion)</a:t>
            </a:r>
            <a:endParaRPr sz="1800">
              <a:solidFill>
                <a:schemeClr val="dk1"/>
              </a:solidFill>
              <a:latin typeface="Inter"/>
              <a:ea typeface="Inter"/>
              <a:cs typeface="Inter"/>
              <a:sym typeface="Inter"/>
            </a:endParaRPr>
          </a:p>
          <a:p>
            <a:pPr indent="-342900" lvl="0" marL="457200" rtl="0" algn="l">
              <a:spcBef>
                <a:spcPts val="1000"/>
              </a:spcBef>
              <a:spcAft>
                <a:spcPts val="0"/>
              </a:spcAft>
              <a:buClr>
                <a:schemeClr val="dk1"/>
              </a:buClr>
              <a:buSzPts val="1800"/>
              <a:buFont typeface="Inter"/>
              <a:buChar char="●"/>
            </a:pPr>
            <a:r>
              <a:rPr lang="en" sz="1800">
                <a:solidFill>
                  <a:schemeClr val="dk1"/>
                </a:solidFill>
                <a:latin typeface="Inter"/>
                <a:ea typeface="Inter"/>
                <a:cs typeface="Inter"/>
                <a:sym typeface="Inter"/>
              </a:rPr>
              <a:t>Do the assignments yourself and come to OH/ask questions on Ed/talk to classmates if you get stuck </a:t>
            </a:r>
            <a:r>
              <a:rPr b="1" lang="en" sz="1800">
                <a:solidFill>
                  <a:schemeClr val="dk1"/>
                </a:solidFill>
                <a:latin typeface="Inter"/>
                <a:ea typeface="Inter"/>
                <a:cs typeface="Inter"/>
                <a:sym typeface="Inter"/>
              </a:rPr>
              <a:t>(productive struggle)</a:t>
            </a:r>
            <a:endParaRPr b="1" sz="1800">
              <a:solidFill>
                <a:schemeClr val="dk1"/>
              </a:solidFill>
              <a:latin typeface="Inter"/>
              <a:ea typeface="Inter"/>
              <a:cs typeface="Inter"/>
              <a:sym typeface="Inter"/>
            </a:endParaRPr>
          </a:p>
          <a:p>
            <a:pPr indent="-342900" lvl="0" marL="457200" rtl="0" algn="l">
              <a:spcBef>
                <a:spcPts val="1000"/>
              </a:spcBef>
              <a:spcAft>
                <a:spcPts val="1000"/>
              </a:spcAft>
              <a:buClr>
                <a:schemeClr val="dk1"/>
              </a:buClr>
              <a:buSzPts val="1800"/>
              <a:buFont typeface="Inter"/>
              <a:buChar char="●"/>
            </a:pPr>
            <a:r>
              <a:rPr lang="en" sz="1800">
                <a:solidFill>
                  <a:schemeClr val="dk1"/>
                </a:solidFill>
                <a:latin typeface="Inter"/>
                <a:ea typeface="Inter"/>
                <a:cs typeface="Inter"/>
                <a:sym typeface="Inter"/>
              </a:rPr>
              <a:t>Exams: Do problems from past exams</a:t>
            </a:r>
            <a:endParaRPr sz="1800">
              <a:solidFill>
                <a:schemeClr val="dk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Course Materials</a:t>
            </a:r>
            <a:endParaRPr/>
          </a:p>
        </p:txBody>
      </p:sp>
      <p:sp>
        <p:nvSpPr>
          <p:cNvPr id="217" name="Google Shape;217;p30"/>
          <p:cNvSpPr txBox="1"/>
          <p:nvPr>
            <p:ph idx="1" type="body"/>
          </p:nvPr>
        </p:nvSpPr>
        <p:spPr>
          <a:xfrm>
            <a:off x="107050" y="457200"/>
            <a:ext cx="8458200" cy="211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(Almost) everything is on our course website, </a:t>
            </a:r>
            <a:r>
              <a:rPr b="1" lang="en" u="sng">
                <a:solidFill>
                  <a:schemeClr val="hlink"/>
                </a:solidFill>
                <a:hlinkClick r:id="rId3"/>
              </a:rPr>
              <a:t>cs61a.org</a:t>
            </a:r>
            <a:endParaRPr b="1"/>
          </a:p>
          <a:p>
            <a:pPr indent="-342900" lvl="0" marL="457200" rtl="0" algn="l">
              <a:spcBef>
                <a:spcPts val="1000"/>
              </a:spcBef>
              <a:spcAft>
                <a:spcPts val="0"/>
              </a:spcAft>
              <a:buSzPts val="1800"/>
              <a:buChar char="●"/>
            </a:pPr>
            <a:r>
              <a:rPr lang="en"/>
              <a:t>Lecture recordings: </a:t>
            </a:r>
            <a:r>
              <a:rPr lang="en" u="sng">
                <a:solidFill>
                  <a:schemeClr val="hlink"/>
                </a:solidFill>
                <a:hlinkClick r:id="rId4"/>
              </a:rPr>
              <a:t>bCourses</a:t>
            </a:r>
            <a:r>
              <a:rPr lang="en"/>
              <a:t> &gt; Media Gallery (~1 day delay)</a:t>
            </a:r>
            <a:endParaRPr/>
          </a:p>
          <a:p>
            <a:pPr indent="-342900" lvl="0" marL="457200" rtl="0" algn="l">
              <a:spcBef>
                <a:spcPts val="1000"/>
              </a:spcBef>
              <a:spcAft>
                <a:spcPts val="0"/>
              </a:spcAft>
              <a:buSzPts val="1800"/>
              <a:buChar char="●"/>
            </a:pPr>
            <a:r>
              <a:rPr lang="en"/>
              <a:t>Q&amp;A: </a:t>
            </a:r>
            <a:r>
              <a:rPr lang="en" u="sng">
                <a:solidFill>
                  <a:schemeClr val="hlink"/>
                </a:solidFill>
                <a:hlinkClick r:id="rId5"/>
              </a:rPr>
              <a:t>edstem.org</a:t>
            </a:r>
            <a:r>
              <a:rPr lang="en"/>
              <a:t> </a:t>
            </a:r>
            <a:endParaRPr/>
          </a:p>
          <a:p>
            <a:pPr indent="-342900" lvl="0" marL="457200" rtl="0" algn="l">
              <a:spcBef>
                <a:spcPts val="1000"/>
              </a:spcBef>
              <a:spcAft>
                <a:spcPts val="0"/>
              </a:spcAft>
              <a:buSzPts val="1800"/>
              <a:buChar char="●"/>
            </a:pPr>
            <a:r>
              <a:rPr lang="en"/>
              <a:t>Submitting assignments: </a:t>
            </a:r>
            <a:r>
              <a:rPr lang="en" u="sng">
                <a:solidFill>
                  <a:schemeClr val="hlink"/>
                </a:solidFill>
                <a:hlinkClick r:id="rId6"/>
              </a:rPr>
              <a:t>Gradescope</a:t>
            </a:r>
            <a:endParaRPr/>
          </a:p>
          <a:p>
            <a:pPr indent="-342900" lvl="0" marL="457200" rtl="0" algn="l">
              <a:spcBef>
                <a:spcPts val="1000"/>
              </a:spcBef>
              <a:spcAft>
                <a:spcPts val="1000"/>
              </a:spcAft>
              <a:buSzPts val="1800"/>
              <a:buChar char="●"/>
            </a:pPr>
            <a:r>
              <a:rPr lang="en"/>
              <a:t>Textbook: </a:t>
            </a:r>
            <a:r>
              <a:rPr lang="en" u="sng">
                <a:solidFill>
                  <a:schemeClr val="hlink"/>
                </a:solidFill>
                <a:hlinkClick r:id="rId7"/>
              </a:rPr>
              <a:t>Composing Programs</a:t>
            </a:r>
            <a:endParaRPr/>
          </a:p>
        </p:txBody>
      </p:sp>
      <p:sp>
        <p:nvSpPr>
          <p:cNvPr id="218" name="Google Shape;21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0"/>
          <p:cNvSpPr txBox="1"/>
          <p:nvPr/>
        </p:nvSpPr>
        <p:spPr>
          <a:xfrm>
            <a:off x="107050" y="2662875"/>
            <a:ext cx="8165100" cy="14211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800">
                <a:solidFill>
                  <a:schemeClr val="accent2"/>
                </a:solidFill>
                <a:latin typeface="Inter"/>
                <a:ea typeface="Inter"/>
                <a:cs typeface="Inter"/>
                <a:sym typeface="Inter"/>
              </a:rPr>
              <a:t>IMPORTANT: You are solely responsible for knowing the syllabus/course policies, assignment deadlines, and checking your email and Ed for announcements. </a:t>
            </a:r>
            <a:endParaRPr b="1" sz="1800">
              <a:solidFill>
                <a:schemeClr val="accent2"/>
              </a:solidFill>
              <a:latin typeface="Inter"/>
              <a:ea typeface="Inter"/>
              <a:cs typeface="Inter"/>
              <a:sym typeface="Inter"/>
            </a:endParaRPr>
          </a:p>
          <a:p>
            <a:pPr indent="0" lvl="0" marL="0" rtl="0" algn="l">
              <a:spcBef>
                <a:spcPts val="1000"/>
              </a:spcBef>
              <a:spcAft>
                <a:spcPts val="1000"/>
              </a:spcAft>
              <a:buNone/>
            </a:pPr>
            <a:r>
              <a:rPr b="1" lang="en" sz="1800">
                <a:solidFill>
                  <a:schemeClr val="accent2"/>
                </a:solidFill>
                <a:latin typeface="Inter"/>
                <a:ea typeface="Inter"/>
                <a:cs typeface="Inter"/>
                <a:sym typeface="Inter"/>
              </a:rPr>
              <a:t>Today’s lecture is NOT comprehensive of everything you need to know.</a:t>
            </a:r>
            <a:endParaRPr>
              <a:solidFill>
                <a:schemeClr val="accen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Syllabus, logistics, and support (1 of 3)</a:t>
            </a:r>
            <a:endParaRPr/>
          </a:p>
        </p:txBody>
      </p:sp>
      <p:sp>
        <p:nvSpPr>
          <p:cNvPr id="225" name="Google Shape;225;p31"/>
          <p:cNvSpPr txBox="1"/>
          <p:nvPr>
            <p:ph idx="1" type="body"/>
          </p:nvPr>
        </p:nvSpPr>
        <p:spPr>
          <a:xfrm>
            <a:off x="107050" y="457200"/>
            <a:ext cx="8458200" cy="4534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Syllabus: </a:t>
            </a:r>
            <a:r>
              <a:rPr lang="en" u="sng">
                <a:solidFill>
                  <a:schemeClr val="hlink"/>
                </a:solidFill>
                <a:hlinkClick r:id="rId3"/>
              </a:rPr>
              <a:t>cs61a.org/articles/about-61a/</a:t>
            </a:r>
            <a:r>
              <a:rPr lang="en"/>
              <a:t> </a:t>
            </a:r>
            <a:endParaRPr/>
          </a:p>
          <a:p>
            <a:pPr indent="-342900" lvl="0" marL="457200" rtl="0" algn="l">
              <a:spcBef>
                <a:spcPts val="1000"/>
              </a:spcBef>
              <a:spcAft>
                <a:spcPts val="0"/>
              </a:spcAft>
              <a:buSzPts val="1800"/>
              <a:buChar char="●"/>
            </a:pPr>
            <a:r>
              <a:rPr b="1" lang="en"/>
              <a:t>New this summer:</a:t>
            </a:r>
            <a:endParaRPr b="1"/>
          </a:p>
          <a:p>
            <a:pPr indent="-342900" lvl="1" marL="914400" rtl="0" algn="l">
              <a:spcBef>
                <a:spcPts val="1000"/>
              </a:spcBef>
              <a:spcAft>
                <a:spcPts val="0"/>
              </a:spcAft>
              <a:buSzPts val="1800"/>
              <a:buChar char="○"/>
            </a:pPr>
            <a:r>
              <a:rPr lang="en"/>
              <a:t>We are 100% in-person (decision from the chairs)</a:t>
            </a:r>
            <a:endParaRPr/>
          </a:p>
          <a:p>
            <a:pPr indent="-342900" lvl="1" marL="914400" rtl="0" algn="l">
              <a:spcBef>
                <a:spcPts val="1000"/>
              </a:spcBef>
              <a:spcAft>
                <a:spcPts val="0"/>
              </a:spcAft>
              <a:buSzPts val="1800"/>
              <a:buChar char="○"/>
            </a:pPr>
            <a:r>
              <a:rPr lang="en"/>
              <a:t>Weekly Computer-Based Testing Facility (CBTF) quizzes</a:t>
            </a:r>
            <a:endParaRPr/>
          </a:p>
          <a:p>
            <a:pPr indent="-342900" lvl="2" marL="1371600" rtl="0" algn="l">
              <a:spcBef>
                <a:spcPts val="1000"/>
              </a:spcBef>
              <a:spcAft>
                <a:spcPts val="0"/>
              </a:spcAft>
              <a:buSzPts val="1800"/>
              <a:buChar char="■"/>
            </a:pPr>
            <a:r>
              <a:rPr i="1" lang="en"/>
              <a:t>Why? Frequent, small-stakes testing &gt; single high-stakes test</a:t>
            </a:r>
            <a:endParaRPr i="1"/>
          </a:p>
          <a:p>
            <a:pPr indent="-342900" lvl="1" marL="914400" rtl="0" algn="l">
              <a:spcBef>
                <a:spcPts val="1000"/>
              </a:spcBef>
              <a:spcAft>
                <a:spcPts val="0"/>
              </a:spcAft>
              <a:buSzPts val="1800"/>
              <a:buChar char="○"/>
            </a:pPr>
            <a:r>
              <a:rPr lang="en"/>
              <a:t>Grading policy: ⅔ exams, ⅓ everything else</a:t>
            </a:r>
            <a:endParaRPr/>
          </a:p>
          <a:p>
            <a:pPr indent="-342900" lvl="2" marL="1371600" rtl="0" algn="l">
              <a:spcBef>
                <a:spcPts val="1000"/>
              </a:spcBef>
              <a:spcAft>
                <a:spcPts val="0"/>
              </a:spcAft>
              <a:buSzPts val="1800"/>
              <a:buChar char="■"/>
            </a:pPr>
            <a:r>
              <a:rPr i="1" lang="en"/>
              <a:t>Why? AI coding tools make take-home assignments a noisy signal of students’ understanding and skill</a:t>
            </a:r>
            <a:endParaRPr i="1"/>
          </a:p>
          <a:p>
            <a:pPr indent="-342900" lvl="0" marL="457200" rtl="0" algn="l">
              <a:spcBef>
                <a:spcPts val="1000"/>
              </a:spcBef>
              <a:spcAft>
                <a:spcPts val="0"/>
              </a:spcAft>
              <a:buSzPts val="1800"/>
              <a:buChar char="●"/>
            </a:pPr>
            <a:r>
              <a:rPr b="1" lang="en"/>
              <a:t>New since our welcome Ed announcement:</a:t>
            </a:r>
            <a:endParaRPr b="1"/>
          </a:p>
          <a:p>
            <a:pPr indent="-342900" lvl="1" marL="914400" rtl="0" algn="l">
              <a:spcBef>
                <a:spcPts val="1000"/>
              </a:spcBef>
              <a:spcAft>
                <a:spcPts val="0"/>
              </a:spcAft>
              <a:buSzPts val="1800"/>
              <a:buChar char="○"/>
            </a:pPr>
            <a:r>
              <a:rPr lang="en"/>
              <a:t>61a-bot enabled on HW</a:t>
            </a:r>
            <a:endParaRPr/>
          </a:p>
          <a:p>
            <a:pPr indent="-342900" lvl="1" marL="914400" rtl="0" algn="l">
              <a:spcBef>
                <a:spcPts val="1000"/>
              </a:spcBef>
              <a:spcAft>
                <a:spcPts val="1000"/>
              </a:spcAft>
              <a:buSzPts val="1800"/>
              <a:buChar char="○"/>
            </a:pPr>
            <a:r>
              <a:rPr lang="en"/>
              <a:t>Orientation quiz release date moved to Tue 6/23</a:t>
            </a:r>
            <a:endParaRPr/>
          </a:p>
        </p:txBody>
      </p:sp>
      <p:sp>
        <p:nvSpPr>
          <p:cNvPr id="226" name="Google Shape;226;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Syllabus, logistics, and support (2 of 3)</a:t>
            </a:r>
            <a:endParaRPr/>
          </a:p>
        </p:txBody>
      </p:sp>
      <p:sp>
        <p:nvSpPr>
          <p:cNvPr id="232" name="Google Shape;232;p32"/>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b="1" lang="en"/>
              <a:t>OH:</a:t>
            </a:r>
            <a:r>
              <a:rPr lang="en"/>
              <a:t> </a:t>
            </a:r>
            <a:r>
              <a:rPr lang="en" u="sng">
                <a:solidFill>
                  <a:schemeClr val="hlink"/>
                </a:solidFill>
                <a:hlinkClick r:id="rId3"/>
              </a:rPr>
              <a:t>cs61a.org/office-hours/</a:t>
            </a:r>
            <a:r>
              <a:rPr lang="en"/>
              <a:t> (calendar may change, check before going)</a:t>
            </a:r>
            <a:endParaRPr/>
          </a:p>
          <a:p>
            <a:pPr indent="-342900" lvl="0" marL="457200" rtl="0" algn="l">
              <a:spcBef>
                <a:spcPts val="1000"/>
              </a:spcBef>
              <a:spcAft>
                <a:spcPts val="0"/>
              </a:spcAft>
              <a:buSzPts val="1800"/>
              <a:buChar char="●"/>
            </a:pPr>
            <a:r>
              <a:rPr b="1" lang="en"/>
              <a:t>DSP accommodations:</a:t>
            </a:r>
            <a:r>
              <a:rPr lang="en"/>
              <a:t> Please submit your letter of accommodation ASAP</a:t>
            </a:r>
            <a:endParaRPr/>
          </a:p>
          <a:p>
            <a:pPr indent="-342900" lvl="0" marL="457200" rtl="0" algn="l">
              <a:spcBef>
                <a:spcPts val="1000"/>
              </a:spcBef>
              <a:spcAft>
                <a:spcPts val="0"/>
              </a:spcAft>
              <a:buSzPts val="1800"/>
              <a:buChar char="●"/>
            </a:pPr>
            <a:r>
              <a:rPr b="1" lang="en"/>
              <a:t>Lab/discussion excused absence requests:</a:t>
            </a:r>
            <a:r>
              <a:rPr lang="en"/>
              <a:t> Email </a:t>
            </a:r>
            <a:r>
              <a:rPr lang="en" u="sng">
                <a:solidFill>
                  <a:schemeClr val="hlink"/>
                </a:solidFill>
                <a:hlinkClick r:id="rId4"/>
              </a:rPr>
              <a:t>cs61a@berkeley.edu</a:t>
            </a:r>
            <a:r>
              <a:rPr lang="en"/>
              <a:t> </a:t>
            </a:r>
            <a:endParaRPr/>
          </a:p>
          <a:p>
            <a:pPr indent="-342900" lvl="0" marL="457200" rtl="0" algn="l">
              <a:spcBef>
                <a:spcPts val="1000"/>
              </a:spcBef>
              <a:spcAft>
                <a:spcPts val="0"/>
              </a:spcAft>
              <a:buSzPts val="1800"/>
              <a:buChar char="●"/>
            </a:pPr>
            <a:r>
              <a:rPr b="1" lang="en"/>
              <a:t>Extensions:</a:t>
            </a:r>
            <a:r>
              <a:rPr lang="en"/>
              <a:t> Submit request on </a:t>
            </a:r>
            <a:r>
              <a:rPr lang="en" u="sng">
                <a:solidFill>
                  <a:schemeClr val="hlink"/>
                </a:solidFill>
                <a:hlinkClick r:id="rId5"/>
              </a:rPr>
              <a:t>go.cs61a.org/extensions</a:t>
            </a:r>
            <a:r>
              <a:rPr lang="en"/>
              <a:t> (Flextensions)</a:t>
            </a:r>
            <a:endParaRPr/>
          </a:p>
          <a:p>
            <a:pPr indent="-342900" lvl="0" marL="457200" rtl="0" algn="l">
              <a:spcBef>
                <a:spcPts val="1000"/>
              </a:spcBef>
              <a:spcAft>
                <a:spcPts val="1000"/>
              </a:spcAft>
              <a:buSzPts val="1800"/>
              <a:buChar char="●"/>
            </a:pPr>
            <a:r>
              <a:rPr b="1" lang="en"/>
              <a:t>Coming soon:</a:t>
            </a:r>
            <a:r>
              <a:rPr lang="en"/>
              <a:t> Exam prep tutoring sections</a:t>
            </a:r>
            <a:endParaRPr/>
          </a:p>
        </p:txBody>
      </p:sp>
      <p:sp>
        <p:nvSpPr>
          <p:cNvPr id="233" name="Google Shape;233;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pic>
        <p:nvPicPr>
          <p:cNvPr descr="Activity at pollev.com/rebeccadang831. Multiple choice question: If you need to request an excused absence from lab or discussion section, how do you let us know?" id="239" name="Google Shape;239;p33"/>
          <p:cNvPicPr preferRelativeResize="0"/>
          <p:nvPr/>
        </p:nvPicPr>
        <p:blipFill>
          <a:blip r:embed="rId3">
            <a:alphaModFix/>
          </a:blip>
          <a:stretch>
            <a:fillRect/>
          </a:stretch>
        </p:blipFill>
        <p:spPr>
          <a:xfrm>
            <a:off x="0" y="0"/>
            <a:ext cx="9144003" cy="51434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Questions or concerns? Here’s how to let us know</a:t>
            </a:r>
            <a:endParaRPr/>
          </a:p>
        </p:txBody>
      </p:sp>
      <p:sp>
        <p:nvSpPr>
          <p:cNvPr id="245" name="Google Shape;245;p34"/>
          <p:cNvSpPr txBox="1"/>
          <p:nvPr>
            <p:ph idx="1" type="body"/>
          </p:nvPr>
        </p:nvSpPr>
        <p:spPr>
          <a:xfrm>
            <a:off x="192375" y="578700"/>
            <a:ext cx="8458200" cy="4129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b="1" lang="en"/>
              <a:t>Is your question about the course content or logistics?</a:t>
            </a:r>
            <a:r>
              <a:rPr lang="en"/>
              <a:t> → Ed or OH</a:t>
            </a:r>
            <a:endParaRPr b="1"/>
          </a:p>
          <a:p>
            <a:pPr indent="-342900" lvl="0" marL="457200" rtl="0" algn="l">
              <a:spcBef>
                <a:spcPts val="0"/>
              </a:spcBef>
              <a:spcAft>
                <a:spcPts val="0"/>
              </a:spcAft>
              <a:buSzPts val="1800"/>
              <a:buChar char="●"/>
            </a:pPr>
            <a:r>
              <a:rPr b="1" lang="en"/>
              <a:t>Are you requesting an extension?</a:t>
            </a:r>
            <a:r>
              <a:rPr lang="en"/>
              <a:t> → Flextensions</a:t>
            </a:r>
            <a:endParaRPr/>
          </a:p>
          <a:p>
            <a:pPr indent="-342900" lvl="0" marL="457200" rtl="0" algn="l">
              <a:spcBef>
                <a:spcPts val="0"/>
              </a:spcBef>
              <a:spcAft>
                <a:spcPts val="0"/>
              </a:spcAft>
              <a:buSzPts val="1800"/>
              <a:buChar char="●"/>
            </a:pPr>
            <a:r>
              <a:rPr b="1" lang="en"/>
              <a:t>Are you requesting an excused absence from lab/discussion?</a:t>
            </a:r>
            <a:r>
              <a:rPr lang="en"/>
              <a:t> → </a:t>
            </a:r>
            <a:r>
              <a:rPr lang="en" u="sng">
                <a:solidFill>
                  <a:schemeClr val="hlink"/>
                </a:solidFill>
                <a:hlinkClick r:id="rId3"/>
              </a:rPr>
              <a:t>cs61a@berkeley.edu</a:t>
            </a:r>
            <a:r>
              <a:rPr lang="en"/>
              <a:t> </a:t>
            </a:r>
            <a:endParaRPr/>
          </a:p>
          <a:p>
            <a:pPr indent="-342900" lvl="0" marL="457200" rtl="0" algn="l">
              <a:spcBef>
                <a:spcPts val="0"/>
              </a:spcBef>
              <a:spcAft>
                <a:spcPts val="0"/>
              </a:spcAft>
              <a:buSzPts val="1800"/>
              <a:buChar char="●"/>
            </a:pPr>
            <a:r>
              <a:rPr b="1" lang="en"/>
              <a:t>Is your question about DSP accommodations?</a:t>
            </a:r>
            <a:r>
              <a:rPr lang="en"/>
              <a:t> → </a:t>
            </a:r>
            <a:r>
              <a:rPr lang="en" u="sng">
                <a:solidFill>
                  <a:schemeClr val="hlink"/>
                </a:solidFill>
                <a:hlinkClick r:id="rId4"/>
              </a:rPr>
              <a:t>cs61a@berkeley.edu</a:t>
            </a:r>
            <a:r>
              <a:rPr lang="en"/>
              <a:t> </a:t>
            </a:r>
            <a:endParaRPr/>
          </a:p>
          <a:p>
            <a:pPr indent="-342900" lvl="0" marL="457200" rtl="0" algn="l">
              <a:spcBef>
                <a:spcPts val="0"/>
              </a:spcBef>
              <a:spcAft>
                <a:spcPts val="0"/>
              </a:spcAft>
              <a:buSzPts val="1800"/>
              <a:buChar char="●"/>
            </a:pPr>
            <a:r>
              <a:rPr b="1" lang="en"/>
              <a:t>Is your question about an extenuating circumstance or sensitive, but you’re okay with admin TAs and the instructor seeing it?</a:t>
            </a:r>
            <a:r>
              <a:rPr lang="en"/>
              <a:t> → </a:t>
            </a:r>
            <a:r>
              <a:rPr lang="en" u="sng">
                <a:solidFill>
                  <a:schemeClr val="hlink"/>
                </a:solidFill>
                <a:hlinkClick r:id="rId5"/>
              </a:rPr>
              <a:t>cs61a@berkeley.edu</a:t>
            </a:r>
            <a:r>
              <a:rPr lang="en"/>
              <a:t> </a:t>
            </a:r>
            <a:endParaRPr/>
          </a:p>
          <a:p>
            <a:pPr indent="-342900" lvl="0" marL="457200" rtl="0" algn="l">
              <a:spcBef>
                <a:spcPts val="0"/>
              </a:spcBef>
              <a:spcAft>
                <a:spcPts val="0"/>
              </a:spcAft>
              <a:buSzPts val="1800"/>
              <a:buChar char="●"/>
            </a:pPr>
            <a:r>
              <a:rPr b="1" lang="en"/>
              <a:t>Is your question only something that the instructor can answer or otherwise sensitive?</a:t>
            </a:r>
            <a:endParaRPr b="1"/>
          </a:p>
          <a:p>
            <a:pPr indent="-342900" lvl="1" marL="914400" rtl="0" algn="l">
              <a:spcBef>
                <a:spcPts val="0"/>
              </a:spcBef>
              <a:spcAft>
                <a:spcPts val="0"/>
              </a:spcAft>
              <a:buSzPts val="1800"/>
              <a:buChar char="○"/>
            </a:pPr>
            <a:r>
              <a:rPr b="1" lang="en"/>
              <a:t>Do you want to be anonymous?</a:t>
            </a:r>
            <a:endParaRPr/>
          </a:p>
          <a:p>
            <a:pPr indent="-342900" lvl="2" marL="1371600" rtl="0" algn="l">
              <a:spcBef>
                <a:spcPts val="0"/>
              </a:spcBef>
              <a:spcAft>
                <a:spcPts val="0"/>
              </a:spcAft>
              <a:buSzPts val="1800"/>
              <a:buChar char="■"/>
            </a:pPr>
            <a:r>
              <a:rPr b="1" lang="en"/>
              <a:t>Yes</a:t>
            </a:r>
            <a:r>
              <a:rPr lang="en"/>
              <a:t> → </a:t>
            </a:r>
            <a:r>
              <a:rPr lang="en" u="sng">
                <a:solidFill>
                  <a:schemeClr val="hlink"/>
                </a:solidFill>
                <a:hlinkClick r:id="rId6"/>
              </a:rPr>
              <a:t>go.cs61a.org/anon-feedback</a:t>
            </a:r>
            <a:r>
              <a:rPr lang="en"/>
              <a:t> </a:t>
            </a:r>
            <a:endParaRPr/>
          </a:p>
          <a:p>
            <a:pPr indent="-342900" lvl="2" marL="1371600" rtl="0" algn="l">
              <a:spcBef>
                <a:spcPts val="0"/>
              </a:spcBef>
              <a:spcAft>
                <a:spcPts val="0"/>
              </a:spcAft>
              <a:buSzPts val="1800"/>
              <a:buChar char="■"/>
            </a:pPr>
            <a:r>
              <a:rPr b="1" lang="en"/>
              <a:t>No</a:t>
            </a:r>
            <a:r>
              <a:rPr lang="en"/>
              <a:t> → </a:t>
            </a:r>
            <a:r>
              <a:rPr lang="en" u="sng">
                <a:solidFill>
                  <a:schemeClr val="hlink"/>
                </a:solidFill>
                <a:hlinkClick r:id="rId7"/>
              </a:rPr>
              <a:t>rdang@berkeley.edu</a:t>
            </a:r>
            <a:r>
              <a:rPr lang="en"/>
              <a:t> (me)</a:t>
            </a:r>
            <a:endParaRPr/>
          </a:p>
        </p:txBody>
      </p:sp>
      <p:sp>
        <p:nvSpPr>
          <p:cNvPr id="246" name="Google Shape;246;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AI</a:t>
            </a:r>
            <a:endParaRPr/>
          </a:p>
        </p:txBody>
      </p:sp>
      <p:sp>
        <p:nvSpPr>
          <p:cNvPr id="252" name="Google Shape;252;p35"/>
          <p:cNvSpPr txBox="1"/>
          <p:nvPr>
            <p:ph idx="1" type="body"/>
          </p:nvPr>
        </p:nvSpPr>
        <p:spPr>
          <a:xfrm>
            <a:off x="107050" y="457200"/>
            <a:ext cx="8458200" cy="44232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Our course </a:t>
            </a:r>
            <a:r>
              <a:rPr lang="en" u="sng">
                <a:solidFill>
                  <a:schemeClr val="hlink"/>
                </a:solidFill>
                <a:hlinkClick r:id="rId3"/>
              </a:rPr>
              <a:t>AI policy</a:t>
            </a:r>
            <a:r>
              <a:rPr lang="en"/>
              <a:t> TLDR:</a:t>
            </a:r>
            <a:endParaRPr/>
          </a:p>
          <a:p>
            <a:pPr indent="-342900" lvl="1" marL="914400" rtl="0" algn="l">
              <a:spcBef>
                <a:spcPts val="0"/>
              </a:spcBef>
              <a:spcAft>
                <a:spcPts val="0"/>
              </a:spcAft>
              <a:buSzPts val="1800"/>
              <a:buChar char="○"/>
            </a:pPr>
            <a:r>
              <a:rPr lang="en"/>
              <a:t>Using AI to code for you ❌</a:t>
            </a:r>
            <a:endParaRPr/>
          </a:p>
          <a:p>
            <a:pPr indent="-342900" lvl="1" marL="914400" rtl="0" algn="l">
              <a:spcBef>
                <a:spcPts val="0"/>
              </a:spcBef>
              <a:spcAft>
                <a:spcPts val="0"/>
              </a:spcAft>
              <a:buSzPts val="1800"/>
              <a:buChar char="○"/>
            </a:pPr>
            <a:r>
              <a:rPr lang="en"/>
              <a:t>Using AI as a documentation or learning resource ✅</a:t>
            </a:r>
            <a:endParaRPr/>
          </a:p>
          <a:p>
            <a:pPr indent="-342900" lvl="0" marL="457200" rtl="0" algn="l">
              <a:spcBef>
                <a:spcPts val="0"/>
              </a:spcBef>
              <a:spcAft>
                <a:spcPts val="0"/>
              </a:spcAft>
              <a:buSzPts val="1800"/>
              <a:buChar char="●"/>
            </a:pPr>
            <a:r>
              <a:rPr lang="en"/>
              <a:t>Why?</a:t>
            </a:r>
            <a:endParaRPr/>
          </a:p>
          <a:p>
            <a:pPr indent="-342900" lvl="1" marL="914400" rtl="0" algn="l">
              <a:spcBef>
                <a:spcPts val="0"/>
              </a:spcBef>
              <a:spcAft>
                <a:spcPts val="0"/>
              </a:spcAft>
              <a:buSzPts val="1800"/>
              <a:buChar char="○"/>
            </a:pPr>
            <a:r>
              <a:rPr lang="en"/>
              <a:t>Yes, we know AI coding tools are widely used on the job today</a:t>
            </a:r>
            <a:endParaRPr/>
          </a:p>
          <a:p>
            <a:pPr indent="-342900" lvl="2" marL="1371600" rtl="0" algn="l">
              <a:spcBef>
                <a:spcPts val="0"/>
              </a:spcBef>
              <a:spcAft>
                <a:spcPts val="0"/>
              </a:spcAft>
              <a:buSzPts val="1800"/>
              <a:buChar char="■"/>
            </a:pPr>
            <a:r>
              <a:rPr lang="en"/>
              <a:t>But do you want to be the person who mindlessly vibecodes all day?</a:t>
            </a:r>
            <a:endParaRPr/>
          </a:p>
          <a:p>
            <a:pPr indent="-342900" lvl="2" marL="1371600" rtl="0" algn="l">
              <a:spcBef>
                <a:spcPts val="0"/>
              </a:spcBef>
              <a:spcAft>
                <a:spcPts val="0"/>
              </a:spcAft>
              <a:buSzPts val="1800"/>
              <a:buChar char="■"/>
            </a:pPr>
            <a:r>
              <a:rPr lang="en"/>
              <a:t>Do you want to be reliant on a corporation (which cares more about profit than you) for your thinking and skills?</a:t>
            </a:r>
            <a:endParaRPr/>
          </a:p>
          <a:p>
            <a:pPr indent="-342900" lvl="2" marL="1371600" rtl="0" algn="l">
              <a:spcBef>
                <a:spcPts val="0"/>
              </a:spcBef>
              <a:spcAft>
                <a:spcPts val="0"/>
              </a:spcAft>
              <a:buSzPts val="1800"/>
              <a:buChar char="■"/>
            </a:pPr>
            <a:r>
              <a:rPr lang="en"/>
              <a:t>How can you judge that AI output is </a:t>
            </a:r>
            <a:r>
              <a:rPr b="1" lang="en"/>
              <a:t>good and correct</a:t>
            </a:r>
            <a:r>
              <a:rPr lang="en"/>
              <a:t> without knowing at </a:t>
            </a:r>
            <a:r>
              <a:rPr b="1" i="1" lang="en"/>
              <a:t>least </a:t>
            </a:r>
            <a:r>
              <a:rPr lang="en"/>
              <a:t>the fundamentals?</a:t>
            </a:r>
            <a:endParaRPr/>
          </a:p>
          <a:p>
            <a:pPr indent="-342900" lvl="1" marL="914400" rtl="0" algn="l">
              <a:spcBef>
                <a:spcPts val="0"/>
              </a:spcBef>
              <a:spcAft>
                <a:spcPts val="0"/>
              </a:spcAft>
              <a:buSzPts val="1800"/>
              <a:buChar char="○"/>
            </a:pPr>
            <a:r>
              <a:rPr lang="en"/>
              <a:t>Critical thinking, problem solving, design, communication, etc. are still important skills.</a:t>
            </a:r>
            <a:endParaRPr/>
          </a:p>
          <a:p>
            <a:pPr indent="-342900" lvl="1" marL="914400" rtl="0" algn="l">
              <a:spcBef>
                <a:spcPts val="600"/>
              </a:spcBef>
              <a:spcAft>
                <a:spcPts val="0"/>
              </a:spcAft>
              <a:buSzPts val="1800"/>
              <a:buChar char="○"/>
            </a:pPr>
            <a:r>
              <a:rPr lang="en"/>
              <a:t>At the end of the day, </a:t>
            </a:r>
            <a:r>
              <a:rPr b="1" i="1" lang="en"/>
              <a:t>you as the engineer are accountable </a:t>
            </a:r>
            <a:r>
              <a:rPr lang="en"/>
              <a:t>for all AI outputs</a:t>
            </a:r>
            <a:endParaRPr/>
          </a:p>
        </p:txBody>
      </p:sp>
      <p:sp>
        <p:nvSpPr>
          <p:cNvPr id="253" name="Google Shape;253;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Scene from Spider-Man: Homecoming movie with Peter Parker and Tony Stark. Peter says, &quot;But I'm nothing without this suit!&quot; Tony responds, &quot;If you're nothing without this suit, then you shouldn't have it.&quot;" id="259" name="Google Shape;259;p36"/>
          <p:cNvPicPr preferRelativeResize="0"/>
          <p:nvPr/>
        </p:nvPicPr>
        <p:blipFill>
          <a:blip r:embed="rId3">
            <a:alphaModFix/>
          </a:blip>
          <a:stretch>
            <a:fillRect/>
          </a:stretch>
        </p:blipFill>
        <p:spPr>
          <a:xfrm>
            <a:off x="1562850" y="321150"/>
            <a:ext cx="6018300" cy="4501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If time: Computing in the news</a:t>
            </a:r>
            <a:endParaRPr/>
          </a:p>
        </p:txBody>
      </p:sp>
      <p:sp>
        <p:nvSpPr>
          <p:cNvPr id="265" name="Google Shape;26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
        <p:nvSpPr>
          <p:cNvPr id="266" name="Google Shape;266;p37"/>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b="1" lang="en"/>
              <a:t>Note: </a:t>
            </a:r>
            <a:r>
              <a:rPr lang="en"/>
              <a:t>All computing in the news sections are not in scope for exams, but great to know about as a person!</a:t>
            </a:r>
            <a:endParaRPr/>
          </a:p>
          <a:p>
            <a:pPr indent="-342900" lvl="0" marL="457200" rtl="0" algn="l">
              <a:spcBef>
                <a:spcPts val="1000"/>
              </a:spcBef>
              <a:spcAft>
                <a:spcPts val="0"/>
              </a:spcAft>
              <a:buSzPts val="1800"/>
              <a:buChar char="●"/>
            </a:pPr>
            <a:r>
              <a:rPr lang="en" u="sng">
                <a:solidFill>
                  <a:schemeClr val="hlink"/>
                </a:solidFill>
                <a:hlinkClick r:id="rId3"/>
              </a:rPr>
              <a:t>In Age of AI, World’s Leading Deepfake Expert No Longer Trusts His Own Eyes</a:t>
            </a:r>
            <a:r>
              <a:rPr lang="en"/>
              <a:t> (New York Times)</a:t>
            </a:r>
            <a:endParaRPr/>
          </a:p>
          <a:p>
            <a:pPr indent="-342900" lvl="1" marL="914400" rtl="0" algn="l">
              <a:spcBef>
                <a:spcPts val="1000"/>
              </a:spcBef>
              <a:spcAft>
                <a:spcPts val="0"/>
              </a:spcAft>
              <a:buSzPts val="1800"/>
              <a:buChar char="○"/>
            </a:pPr>
            <a:r>
              <a:rPr lang="en"/>
              <a:t>Featuring former UC Berkeley Professor Hany Farid </a:t>
            </a:r>
            <a:endParaRPr/>
          </a:p>
          <a:p>
            <a:pPr indent="-342900" lvl="0" marL="457200" rtl="0" algn="l">
              <a:spcBef>
                <a:spcPts val="1000"/>
              </a:spcBef>
              <a:spcAft>
                <a:spcPts val="0"/>
              </a:spcAft>
              <a:buSzPts val="1800"/>
              <a:buChar char="●"/>
            </a:pPr>
            <a:r>
              <a:rPr lang="en" u="sng">
                <a:solidFill>
                  <a:schemeClr val="hlink"/>
                </a:solidFill>
                <a:hlinkClick r:id="rId4"/>
              </a:rPr>
              <a:t>Failing grades soar as professors see greater AI usage, dwindling math skills in UC Berkeley computer science classes</a:t>
            </a:r>
            <a:r>
              <a:rPr lang="en"/>
              <a:t> (Daily Cal)</a:t>
            </a:r>
            <a:endParaRPr/>
          </a:p>
          <a:p>
            <a:pPr indent="-342900" lvl="0" marL="457200" rtl="0" algn="l">
              <a:spcBef>
                <a:spcPts val="1000"/>
              </a:spcBef>
              <a:spcAft>
                <a:spcPts val="1000"/>
              </a:spcAft>
              <a:buSzPts val="1800"/>
              <a:buChar char="●"/>
            </a:pPr>
            <a:r>
              <a:rPr lang="en" u="sng">
                <a:solidFill>
                  <a:schemeClr val="hlink"/>
                </a:solidFill>
                <a:hlinkClick r:id="rId5"/>
              </a:rPr>
              <a:t>Anthropic Pulls Its Most Powerful AI Models After U.S. Bars Foreign Access</a:t>
            </a:r>
            <a:r>
              <a:rPr lang="en"/>
              <a:t> (TIME Magazine)</a:t>
            </a:r>
            <a:r>
              <a:rPr lang="en"/>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pic>
        <p:nvPicPr>
          <p:cNvPr descr="Activity at pollev.com/rebeccadang831. Free response question: What do you want to build with your knowledge of CS?" id="272" name="Google Shape;272;p38"/>
          <p:cNvPicPr preferRelativeResize="0"/>
          <p:nvPr/>
        </p:nvPicPr>
        <p:blipFill>
          <a:blip r:embed="rId3">
            <a:alphaModFix/>
          </a:blip>
          <a:stretch>
            <a:fillRect/>
          </a:stretch>
        </p:blipFill>
        <p:spPr>
          <a:xfrm>
            <a:off x="0" y="0"/>
            <a:ext cx="9144003" cy="51435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Coding Environment</a:t>
            </a:r>
            <a:endParaRPr/>
          </a:p>
        </p:txBody>
      </p:sp>
      <p:sp>
        <p:nvSpPr>
          <p:cNvPr id="278" name="Google Shape;278;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10 min</a:t>
            </a:r>
            <a:endParaRPr/>
          </a:p>
        </p:txBody>
      </p:sp>
      <p:sp>
        <p:nvSpPr>
          <p:cNvPr id="279" name="Google Shape;279;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600"/>
              </a:spcBef>
              <a:spcAft>
                <a:spcPts val="0"/>
              </a:spcAft>
              <a:buSzPts val="1800"/>
              <a:buChar char="•"/>
            </a:pPr>
            <a:r>
              <a:rPr lang="en"/>
              <a:t>File System</a:t>
            </a:r>
            <a:endParaRPr/>
          </a:p>
          <a:p>
            <a:pPr indent="-342900" lvl="0" marL="457200" rtl="0" algn="l">
              <a:spcBef>
                <a:spcPts val="0"/>
              </a:spcBef>
              <a:spcAft>
                <a:spcPts val="0"/>
              </a:spcAft>
              <a:buSzPts val="1800"/>
              <a:buChar char="•"/>
            </a:pPr>
            <a:r>
              <a:rPr lang="en"/>
              <a:t>Terminal</a:t>
            </a:r>
            <a:endParaRPr/>
          </a:p>
          <a:p>
            <a:pPr indent="-342900" lvl="0" marL="457200" rtl="0" algn="l">
              <a:spcBef>
                <a:spcPts val="0"/>
              </a:spcBef>
              <a:spcAft>
                <a:spcPts val="0"/>
              </a:spcAft>
              <a:buSzPts val="1800"/>
              <a:buChar char="•"/>
            </a:pPr>
            <a:r>
              <a:rPr lang="en"/>
              <a:t>Python Interpreter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File System</a:t>
            </a:r>
            <a:endParaRPr/>
          </a:p>
        </p:txBody>
      </p:sp>
      <p:sp>
        <p:nvSpPr>
          <p:cNvPr id="286" name="Google Shape;286;p40"/>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File</a:t>
            </a:r>
            <a:endParaRPr/>
          </a:p>
          <a:p>
            <a:pPr indent="-342900" lvl="0" marL="457200" rtl="0" algn="l">
              <a:spcBef>
                <a:spcPts val="1000"/>
              </a:spcBef>
              <a:spcAft>
                <a:spcPts val="0"/>
              </a:spcAft>
              <a:buSzPts val="1800"/>
              <a:buChar char="●"/>
            </a:pPr>
            <a:r>
              <a:rPr lang="en"/>
              <a:t>Directory (folder)</a:t>
            </a:r>
            <a:endParaRPr/>
          </a:p>
          <a:p>
            <a:pPr indent="-342900" lvl="0" marL="457200" rtl="0" algn="l">
              <a:spcBef>
                <a:spcPts val="1000"/>
              </a:spcBef>
              <a:spcAft>
                <a:spcPts val="0"/>
              </a:spcAft>
              <a:buSzPts val="1800"/>
              <a:buChar char="●"/>
            </a:pPr>
            <a:r>
              <a:rPr lang="en"/>
              <a:t>Path: Location of a file or directory</a:t>
            </a:r>
            <a:endParaRPr/>
          </a:p>
          <a:p>
            <a:pPr indent="-342900" lvl="1" marL="914400" rtl="0" algn="l">
              <a:spcBef>
                <a:spcPts val="1000"/>
              </a:spcBef>
              <a:spcAft>
                <a:spcPts val="0"/>
              </a:spcAft>
              <a:buSzPts val="1800"/>
              <a:buChar char="○"/>
            </a:pPr>
            <a:r>
              <a:rPr lang="en"/>
              <a:t>Absolute: Your full address</a:t>
            </a:r>
            <a:endParaRPr/>
          </a:p>
          <a:p>
            <a:pPr indent="-342900" lvl="1" marL="914400" rtl="0" algn="l">
              <a:spcBef>
                <a:spcPts val="1000"/>
              </a:spcBef>
              <a:spcAft>
                <a:spcPts val="1000"/>
              </a:spcAft>
              <a:buSzPts val="1800"/>
              <a:buChar char="○"/>
            </a:pPr>
            <a:r>
              <a:rPr lang="en"/>
              <a:t>Relative: "I'm living at the apartment 3 blocks north of here"</a:t>
            </a:r>
            <a:endParaRPr/>
          </a:p>
        </p:txBody>
      </p:sp>
      <p:sp>
        <p:nvSpPr>
          <p:cNvPr id="287" name="Google Shape;287;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Terminal</a:t>
            </a:r>
            <a:endParaRPr/>
          </a:p>
        </p:txBody>
      </p:sp>
      <p:sp>
        <p:nvSpPr>
          <p:cNvPr id="293" name="Google Shape;293;p41"/>
          <p:cNvSpPr txBox="1"/>
          <p:nvPr>
            <p:ph idx="1" type="body"/>
          </p:nvPr>
        </p:nvSpPr>
        <p:spPr>
          <a:xfrm>
            <a:off x="107050" y="457200"/>
            <a:ext cx="8458200" cy="4048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Command-line (text) based program to interact with your computer and file system</a:t>
            </a:r>
            <a:endParaRPr/>
          </a:p>
          <a:p>
            <a:pPr indent="-342900" lvl="0" marL="457200" rtl="0" algn="l">
              <a:spcBef>
                <a:spcPts val="0"/>
              </a:spcBef>
              <a:spcAft>
                <a:spcPts val="0"/>
              </a:spcAft>
              <a:buSzPts val="1800"/>
              <a:buChar char="●"/>
            </a:pPr>
            <a:r>
              <a:rPr lang="en"/>
              <a:t>Demo (Unix/Mac/WSL)</a:t>
            </a:r>
            <a:endParaRPr/>
          </a:p>
          <a:p>
            <a:pPr indent="-342900" lvl="1" marL="914400" rtl="0" algn="l">
              <a:spcBef>
                <a:spcPts val="0"/>
              </a:spcBef>
              <a:spcAft>
                <a:spcPts val="0"/>
              </a:spcAft>
              <a:buSzPts val="1800"/>
              <a:buChar char="○"/>
            </a:pPr>
            <a:r>
              <a:rPr lang="en"/>
              <a:t>Parts of a terminal prompt</a:t>
            </a:r>
            <a:endParaRPr/>
          </a:p>
          <a:p>
            <a:pPr indent="-342900" lvl="1" marL="914400" rtl="0" algn="l">
              <a:spcBef>
                <a:spcPts val="0"/>
              </a:spcBef>
              <a:spcAft>
                <a:spcPts val="0"/>
              </a:spcAft>
              <a:buSzPts val="1800"/>
              <a:buChar char="○"/>
            </a:pPr>
            <a:r>
              <a:rPr lang="en"/>
              <a:t>Up/down arrow for command history</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pwd</a:t>
            </a:r>
            <a:r>
              <a:rPr lang="en"/>
              <a:t>: print working directory</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ls</a:t>
            </a:r>
            <a:r>
              <a:rPr lang="en"/>
              <a:t>: list files and directories</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cd</a:t>
            </a:r>
            <a:r>
              <a:rPr lang="en"/>
              <a:t>: change directory</a:t>
            </a:r>
            <a:endParaRPr/>
          </a:p>
          <a:p>
            <a:pPr indent="-342900" lvl="2" marL="1371600" rtl="0" algn="l">
              <a:spcBef>
                <a:spcPts val="0"/>
              </a:spcBef>
              <a:spcAft>
                <a:spcPts val="0"/>
              </a:spcAft>
              <a:buSzPts val="1800"/>
              <a:buChar char="■"/>
            </a:pPr>
            <a:r>
              <a:rPr lang="en">
                <a:solidFill>
                  <a:srgbClr val="188038"/>
                </a:solidFill>
                <a:latin typeface="Roboto Mono"/>
                <a:ea typeface="Roboto Mono"/>
                <a:cs typeface="Roboto Mono"/>
                <a:sym typeface="Roboto Mono"/>
              </a:rPr>
              <a:t>cd ..</a:t>
            </a:r>
            <a:r>
              <a:rPr lang="en"/>
              <a:t> → go to parent directory</a:t>
            </a:r>
            <a:endParaRPr/>
          </a:p>
          <a:p>
            <a:pPr indent="-342900" lvl="2" marL="1371600" rtl="0" algn="l">
              <a:spcBef>
                <a:spcPts val="0"/>
              </a:spcBef>
              <a:spcAft>
                <a:spcPts val="0"/>
              </a:spcAft>
              <a:buSzPts val="1800"/>
              <a:buChar char="■"/>
            </a:pPr>
            <a:r>
              <a:rPr lang="en">
                <a:solidFill>
                  <a:srgbClr val="188038"/>
                </a:solidFill>
                <a:latin typeface="Roboto Mono"/>
                <a:ea typeface="Roboto Mono"/>
                <a:cs typeface="Roboto Mono"/>
                <a:sym typeface="Roboto Mono"/>
              </a:rPr>
              <a:t>cd ~</a:t>
            </a:r>
            <a:r>
              <a:rPr lang="en"/>
              <a:t> → go to home directory</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touch</a:t>
            </a:r>
            <a:r>
              <a:rPr lang="en"/>
              <a:t>: create a file</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mkdir</a:t>
            </a:r>
            <a:r>
              <a:rPr lang="en"/>
              <a:t>: make directory</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rm</a:t>
            </a:r>
            <a:r>
              <a:rPr lang="en"/>
              <a:t>: remove a file or directory </a:t>
            </a:r>
            <a:r>
              <a:rPr b="1" lang="en"/>
              <a:t>(⚠️ danger!)</a:t>
            </a:r>
            <a:endParaRPr b="1"/>
          </a:p>
          <a:p>
            <a:pPr indent="-342900" lvl="0" marL="457200" rtl="0" algn="l">
              <a:spcBef>
                <a:spcPts val="0"/>
              </a:spcBef>
              <a:spcAft>
                <a:spcPts val="0"/>
              </a:spcAft>
              <a:buSzPts val="1800"/>
              <a:buChar char="●"/>
            </a:pPr>
            <a:r>
              <a:rPr b="1" lang="en"/>
              <a:t>[out of scope] </a:t>
            </a:r>
            <a:r>
              <a:rPr lang="en"/>
              <a:t>Customize</a:t>
            </a:r>
            <a:r>
              <a:rPr lang="en"/>
              <a:t> your prompt with </a:t>
            </a:r>
            <a:r>
              <a:rPr lang="en" u="sng">
                <a:solidFill>
                  <a:schemeClr val="hlink"/>
                </a:solidFill>
                <a:hlinkClick r:id="rId3"/>
              </a:rPr>
              <a:t>Starship</a:t>
            </a:r>
            <a:endParaRPr/>
          </a:p>
        </p:txBody>
      </p:sp>
      <p:sp>
        <p:nvSpPr>
          <p:cNvPr id="294" name="Google Shape;29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Python Interpreter</a:t>
            </a:r>
            <a:endParaRPr/>
          </a:p>
        </p:txBody>
      </p:sp>
      <p:sp>
        <p:nvSpPr>
          <p:cNvPr id="300" name="Google Shape;300;p42"/>
          <p:cNvSpPr txBox="1"/>
          <p:nvPr>
            <p:ph idx="1" type="body"/>
          </p:nvPr>
        </p:nvSpPr>
        <p:spPr>
          <a:xfrm>
            <a:off x="107050" y="457200"/>
            <a:ext cx="8458200" cy="39978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How to open: Install Python 3, then run </a:t>
            </a:r>
            <a:r>
              <a:rPr lang="en">
                <a:solidFill>
                  <a:srgbClr val="188038"/>
                </a:solidFill>
                <a:latin typeface="Roboto Mono"/>
                <a:ea typeface="Roboto Mono"/>
                <a:cs typeface="Roboto Mono"/>
                <a:sym typeface="Roboto Mono"/>
              </a:rPr>
              <a:t>python3</a:t>
            </a:r>
            <a:endParaRPr/>
          </a:p>
          <a:p>
            <a:pPr indent="-342900" lvl="0" marL="457200" rtl="0" algn="l">
              <a:spcBef>
                <a:spcPts val="1000"/>
              </a:spcBef>
              <a:spcAft>
                <a:spcPts val="0"/>
              </a:spcAft>
              <a:buSzPts val="1800"/>
              <a:buChar char="●"/>
            </a:pPr>
            <a:r>
              <a:rPr lang="en"/>
              <a:t>Terminal vs. Interpreter</a:t>
            </a:r>
            <a:endParaRPr/>
          </a:p>
          <a:p>
            <a:pPr indent="-342900" lvl="1" marL="914400" rtl="0" algn="l">
              <a:spcBef>
                <a:spcPts val="1000"/>
              </a:spcBef>
              <a:spcAft>
                <a:spcPts val="0"/>
              </a:spcAft>
              <a:buSzPts val="1800"/>
              <a:buChar char="○"/>
            </a:pPr>
            <a:r>
              <a:rPr lang="en"/>
              <a:t>Terminal: Run commands</a:t>
            </a:r>
            <a:endParaRPr/>
          </a:p>
          <a:p>
            <a:pPr indent="-342900" lvl="1" marL="914400" rtl="0" algn="l">
              <a:spcBef>
                <a:spcPts val="1000"/>
              </a:spcBef>
              <a:spcAft>
                <a:spcPts val="0"/>
              </a:spcAft>
              <a:buSzPts val="1800"/>
              <a:buChar char="○"/>
            </a:pPr>
            <a:r>
              <a:rPr lang="en"/>
              <a:t>Interpreter: Run Python code</a:t>
            </a:r>
            <a:endParaRPr/>
          </a:p>
          <a:p>
            <a:pPr indent="-342900" lvl="0" marL="457200" rtl="0" algn="l">
              <a:spcBef>
                <a:spcPts val="1000"/>
              </a:spcBef>
              <a:spcAft>
                <a:spcPts val="0"/>
              </a:spcAft>
              <a:buSzPts val="1800"/>
              <a:buChar char="●"/>
            </a:pPr>
            <a:r>
              <a:rPr lang="en"/>
              <a:t>How to exit: </a:t>
            </a:r>
            <a:r>
              <a:rPr lang="en">
                <a:solidFill>
                  <a:srgbClr val="188038"/>
                </a:solidFill>
                <a:latin typeface="Roboto Mono"/>
                <a:ea typeface="Roboto Mono"/>
                <a:cs typeface="Roboto Mono"/>
                <a:sym typeface="Roboto Mono"/>
              </a:rPr>
              <a:t>exit()</a:t>
            </a:r>
            <a:r>
              <a:rPr lang="en"/>
              <a:t>, </a:t>
            </a:r>
            <a:r>
              <a:rPr lang="en">
                <a:solidFill>
                  <a:srgbClr val="188038"/>
                </a:solidFill>
                <a:latin typeface="Roboto Mono"/>
                <a:ea typeface="Roboto Mono"/>
                <a:cs typeface="Roboto Mono"/>
                <a:sym typeface="Roboto Mono"/>
              </a:rPr>
              <a:t>quit()</a:t>
            </a:r>
            <a:r>
              <a:rPr lang="en"/>
              <a:t>, or Ctrl + D</a:t>
            </a:r>
            <a:endParaRPr/>
          </a:p>
          <a:p>
            <a:pPr indent="-342900" lvl="0" marL="457200" rtl="0" algn="l">
              <a:spcBef>
                <a:spcPts val="1000"/>
              </a:spcBef>
              <a:spcAft>
                <a:spcPts val="0"/>
              </a:spcAft>
              <a:buSzPts val="1800"/>
              <a:buChar char="●"/>
            </a:pPr>
            <a:r>
              <a:rPr lang="en"/>
              <a:t>Interpreter</a:t>
            </a:r>
            <a:r>
              <a:rPr lang="en"/>
              <a:t> vs. IDEs (Visual Studio Code)</a:t>
            </a:r>
            <a:endParaRPr/>
          </a:p>
          <a:p>
            <a:pPr indent="-342900" lvl="1" marL="914400" rtl="0" algn="l">
              <a:spcBef>
                <a:spcPts val="1000"/>
              </a:spcBef>
              <a:spcAft>
                <a:spcPts val="0"/>
              </a:spcAft>
              <a:buSzPts val="1800"/>
              <a:buChar char="○"/>
            </a:pPr>
            <a:r>
              <a:rPr lang="en"/>
              <a:t>Interpreter: Temporary, demoing code</a:t>
            </a:r>
            <a:endParaRPr/>
          </a:p>
          <a:p>
            <a:pPr indent="-342900" lvl="1" marL="914400" rtl="0" algn="l">
              <a:spcBef>
                <a:spcPts val="1000"/>
              </a:spcBef>
              <a:spcAft>
                <a:spcPts val="1000"/>
              </a:spcAft>
              <a:buSzPts val="1800"/>
              <a:buChar char="○"/>
            </a:pPr>
            <a:r>
              <a:rPr lang="en"/>
              <a:t>IDE (integrated development environment): Permanent, writing longer snippets of code (in a file), more features for software engineering</a:t>
            </a:r>
            <a:endParaRPr/>
          </a:p>
        </p:txBody>
      </p:sp>
      <p:sp>
        <p:nvSpPr>
          <p:cNvPr id="301" name="Google Shape;30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pic>
        <p:nvPicPr>
          <p:cNvPr descr="Activity at pollev.com/rebeccadang831. What should you do here? Image of Python interpreter where the user has entered cd cs61a and there is a syntax error." id="307" name="Google Shape;307;p43"/>
          <p:cNvPicPr preferRelativeResize="0"/>
          <p:nvPr/>
        </p:nvPicPr>
        <p:blipFill>
          <a:blip r:embed="rId3">
            <a:alphaModFix/>
          </a:blip>
          <a:stretch>
            <a:fillRect/>
          </a:stretch>
        </p:blipFill>
        <p:spPr>
          <a:xfrm>
            <a:off x="0" y="0"/>
            <a:ext cx="9144003" cy="51434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Functions</a:t>
            </a:r>
            <a:endParaRPr/>
          </a:p>
        </p:txBody>
      </p:sp>
      <p:sp>
        <p:nvSpPr>
          <p:cNvPr id="313" name="Google Shape;313;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30 min</a:t>
            </a:r>
            <a:endParaRPr/>
          </a:p>
        </p:txBody>
      </p:sp>
      <p:sp>
        <p:nvSpPr>
          <p:cNvPr id="314" name="Google Shape;314;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600"/>
              </a:spcBef>
              <a:spcAft>
                <a:spcPts val="0"/>
              </a:spcAft>
              <a:buSzPts val="1800"/>
              <a:buChar char="•"/>
            </a:pPr>
            <a:r>
              <a:rPr lang="en"/>
              <a:t>Primitive data types</a:t>
            </a:r>
            <a:endParaRPr/>
          </a:p>
          <a:p>
            <a:pPr indent="-342900" lvl="0" marL="457200" rtl="0" algn="l">
              <a:spcBef>
                <a:spcPts val="0"/>
              </a:spcBef>
              <a:spcAft>
                <a:spcPts val="0"/>
              </a:spcAft>
              <a:buSzPts val="1800"/>
              <a:buChar char="•"/>
            </a:pPr>
            <a:r>
              <a:rPr lang="en"/>
              <a:t>Expressions</a:t>
            </a:r>
            <a:endParaRPr/>
          </a:p>
          <a:p>
            <a:pPr indent="-342900" lvl="0" marL="457200" rtl="0" algn="l">
              <a:spcBef>
                <a:spcPts val="0"/>
              </a:spcBef>
              <a:spcAft>
                <a:spcPts val="0"/>
              </a:spcAft>
              <a:buSzPts val="1800"/>
              <a:buChar char="•"/>
            </a:pPr>
            <a:r>
              <a:rPr lang="en"/>
              <a:t>Names and Assignment</a:t>
            </a:r>
            <a:endParaRPr/>
          </a:p>
          <a:p>
            <a:pPr indent="-342900" lvl="0" marL="457200" rtl="0" algn="l">
              <a:spcBef>
                <a:spcPts val="0"/>
              </a:spcBef>
              <a:spcAft>
                <a:spcPts val="0"/>
              </a:spcAft>
              <a:buSzPts val="1800"/>
              <a:buChar char="•"/>
            </a:pPr>
            <a:r>
              <a:rPr lang="en"/>
              <a:t>Functions</a:t>
            </a:r>
            <a:endParaRPr/>
          </a:p>
          <a:p>
            <a:pPr indent="-342900" lvl="0" marL="457200" rtl="0" algn="l">
              <a:spcBef>
                <a:spcPts val="0"/>
              </a:spcBef>
              <a:spcAft>
                <a:spcPts val="0"/>
              </a:spcAft>
              <a:buSzPts val="1800"/>
              <a:buChar char="•"/>
            </a:pPr>
            <a:r>
              <a:rPr lang="en"/>
              <a:t>Print vs. Return</a:t>
            </a:r>
            <a:endParaRPr/>
          </a:p>
        </p:txBody>
      </p:sp>
      <p:sp>
        <p:nvSpPr>
          <p:cNvPr id="315" name="Google Shape;315;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5"/>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Primitive data types</a:t>
            </a:r>
            <a:endParaRPr/>
          </a:p>
        </p:txBody>
      </p:sp>
      <p:sp>
        <p:nvSpPr>
          <p:cNvPr id="321" name="Google Shape;321;p45"/>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Integer, ex: -5, 0, 100</a:t>
            </a:r>
            <a:endParaRPr/>
          </a:p>
          <a:p>
            <a:pPr indent="-342900" lvl="0" marL="457200" rtl="0" algn="l">
              <a:spcBef>
                <a:spcPts val="1000"/>
              </a:spcBef>
              <a:spcAft>
                <a:spcPts val="0"/>
              </a:spcAft>
              <a:buSzPts val="1800"/>
              <a:buChar char="●"/>
            </a:pPr>
            <a:r>
              <a:rPr lang="en"/>
              <a:t>Float, ex: -1.1, 0.0, 43.9235</a:t>
            </a:r>
            <a:endParaRPr/>
          </a:p>
          <a:p>
            <a:pPr indent="-342900" lvl="0" marL="457200" rtl="0" algn="l">
              <a:spcBef>
                <a:spcPts val="1000"/>
              </a:spcBef>
              <a:spcAft>
                <a:spcPts val="0"/>
              </a:spcAft>
              <a:buSzPts val="1800"/>
              <a:buChar char="●"/>
            </a:pPr>
            <a:r>
              <a:rPr lang="en"/>
              <a:t>String, ex: </a:t>
            </a:r>
            <a:r>
              <a:rPr lang="en">
                <a:solidFill>
                  <a:srgbClr val="188038"/>
                </a:solidFill>
                <a:latin typeface="Roboto Mono"/>
                <a:ea typeface="Roboto Mono"/>
                <a:cs typeface="Roboto Mono"/>
                <a:sym typeface="Roboto Mono"/>
              </a:rPr>
              <a:t>'</a:t>
            </a:r>
            <a:r>
              <a:rPr lang="en">
                <a:solidFill>
                  <a:srgbClr val="188038"/>
                </a:solidFill>
                <a:latin typeface="Roboto Mono"/>
                <a:ea typeface="Roboto Mono"/>
                <a:cs typeface="Roboto Mono"/>
                <a:sym typeface="Roboto Mono"/>
              </a:rPr>
              <a:t>hello world'</a:t>
            </a:r>
            <a:r>
              <a:rPr lang="en"/>
              <a:t> or </a:t>
            </a:r>
            <a:r>
              <a:rPr lang="en">
                <a:solidFill>
                  <a:srgbClr val="188038"/>
                </a:solidFill>
                <a:latin typeface="Roboto Mono"/>
                <a:ea typeface="Roboto Mono"/>
                <a:cs typeface="Roboto Mono"/>
                <a:sym typeface="Roboto Mono"/>
              </a:rPr>
              <a:t>"hello world"</a:t>
            </a:r>
            <a:endParaRPr/>
          </a:p>
          <a:p>
            <a:pPr indent="-342900" lvl="1" marL="914400" rtl="0" algn="l">
              <a:spcBef>
                <a:spcPts val="1000"/>
              </a:spcBef>
              <a:spcAft>
                <a:spcPts val="0"/>
              </a:spcAft>
              <a:buSzPts val="1800"/>
              <a:buChar char="○"/>
            </a:pPr>
            <a:r>
              <a:rPr lang="en"/>
              <a:t>Multiline strings or comments: Triple single or double quotes</a:t>
            </a:r>
            <a:endParaRPr/>
          </a:p>
          <a:p>
            <a:pPr indent="-342900" lvl="0" marL="457200" rtl="0" algn="l">
              <a:spcBef>
                <a:spcPts val="1000"/>
              </a:spcBef>
              <a:spcAft>
                <a:spcPts val="1000"/>
              </a:spcAft>
              <a:buSzPts val="1800"/>
              <a:buChar char="●"/>
            </a:pPr>
            <a:r>
              <a:rPr lang="en"/>
              <a:t>Boolean, ex: </a:t>
            </a:r>
            <a:r>
              <a:rPr lang="en">
                <a:solidFill>
                  <a:srgbClr val="188038"/>
                </a:solidFill>
                <a:latin typeface="Roboto Mono"/>
                <a:ea typeface="Roboto Mono"/>
                <a:cs typeface="Roboto Mono"/>
                <a:sym typeface="Roboto Mono"/>
              </a:rPr>
              <a:t>True</a:t>
            </a:r>
            <a:r>
              <a:rPr lang="en"/>
              <a:t> or </a:t>
            </a:r>
            <a:r>
              <a:rPr lang="en">
                <a:solidFill>
                  <a:srgbClr val="188038"/>
                </a:solidFill>
                <a:latin typeface="Roboto Mono"/>
                <a:ea typeface="Roboto Mono"/>
                <a:cs typeface="Roboto Mono"/>
                <a:sym typeface="Roboto Mono"/>
              </a:rPr>
              <a:t>False</a:t>
            </a:r>
            <a:endParaRPr/>
          </a:p>
        </p:txBody>
      </p:sp>
      <p:sp>
        <p:nvSpPr>
          <p:cNvPr id="322" name="Google Shape;322;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Expressions</a:t>
            </a:r>
            <a:endParaRPr/>
          </a:p>
        </p:txBody>
      </p:sp>
      <p:sp>
        <p:nvSpPr>
          <p:cNvPr id="328" name="Google Shape;328;p46"/>
          <p:cNvSpPr txBox="1"/>
          <p:nvPr>
            <p:ph idx="1" type="body"/>
          </p:nvPr>
        </p:nvSpPr>
        <p:spPr>
          <a:xfrm>
            <a:off x="107050" y="457200"/>
            <a:ext cx="8458200" cy="79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Way to combine data types. Python automatically computes or </a:t>
            </a:r>
            <a:r>
              <a:rPr b="1" lang="en"/>
              <a:t>evaluates </a:t>
            </a:r>
            <a:r>
              <a:rPr lang="en"/>
              <a:t>expressions</a:t>
            </a:r>
            <a:r>
              <a:rPr lang="en"/>
              <a:t>. </a:t>
            </a:r>
            <a:r>
              <a:rPr lang="en">
                <a:solidFill>
                  <a:srgbClr val="188038"/>
                </a:solidFill>
                <a:latin typeface="Roboto Mono"/>
                <a:ea typeface="Roboto Mono"/>
                <a:cs typeface="Roboto Mono"/>
                <a:sym typeface="Roboto Mono"/>
              </a:rPr>
              <a:t>#</a:t>
            </a:r>
            <a:r>
              <a:rPr lang="en"/>
              <a:t> denotes a single line </a:t>
            </a:r>
            <a:r>
              <a:rPr b="1" lang="en"/>
              <a:t>comment</a:t>
            </a:r>
            <a:r>
              <a:rPr lang="en"/>
              <a:t> in Python.</a:t>
            </a:r>
            <a:endParaRPr>
              <a:latin typeface="Consolas"/>
              <a:ea typeface="Consolas"/>
              <a:cs typeface="Consolas"/>
              <a:sym typeface="Consolas"/>
            </a:endParaRPr>
          </a:p>
        </p:txBody>
      </p:sp>
      <p:sp>
        <p:nvSpPr>
          <p:cNvPr id="329" name="Google Shape;329;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6"/>
          <p:cNvSpPr txBox="1"/>
          <p:nvPr/>
        </p:nvSpPr>
        <p:spPr>
          <a:xfrm>
            <a:off x="107050" y="1255500"/>
            <a:ext cx="4297200" cy="3648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Consolas"/>
                <a:ea typeface="Consolas"/>
                <a:cs typeface="Consolas"/>
                <a:sym typeface="Consolas"/>
              </a:rPr>
              <a:t>&gt;&gt;&gt; (2 + 2) * 5</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20</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5 ** 2  # exponent</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25</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10 / 3  # true division</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3.3333333333333335</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10 // 3  # floor division</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3</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10 % 3  # modulo operator</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1</a:t>
            </a:r>
            <a:endParaRPr sz="1800">
              <a:solidFill>
                <a:schemeClr val="dk1"/>
              </a:solidFill>
              <a:latin typeface="Consolas"/>
              <a:ea typeface="Consolas"/>
              <a:cs typeface="Consolas"/>
              <a:sym typeface="Consolas"/>
            </a:endParaRPr>
          </a:p>
        </p:txBody>
      </p:sp>
      <p:sp>
        <p:nvSpPr>
          <p:cNvPr id="331" name="Google Shape;331;p46"/>
          <p:cNvSpPr txBox="1"/>
          <p:nvPr/>
        </p:nvSpPr>
        <p:spPr>
          <a:xfrm>
            <a:off x="4572000" y="1205400"/>
            <a:ext cx="3000000" cy="2232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Consolas"/>
                <a:ea typeface="Consolas"/>
                <a:cs typeface="Consolas"/>
                <a:sym typeface="Consolas"/>
              </a:rPr>
              <a:t>&gt;&gt;&gt; 'hello'</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'hello'</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'hello' + 'world'</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'helloworld'</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&gt;&gt;&gt; 'a' * 5</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rPr lang="en" sz="1800">
                <a:solidFill>
                  <a:schemeClr val="dk1"/>
                </a:solidFill>
                <a:latin typeface="Consolas"/>
                <a:ea typeface="Consolas"/>
                <a:cs typeface="Consolas"/>
                <a:sym typeface="Consolas"/>
              </a:rPr>
              <a:t>'aaaaa'</a:t>
            </a:r>
            <a:endParaRPr sz="1800">
              <a:solidFill>
                <a:schemeClr val="dk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7"/>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Names and assignment</a:t>
            </a:r>
            <a:endParaRPr/>
          </a:p>
        </p:txBody>
      </p:sp>
      <p:sp>
        <p:nvSpPr>
          <p:cNvPr id="337" name="Google Shape;337;p47"/>
          <p:cNvSpPr txBox="1"/>
          <p:nvPr>
            <p:ph idx="1" type="body"/>
          </p:nvPr>
        </p:nvSpPr>
        <p:spPr>
          <a:xfrm>
            <a:off x="107050" y="457200"/>
            <a:ext cx="8458200" cy="113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if we want to give a label to a particular value or save it for later use?</a:t>
            </a:r>
            <a:endParaRPr/>
          </a:p>
          <a:p>
            <a:pPr indent="0" lvl="0" marL="0" rtl="0" algn="l">
              <a:spcBef>
                <a:spcPts val="600"/>
              </a:spcBef>
              <a:spcAft>
                <a:spcPts val="0"/>
              </a:spcAft>
              <a:buNone/>
            </a:pPr>
            <a:r>
              <a:rPr lang="en"/>
              <a:t>We can bind a value to a </a:t>
            </a:r>
            <a:r>
              <a:rPr b="1" lang="en"/>
              <a:t>name</a:t>
            </a:r>
            <a:r>
              <a:rPr lang="en"/>
              <a:t> (often called a </a:t>
            </a:r>
            <a:r>
              <a:rPr b="1" lang="en"/>
              <a:t>variable</a:t>
            </a:r>
            <a:r>
              <a:rPr lang="en"/>
              <a:t>, although names can be used for other things).</a:t>
            </a:r>
            <a:endParaRPr/>
          </a:p>
        </p:txBody>
      </p:sp>
      <p:sp>
        <p:nvSpPr>
          <p:cNvPr id="338" name="Google Shape;338;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7"/>
          <p:cNvSpPr txBox="1"/>
          <p:nvPr/>
        </p:nvSpPr>
        <p:spPr>
          <a:xfrm>
            <a:off x="107050" y="1589700"/>
            <a:ext cx="3264600" cy="31554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700">
                <a:solidFill>
                  <a:schemeClr val="dk1"/>
                </a:solidFill>
                <a:latin typeface="Consolas"/>
                <a:ea typeface="Consolas"/>
                <a:cs typeface="Consolas"/>
                <a:sym typeface="Consolas"/>
              </a:rPr>
              <a:t>&gt;&gt;&gt; pi = 3.1415926</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pi</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3.1415926</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 multiple assignment</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x, y = 1, 3</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x</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1</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y</a:t>
            </a:r>
            <a:endParaRPr sz="17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700">
                <a:solidFill>
                  <a:schemeClr val="dk1"/>
                </a:solidFill>
                <a:latin typeface="Consolas"/>
                <a:ea typeface="Consolas"/>
                <a:cs typeface="Consolas"/>
                <a:sym typeface="Consolas"/>
              </a:rPr>
              <a:t>3</a:t>
            </a:r>
            <a:endParaRPr sz="1700">
              <a:solidFill>
                <a:schemeClr val="dk1"/>
              </a:solidFill>
              <a:latin typeface="Consolas"/>
              <a:ea typeface="Consolas"/>
              <a:cs typeface="Consolas"/>
              <a:sym typeface="Consolas"/>
            </a:endParaRPr>
          </a:p>
        </p:txBody>
      </p:sp>
      <p:sp>
        <p:nvSpPr>
          <p:cNvPr id="340" name="Google Shape;340;p47"/>
          <p:cNvSpPr txBox="1"/>
          <p:nvPr/>
        </p:nvSpPr>
        <p:spPr>
          <a:xfrm>
            <a:off x="3776625" y="1589700"/>
            <a:ext cx="4900500" cy="2478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Clr>
                <a:schemeClr val="dk1"/>
              </a:buClr>
              <a:buSzPts val="1100"/>
              <a:buFont typeface="Arial"/>
              <a:buNone/>
            </a:pPr>
            <a:r>
              <a:rPr lang="en" sz="1700">
                <a:solidFill>
                  <a:schemeClr val="dk1"/>
                </a:solidFill>
                <a:latin typeface="Consolas"/>
                <a:ea typeface="Consolas"/>
                <a:cs typeface="Consolas"/>
                <a:sym typeface="Consolas"/>
              </a:rPr>
              <a:t>&gt;&gt;&gt; name = 'Rebecca'</a:t>
            </a:r>
            <a:endParaRPr sz="17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700">
                <a:solidFill>
                  <a:schemeClr val="dk1"/>
                </a:solidFill>
                <a:latin typeface="Consolas"/>
                <a:ea typeface="Consolas"/>
                <a:cs typeface="Consolas"/>
                <a:sym typeface="Consolas"/>
              </a:rPr>
              <a:t>&gt;&gt;&gt; f'Hello {name}!'  # f-string</a:t>
            </a:r>
            <a:endParaRPr sz="17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700">
                <a:solidFill>
                  <a:schemeClr val="dk1"/>
                </a:solidFill>
                <a:latin typeface="Consolas"/>
                <a:ea typeface="Consolas"/>
                <a:cs typeface="Consolas"/>
                <a:sym typeface="Consolas"/>
              </a:rPr>
              <a:t>'Hello Rebecca!'</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 import statement</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from operator import mul</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mul(10, 5)</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50</a:t>
            </a:r>
            <a:endParaRPr sz="1700">
              <a:solidFill>
                <a:schemeClr val="dk1"/>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pic>
        <p:nvPicPr>
          <p:cNvPr descr="Activity at pollev.com/rebeccadang831. What would Python display?&#10;&#10;&gt;&gt;&gt; length = 5&#10;&gt;&gt;&gt; width = 10&#10;&gt;&gt;&gt; area = length * width&#10;&gt;&gt;&gt; area&#10;50&#10;&gt;&gt;&gt; width = 20&#10;&gt;&gt;&gt; area" id="346" name="Google Shape;346;p48"/>
          <p:cNvPicPr preferRelativeResize="0"/>
          <p:nvPr/>
        </p:nvPicPr>
        <p:blipFill>
          <a:blip r:embed="rId3">
            <a:alphaModFix/>
          </a:blip>
          <a:stretch>
            <a:fillRect/>
          </a:stretch>
        </p:blipFill>
        <p:spPr>
          <a:xfrm>
            <a:off x="0" y="0"/>
            <a:ext cx="9144003" cy="514349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9"/>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Functions (1 of 2)</a:t>
            </a:r>
            <a:endParaRPr/>
          </a:p>
        </p:txBody>
      </p:sp>
      <p:sp>
        <p:nvSpPr>
          <p:cNvPr id="352" name="Google Shape;352;p49"/>
          <p:cNvSpPr txBox="1"/>
          <p:nvPr>
            <p:ph idx="1" type="body"/>
          </p:nvPr>
        </p:nvSpPr>
        <p:spPr>
          <a:xfrm>
            <a:off x="107050" y="457200"/>
            <a:ext cx="8762400" cy="2523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What if we want to abstract away a set of operations so that we can reuse it? We can define our own </a:t>
            </a:r>
            <a:r>
              <a:rPr b="1" lang="en"/>
              <a:t>functions</a:t>
            </a:r>
            <a:r>
              <a:rPr lang="en"/>
              <a:t>!</a:t>
            </a:r>
            <a:endParaRPr/>
          </a:p>
          <a:p>
            <a:pPr indent="-342900" lvl="0" marL="457200" rtl="0" algn="l">
              <a:spcBef>
                <a:spcPts val="0"/>
              </a:spcBef>
              <a:spcAft>
                <a:spcPts val="0"/>
              </a:spcAft>
              <a:buSzPts val="1800"/>
              <a:buChar char="●"/>
            </a:pPr>
            <a:r>
              <a:rPr lang="en"/>
              <a:t>A function can take 0 or more inputs or </a:t>
            </a:r>
            <a:r>
              <a:rPr b="1" lang="en"/>
              <a:t>parameters</a:t>
            </a:r>
            <a:r>
              <a:rPr lang="en"/>
              <a:t>, and return 1 or more outputs or </a:t>
            </a:r>
            <a:r>
              <a:rPr b="1" lang="en"/>
              <a:t>return values</a:t>
            </a:r>
            <a:r>
              <a:rPr lang="en"/>
              <a:t>.</a:t>
            </a:r>
            <a:endParaRPr/>
          </a:p>
          <a:p>
            <a:pPr indent="-342900" lvl="0" marL="457200" rtl="0" algn="l">
              <a:spcBef>
                <a:spcPts val="0"/>
              </a:spcBef>
              <a:spcAft>
                <a:spcPts val="0"/>
              </a:spcAft>
              <a:buSzPts val="1800"/>
              <a:buChar char="●"/>
            </a:pPr>
            <a:r>
              <a:rPr lang="en"/>
              <a:t>The value you pass into a parameter is called an </a:t>
            </a:r>
            <a:r>
              <a:rPr b="1" lang="en"/>
              <a:t>argument</a:t>
            </a:r>
            <a:r>
              <a:rPr lang="en"/>
              <a:t> (e.g. below, 5 is the argument).</a:t>
            </a:r>
            <a:endParaRPr/>
          </a:p>
          <a:p>
            <a:pPr indent="-342900" lvl="0" marL="457200" rtl="0" algn="l">
              <a:spcBef>
                <a:spcPts val="0"/>
              </a:spcBef>
              <a:spcAft>
                <a:spcPts val="0"/>
              </a:spcAft>
              <a:buSzPts val="1800"/>
              <a:buChar char="●"/>
            </a:pPr>
            <a:r>
              <a:rPr b="1" lang="en"/>
              <a:t>Calling </a:t>
            </a:r>
            <a:r>
              <a:rPr lang="en"/>
              <a:t>(or using) a function involves a </a:t>
            </a:r>
            <a:r>
              <a:rPr b="1" lang="en"/>
              <a:t>call expression</a:t>
            </a:r>
            <a:r>
              <a:rPr lang="en"/>
              <a:t>: The function name and its argument(s) in parentheses, separated by commas.</a:t>
            </a:r>
            <a:endParaRPr/>
          </a:p>
        </p:txBody>
      </p:sp>
      <p:sp>
        <p:nvSpPr>
          <p:cNvPr id="353" name="Google Shape;353;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49"/>
          <p:cNvSpPr txBox="1"/>
          <p:nvPr/>
        </p:nvSpPr>
        <p:spPr>
          <a:xfrm>
            <a:off x="1674150" y="2936250"/>
            <a:ext cx="5795700" cy="18009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700">
                <a:solidFill>
                  <a:schemeClr val="dk1"/>
                </a:solidFill>
                <a:latin typeface="Consolas"/>
                <a:ea typeface="Consolas"/>
                <a:cs typeface="Consolas"/>
                <a:sym typeface="Consolas"/>
              </a:rPr>
              <a:t>&gt;&gt;&gt; from math import pi</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def circle_area(radius):</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return pi * (radius ** 2)</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circle_area(5)</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78.53981633974483</a:t>
            </a:r>
            <a:endParaRPr sz="1700">
              <a:solidFill>
                <a:schemeClr val="dk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Functions (2 of 2)</a:t>
            </a:r>
            <a:endParaRPr/>
          </a:p>
        </p:txBody>
      </p:sp>
      <p:sp>
        <p:nvSpPr>
          <p:cNvPr id="360" name="Google Shape;360;p50"/>
          <p:cNvSpPr txBox="1"/>
          <p:nvPr>
            <p:ph idx="2" type="body"/>
          </p:nvPr>
        </p:nvSpPr>
        <p:spPr>
          <a:xfrm>
            <a:off x="4637250" y="448050"/>
            <a:ext cx="4444800" cy="4290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300">
                <a:latin typeface="Consolas"/>
                <a:ea typeface="Consolas"/>
                <a:cs typeface="Consolas"/>
                <a:sym typeface="Consolas"/>
              </a:rPr>
              <a:t>def circle_area(radius: float = 1) -&gt; float:</a:t>
            </a:r>
            <a:endParaRPr sz="1300">
              <a:latin typeface="Consolas"/>
              <a:ea typeface="Consolas"/>
              <a:cs typeface="Consolas"/>
              <a:sym typeface="Consolas"/>
            </a:endParaRPr>
          </a:p>
          <a:p>
            <a:pPr indent="0" lvl="0" marL="0" rtl="0" algn="l">
              <a:spcBef>
                <a:spcPts val="600"/>
              </a:spcBef>
              <a:spcAft>
                <a:spcPts val="0"/>
              </a:spcAft>
              <a:buNone/>
            </a:pPr>
            <a:r>
              <a:rPr lang="en" sz="1300">
                <a:latin typeface="Consolas"/>
                <a:ea typeface="Consolas"/>
                <a:cs typeface="Consolas"/>
                <a:sym typeface="Consolas"/>
              </a:rPr>
              <a:t>	"""Returns the area of a circle</a:t>
            </a:r>
            <a:endParaRPr sz="1300">
              <a:latin typeface="Consolas"/>
              <a:ea typeface="Consolas"/>
              <a:cs typeface="Consolas"/>
              <a:sym typeface="Consolas"/>
            </a:endParaRPr>
          </a:p>
          <a:p>
            <a:pPr indent="457200" lvl="0" marL="0" rtl="0" algn="l">
              <a:spcBef>
                <a:spcPts val="600"/>
              </a:spcBef>
              <a:spcAft>
                <a:spcPts val="0"/>
              </a:spcAft>
              <a:buNone/>
            </a:pPr>
            <a:r>
              <a:rPr lang="en" sz="1300">
                <a:latin typeface="Consolas"/>
                <a:ea typeface="Consolas"/>
                <a:cs typeface="Consolas"/>
                <a:sym typeface="Consolas"/>
              </a:rPr>
              <a:t>with the given radius.</a:t>
            </a:r>
            <a:endParaRPr sz="13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sz="1300">
              <a:latin typeface="Consolas"/>
              <a:ea typeface="Consolas"/>
              <a:cs typeface="Consolas"/>
              <a:sym typeface="Consolas"/>
            </a:endParaRPr>
          </a:p>
          <a:p>
            <a:pPr indent="0" lvl="0" marL="0" rtl="0" algn="l">
              <a:spcBef>
                <a:spcPts val="600"/>
              </a:spcBef>
              <a:spcAft>
                <a:spcPts val="0"/>
              </a:spcAft>
              <a:buNone/>
            </a:pPr>
            <a:r>
              <a:rPr lang="en" sz="1300">
                <a:latin typeface="Consolas"/>
                <a:ea typeface="Consolas"/>
                <a:cs typeface="Consolas"/>
                <a:sym typeface="Consolas"/>
              </a:rPr>
              <a:t>	&gt;&gt;&gt; from math import pi</a:t>
            </a:r>
            <a:endParaRPr sz="1300">
              <a:latin typeface="Consolas"/>
              <a:ea typeface="Consolas"/>
              <a:cs typeface="Consolas"/>
              <a:sym typeface="Consolas"/>
            </a:endParaRPr>
          </a:p>
          <a:p>
            <a:pPr indent="0" lvl="0" marL="0" rtl="0" algn="l">
              <a:spcBef>
                <a:spcPts val="600"/>
              </a:spcBef>
              <a:spcAft>
                <a:spcPts val="0"/>
              </a:spcAft>
              <a:buNone/>
            </a:pPr>
            <a:r>
              <a:rPr lang="en" sz="1300">
                <a:latin typeface="Consolas"/>
                <a:ea typeface="Consolas"/>
                <a:cs typeface="Consolas"/>
                <a:sym typeface="Consolas"/>
              </a:rPr>
              <a:t>	&gt;&gt;&gt; circle_area()</a:t>
            </a:r>
            <a:endParaRPr sz="13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300">
                <a:latin typeface="Consolas"/>
                <a:ea typeface="Consolas"/>
                <a:cs typeface="Consolas"/>
                <a:sym typeface="Consolas"/>
              </a:rPr>
              <a:t>	3.141592653589793</a:t>
            </a:r>
            <a:endParaRPr sz="13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300">
                <a:latin typeface="Consolas"/>
                <a:ea typeface="Consolas"/>
                <a:cs typeface="Consolas"/>
                <a:sym typeface="Consolas"/>
              </a:rPr>
              <a:t>	&gt;&gt;&gt; circle_area(5)</a:t>
            </a:r>
            <a:endParaRPr sz="13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300">
                <a:latin typeface="Consolas"/>
                <a:ea typeface="Consolas"/>
                <a:cs typeface="Consolas"/>
                <a:sym typeface="Consolas"/>
              </a:rPr>
              <a:t>	78.53981633974483</a:t>
            </a:r>
            <a:endParaRPr sz="1300">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300">
                <a:latin typeface="Consolas"/>
                <a:ea typeface="Consolas"/>
                <a:cs typeface="Consolas"/>
                <a:sym typeface="Consolas"/>
              </a:rPr>
              <a:t>	"""</a:t>
            </a:r>
            <a:endParaRPr sz="1300">
              <a:latin typeface="Consolas"/>
              <a:ea typeface="Consolas"/>
              <a:cs typeface="Consolas"/>
              <a:sym typeface="Consolas"/>
            </a:endParaRPr>
          </a:p>
          <a:p>
            <a:pPr indent="457200" lvl="0" marL="0" rtl="0" algn="l">
              <a:spcBef>
                <a:spcPts val="600"/>
              </a:spcBef>
              <a:spcAft>
                <a:spcPts val="0"/>
              </a:spcAft>
              <a:buNone/>
            </a:pPr>
            <a:r>
              <a:rPr lang="en" sz="1300">
                <a:latin typeface="Consolas"/>
                <a:ea typeface="Consolas"/>
                <a:cs typeface="Consolas"/>
                <a:sym typeface="Consolas"/>
              </a:rPr>
              <a:t>return pi * (radius ** 2)</a:t>
            </a:r>
            <a:endParaRPr sz="1400"/>
          </a:p>
        </p:txBody>
      </p:sp>
      <p:sp>
        <p:nvSpPr>
          <p:cNvPr id="361" name="Google Shape;361;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362" name="Google Shape;362;p50"/>
          <p:cNvSpPr txBox="1"/>
          <p:nvPr>
            <p:ph idx="1" type="body"/>
          </p:nvPr>
        </p:nvSpPr>
        <p:spPr>
          <a:xfrm>
            <a:off x="311700" y="850500"/>
            <a:ext cx="3950100" cy="4019700"/>
          </a:xfrm>
          <a:prstGeom prst="rect">
            <a:avLst/>
          </a:prstGeom>
        </p:spPr>
        <p:txBody>
          <a:bodyPr anchorCtr="0" anchor="t" bIns="91425" lIns="91425" spcFirstLastPara="1" rIns="91425" wrap="square" tIns="91425">
            <a:noAutofit/>
          </a:bodyPr>
          <a:lstStyle/>
          <a:p>
            <a:pPr indent="-323850" lvl="0" marL="457200" rtl="0" algn="l">
              <a:spcBef>
                <a:spcPts val="600"/>
              </a:spcBef>
              <a:spcAft>
                <a:spcPts val="0"/>
              </a:spcAft>
              <a:buSzPts val="1500"/>
              <a:buChar char="●"/>
            </a:pPr>
            <a:r>
              <a:rPr lang="en" sz="1500"/>
              <a:t>Functions can </a:t>
            </a:r>
            <a:r>
              <a:rPr b="1" lang="en" sz="1500"/>
              <a:t>return multiple values</a:t>
            </a:r>
            <a:r>
              <a:rPr lang="en" sz="1500"/>
              <a:t> separated by commas</a:t>
            </a:r>
            <a:endParaRPr sz="1500"/>
          </a:p>
          <a:p>
            <a:pPr indent="-323850" lvl="1" marL="914400" rtl="0" algn="l">
              <a:spcBef>
                <a:spcPts val="0"/>
              </a:spcBef>
              <a:spcAft>
                <a:spcPts val="0"/>
              </a:spcAft>
              <a:buClr>
                <a:schemeClr val="dk2"/>
              </a:buClr>
              <a:buSzPts val="1500"/>
              <a:buChar char="○"/>
            </a:pPr>
            <a:r>
              <a:rPr lang="en" sz="1500">
                <a:solidFill>
                  <a:schemeClr val="dk2"/>
                </a:solidFill>
              </a:rPr>
              <a:t>Technically, it's a single tuple, but we'll get to that later…</a:t>
            </a:r>
            <a:endParaRPr sz="1500">
              <a:solidFill>
                <a:schemeClr val="dk2"/>
              </a:solidFill>
            </a:endParaRPr>
          </a:p>
          <a:p>
            <a:pPr indent="-323850" lvl="0" marL="457200" rtl="0" algn="l">
              <a:spcBef>
                <a:spcPts val="0"/>
              </a:spcBef>
              <a:spcAft>
                <a:spcPts val="0"/>
              </a:spcAft>
              <a:buSzPts val="1500"/>
              <a:buChar char="●"/>
            </a:pPr>
            <a:r>
              <a:rPr lang="en" sz="1500"/>
              <a:t>Functions can have </a:t>
            </a:r>
            <a:r>
              <a:rPr b="1" lang="en" sz="1500"/>
              <a:t>default arguments</a:t>
            </a:r>
            <a:endParaRPr sz="1500"/>
          </a:p>
          <a:p>
            <a:pPr indent="-323850" lvl="0" marL="457200" rtl="0" algn="l">
              <a:spcBef>
                <a:spcPts val="0"/>
              </a:spcBef>
              <a:spcAft>
                <a:spcPts val="0"/>
              </a:spcAft>
              <a:buSzPts val="1500"/>
              <a:buChar char="●"/>
            </a:pPr>
            <a:r>
              <a:rPr b="1" lang="en" sz="1500"/>
              <a:t>Type hints</a:t>
            </a:r>
            <a:r>
              <a:rPr lang="en" sz="1500"/>
              <a:t> which tell the interpreter and programmer the data type of each parameter and return value</a:t>
            </a:r>
            <a:endParaRPr sz="1500"/>
          </a:p>
          <a:p>
            <a:pPr indent="-323850" lvl="0" marL="457200" rtl="0" algn="l">
              <a:spcBef>
                <a:spcPts val="0"/>
              </a:spcBef>
              <a:spcAft>
                <a:spcPts val="0"/>
              </a:spcAft>
              <a:buSzPts val="1500"/>
              <a:buChar char="●"/>
            </a:pPr>
            <a:r>
              <a:rPr b="1" lang="en" sz="1500"/>
              <a:t>Docstrings</a:t>
            </a:r>
            <a:r>
              <a:rPr lang="en" sz="1500"/>
              <a:t> are multiline strings right below the </a:t>
            </a:r>
            <a:r>
              <a:rPr b="1" lang="en" sz="1500"/>
              <a:t>function signature</a:t>
            </a:r>
            <a:r>
              <a:rPr lang="en" sz="1500"/>
              <a:t> that document the behavior of the function</a:t>
            </a:r>
            <a:endParaRPr sz="1500"/>
          </a:p>
          <a:p>
            <a:pPr indent="-323850" lvl="1" marL="914400" rtl="0" algn="l">
              <a:spcBef>
                <a:spcPts val="0"/>
              </a:spcBef>
              <a:spcAft>
                <a:spcPts val="0"/>
              </a:spcAft>
              <a:buSzPts val="1500"/>
              <a:buChar char="○"/>
            </a:pPr>
            <a:r>
              <a:rPr lang="en" sz="1500"/>
              <a:t>They may contain </a:t>
            </a:r>
            <a:r>
              <a:rPr b="1" lang="en" sz="1500"/>
              <a:t>doctests</a:t>
            </a:r>
            <a:r>
              <a:rPr lang="en" sz="1500"/>
              <a:t>, or code that show how the function is supposed to behave</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1"/>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Demo: Builtins</a:t>
            </a:r>
            <a:endParaRPr/>
          </a:p>
        </p:txBody>
      </p:sp>
      <p:sp>
        <p:nvSpPr>
          <p:cNvPr id="368" name="Google Shape;368;p51"/>
          <p:cNvSpPr txBox="1"/>
          <p:nvPr>
            <p:ph idx="1" type="body"/>
          </p:nvPr>
        </p:nvSpPr>
        <p:spPr>
          <a:xfrm>
            <a:off x="107050" y="457200"/>
            <a:ext cx="8762400" cy="575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Python has several </a:t>
            </a:r>
            <a:r>
              <a:rPr b="1" lang="en"/>
              <a:t>built-in functions</a:t>
            </a:r>
            <a:r>
              <a:rPr lang="en"/>
              <a:t> you can use without importing.</a:t>
            </a:r>
            <a:endParaRPr/>
          </a:p>
        </p:txBody>
      </p:sp>
      <p:sp>
        <p:nvSpPr>
          <p:cNvPr id="369" name="Google Shape;369;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1"/>
          <p:cNvSpPr txBox="1"/>
          <p:nvPr/>
        </p:nvSpPr>
        <p:spPr>
          <a:xfrm>
            <a:off x="165525" y="1032600"/>
            <a:ext cx="5795700" cy="34941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700">
                <a:solidFill>
                  <a:schemeClr val="dk1"/>
                </a:solidFill>
                <a:latin typeface="Consolas"/>
                <a:ea typeface="Consolas"/>
                <a:cs typeface="Consolas"/>
                <a:sym typeface="Consolas"/>
              </a:rPr>
              <a:t>&gt;&gt;&gt; max(1, 2, 3)</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3</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min(1, 2, 3)</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1</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len('hello')</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5</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sum(1, 2, 3)</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6</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print('hello world')</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hello world</a:t>
            </a:r>
            <a:endParaRPr sz="1700">
              <a:solidFill>
                <a:schemeClr val="dk1"/>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Functions: Call expressions (1 of 2)</a:t>
            </a:r>
            <a:endParaRPr/>
          </a:p>
        </p:txBody>
      </p:sp>
      <p:sp>
        <p:nvSpPr>
          <p:cNvPr id="376" name="Google Shape;376;p52"/>
          <p:cNvSpPr txBox="1"/>
          <p:nvPr>
            <p:ph idx="1" type="body"/>
          </p:nvPr>
        </p:nvSpPr>
        <p:spPr>
          <a:xfrm>
            <a:off x="107050" y="457200"/>
            <a:ext cx="8458200" cy="2033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Call expression order of evaluation:</a:t>
            </a:r>
            <a:endParaRPr/>
          </a:p>
          <a:p>
            <a:pPr indent="-342900" lvl="0" marL="457200" rtl="0" algn="l">
              <a:spcBef>
                <a:spcPts val="600"/>
              </a:spcBef>
              <a:spcAft>
                <a:spcPts val="0"/>
              </a:spcAft>
              <a:buSzPts val="1800"/>
              <a:buAutoNum type="arabicPeriod"/>
            </a:pPr>
            <a:r>
              <a:rPr b="1" lang="en"/>
              <a:t>Evaluate the operator</a:t>
            </a:r>
            <a:r>
              <a:rPr lang="en"/>
              <a:t> (does the function name exist?)</a:t>
            </a:r>
            <a:endParaRPr/>
          </a:p>
          <a:p>
            <a:pPr indent="-342900" lvl="0" marL="457200" rtl="0" algn="l">
              <a:spcBef>
                <a:spcPts val="0"/>
              </a:spcBef>
              <a:spcAft>
                <a:spcPts val="0"/>
              </a:spcAft>
              <a:buSzPts val="1800"/>
              <a:buAutoNum type="arabicPeriod"/>
            </a:pPr>
            <a:r>
              <a:rPr b="1" lang="en"/>
              <a:t>Evaluate the operands</a:t>
            </a:r>
            <a:r>
              <a:rPr lang="en"/>
              <a:t> from left to right (simplify the arguments to a single value)</a:t>
            </a:r>
            <a:endParaRPr/>
          </a:p>
          <a:p>
            <a:pPr indent="-342900" lvl="1" marL="914400" rtl="0" algn="l">
              <a:spcBef>
                <a:spcPts val="0"/>
              </a:spcBef>
              <a:spcAft>
                <a:spcPts val="0"/>
              </a:spcAft>
              <a:buSzPts val="1800"/>
              <a:buAutoNum type="alphaLcPeriod"/>
            </a:pPr>
            <a:r>
              <a:rPr lang="en"/>
              <a:t>You may need to do steps 1-3 recursively here! (see next slide)</a:t>
            </a:r>
            <a:endParaRPr/>
          </a:p>
          <a:p>
            <a:pPr indent="-342900" lvl="0" marL="457200" rtl="0" algn="l">
              <a:spcBef>
                <a:spcPts val="0"/>
              </a:spcBef>
              <a:spcAft>
                <a:spcPts val="0"/>
              </a:spcAft>
              <a:buSzPts val="1800"/>
              <a:buAutoNum type="arabicPeriod"/>
            </a:pPr>
            <a:r>
              <a:rPr b="1" lang="en"/>
              <a:t>Apply the operator to the operands</a:t>
            </a:r>
            <a:r>
              <a:rPr lang="en"/>
              <a:t> (run the code in the body of the function)</a:t>
            </a:r>
            <a:endParaRPr/>
          </a:p>
        </p:txBody>
      </p:sp>
      <p:sp>
        <p:nvSpPr>
          <p:cNvPr id="377" name="Google Shape;377;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Python code: max(7.5, 9.5) where max is the operator and 7.5 and 9.5 are operands." id="378" name="Google Shape;378;p52"/>
          <p:cNvPicPr preferRelativeResize="0"/>
          <p:nvPr/>
        </p:nvPicPr>
        <p:blipFill>
          <a:blip r:embed="rId3">
            <a:alphaModFix/>
          </a:blip>
          <a:stretch>
            <a:fillRect/>
          </a:stretch>
        </p:blipFill>
        <p:spPr>
          <a:xfrm>
            <a:off x="1084313" y="3175625"/>
            <a:ext cx="6503675" cy="884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Functions: Call expressions (2 of 2)</a:t>
            </a:r>
            <a:endParaRPr/>
          </a:p>
        </p:txBody>
      </p:sp>
      <p:sp>
        <p:nvSpPr>
          <p:cNvPr id="384" name="Google Shape;384;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Python code: mul(add(2, mul(4, 6)), add(3, 5)). The call expression can be broken into a tree. First evaluate mul(4, 6) which is 24. Then evaluate add(2, mul(4, 6)) which is 26. Then evaluate add(3, 5) which is 8. Then evaluate the whole expression which is mul(26, 8) or 208." id="385" name="Google Shape;385;p53"/>
          <p:cNvPicPr preferRelativeResize="0"/>
          <p:nvPr/>
        </p:nvPicPr>
        <p:blipFill>
          <a:blip r:embed="rId3">
            <a:alphaModFix/>
          </a:blip>
          <a:stretch>
            <a:fillRect/>
          </a:stretch>
        </p:blipFill>
        <p:spPr>
          <a:xfrm>
            <a:off x="1634163" y="618850"/>
            <a:ext cx="5875675" cy="4117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pic>
        <p:nvPicPr>
          <p:cNvPr descr="Activity at pollev.com/rebeccadang831. What would Python display?&#10;&#10;&gt;&gt;&gt; f = max&#10;&gt;&gt;&gt; g = min&#10;&gt;&gt;&gt; f(2, g(5, 3), 4)" id="391" name="Google Shape;391;p54"/>
          <p:cNvPicPr preferRelativeResize="0"/>
          <p:nvPr/>
        </p:nvPicPr>
        <p:blipFill>
          <a:blip r:embed="rId3">
            <a:alphaModFix/>
          </a:blip>
          <a:stretch>
            <a:fillRect/>
          </a:stretch>
        </p:blipFill>
        <p:spPr>
          <a:xfrm>
            <a:off x="0" y="0"/>
            <a:ext cx="9144008" cy="5143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5"/>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Print vs. Return</a:t>
            </a:r>
            <a:endParaRPr/>
          </a:p>
        </p:txBody>
      </p:sp>
      <p:sp>
        <p:nvSpPr>
          <p:cNvPr id="397" name="Google Shape;397;p55"/>
          <p:cNvSpPr txBox="1"/>
          <p:nvPr>
            <p:ph idx="1" type="body"/>
          </p:nvPr>
        </p:nvSpPr>
        <p:spPr>
          <a:xfrm>
            <a:off x="107050" y="457200"/>
            <a:ext cx="8458200" cy="34848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Use </a:t>
            </a:r>
            <a:r>
              <a:rPr lang="en">
                <a:solidFill>
                  <a:srgbClr val="188038"/>
                </a:solidFill>
                <a:latin typeface="Roboto Mono"/>
                <a:ea typeface="Roboto Mono"/>
                <a:cs typeface="Roboto Mono"/>
                <a:sym typeface="Roboto Mono"/>
              </a:rPr>
              <a:t>print</a:t>
            </a:r>
            <a:r>
              <a:rPr lang="en"/>
              <a:t> if you want to display something</a:t>
            </a:r>
            <a:endParaRPr/>
          </a:p>
          <a:p>
            <a:pPr indent="-342900" lvl="0" marL="457200" rtl="0" algn="l">
              <a:spcBef>
                <a:spcPts val="1000"/>
              </a:spcBef>
              <a:spcAft>
                <a:spcPts val="0"/>
              </a:spcAft>
              <a:buSzPts val="1800"/>
              <a:buChar char="●"/>
            </a:pPr>
            <a:r>
              <a:rPr lang="en"/>
              <a:t>Use </a:t>
            </a:r>
            <a:r>
              <a:rPr lang="en">
                <a:solidFill>
                  <a:srgbClr val="188038"/>
                </a:solidFill>
                <a:latin typeface="Roboto Mono"/>
                <a:ea typeface="Roboto Mono"/>
                <a:cs typeface="Roboto Mono"/>
                <a:sym typeface="Roboto Mono"/>
              </a:rPr>
              <a:t>return</a:t>
            </a:r>
            <a:r>
              <a:rPr lang="en"/>
              <a:t> if you want to actually compute something</a:t>
            </a:r>
            <a:endParaRPr/>
          </a:p>
          <a:p>
            <a:pPr indent="-342900" lvl="0" marL="457200" rtl="0" algn="l">
              <a:spcBef>
                <a:spcPts val="1000"/>
              </a:spcBef>
              <a:spcAft>
                <a:spcPts val="0"/>
              </a:spcAft>
              <a:buSzPts val="1800"/>
              <a:buChar char="●"/>
            </a:pPr>
            <a:r>
              <a:rPr lang="en"/>
              <a:t>Analogy: </a:t>
            </a:r>
            <a:r>
              <a:rPr lang="en">
                <a:solidFill>
                  <a:srgbClr val="188038"/>
                </a:solidFill>
                <a:latin typeface="Roboto Mono"/>
                <a:ea typeface="Roboto Mono"/>
                <a:cs typeface="Roboto Mono"/>
                <a:sym typeface="Roboto Mono"/>
              </a:rPr>
              <a:t>print</a:t>
            </a:r>
            <a:r>
              <a:rPr lang="en"/>
              <a:t> is like if I have $5 and show you I have it. </a:t>
            </a:r>
            <a:r>
              <a:rPr lang="en">
                <a:solidFill>
                  <a:srgbClr val="188038"/>
                </a:solidFill>
                <a:latin typeface="Roboto Mono"/>
                <a:ea typeface="Roboto Mono"/>
                <a:cs typeface="Roboto Mono"/>
                <a:sym typeface="Roboto Mono"/>
              </a:rPr>
              <a:t>return</a:t>
            </a:r>
            <a:r>
              <a:rPr lang="en"/>
              <a:t> is like I give you the $5 to use.</a:t>
            </a:r>
            <a:endParaRPr/>
          </a:p>
          <a:p>
            <a:pPr indent="-342900" lvl="0" marL="457200" rtl="0" algn="l">
              <a:spcBef>
                <a:spcPts val="1000"/>
              </a:spcBef>
              <a:spcAft>
                <a:spcPts val="0"/>
              </a:spcAft>
              <a:buSzPts val="1800"/>
              <a:buChar char="●"/>
            </a:pPr>
            <a:r>
              <a:rPr lang="en"/>
              <a:t>Pure vs. non-pure functions</a:t>
            </a:r>
            <a:endParaRPr/>
          </a:p>
          <a:p>
            <a:pPr indent="-342900" lvl="1" marL="914400" rtl="0" algn="l">
              <a:spcBef>
                <a:spcPts val="1000"/>
              </a:spcBef>
              <a:spcAft>
                <a:spcPts val="0"/>
              </a:spcAft>
              <a:buSzPts val="1800"/>
              <a:buChar char="○"/>
            </a:pPr>
            <a:r>
              <a:rPr b="1" lang="en"/>
              <a:t>Pure </a:t>
            </a:r>
            <a:r>
              <a:rPr lang="en"/>
              <a:t>functions only return a value, and given some input, it will always produce the same output</a:t>
            </a:r>
            <a:endParaRPr/>
          </a:p>
          <a:p>
            <a:pPr indent="-342900" lvl="1" marL="914400" rtl="0" algn="l">
              <a:spcBef>
                <a:spcPts val="1000"/>
              </a:spcBef>
              <a:spcAft>
                <a:spcPts val="1000"/>
              </a:spcAft>
              <a:buSzPts val="1800"/>
              <a:buChar char="○"/>
            </a:pPr>
            <a:r>
              <a:rPr b="1" lang="en"/>
              <a:t>Non-pure </a:t>
            </a:r>
            <a:r>
              <a:rPr lang="en"/>
              <a:t>functions produce side effects, such as changing or </a:t>
            </a:r>
            <a:r>
              <a:rPr b="1" lang="en"/>
              <a:t>mutating </a:t>
            </a:r>
            <a:r>
              <a:rPr lang="en"/>
              <a:t>some data structure, or printing</a:t>
            </a:r>
            <a:endParaRPr/>
          </a:p>
        </p:txBody>
      </p:sp>
      <p:sp>
        <p:nvSpPr>
          <p:cNvPr id="398" name="Google Shape;398;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None</a:t>
            </a:r>
            <a:endParaRPr/>
          </a:p>
        </p:txBody>
      </p:sp>
      <p:sp>
        <p:nvSpPr>
          <p:cNvPr id="404" name="Google Shape;404;p56"/>
          <p:cNvSpPr txBox="1"/>
          <p:nvPr>
            <p:ph idx="1" type="body"/>
          </p:nvPr>
        </p:nvSpPr>
        <p:spPr>
          <a:xfrm>
            <a:off x="107050" y="457200"/>
            <a:ext cx="8458200" cy="4020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What happens if you don't have a </a:t>
            </a:r>
            <a:r>
              <a:rPr lang="en">
                <a:solidFill>
                  <a:srgbClr val="188038"/>
                </a:solidFill>
                <a:latin typeface="Roboto Mono"/>
                <a:ea typeface="Roboto Mono"/>
                <a:cs typeface="Roboto Mono"/>
                <a:sym typeface="Roboto Mono"/>
              </a:rPr>
              <a:t>return</a:t>
            </a:r>
            <a:r>
              <a:rPr lang="en"/>
              <a:t> statement?</a:t>
            </a:r>
            <a:endParaRPr/>
          </a:p>
          <a:p>
            <a:pPr indent="-342900" lvl="1" marL="914400" rtl="0" algn="l">
              <a:spcBef>
                <a:spcPts val="0"/>
              </a:spcBef>
              <a:spcAft>
                <a:spcPts val="0"/>
              </a:spcAft>
              <a:buSzPts val="1800"/>
              <a:buChar char="○"/>
            </a:pPr>
            <a:r>
              <a:rPr lang="en"/>
              <a:t>Your function will implicitly return </a:t>
            </a:r>
            <a:r>
              <a:rPr lang="en">
                <a:solidFill>
                  <a:srgbClr val="188038"/>
                </a:solidFill>
                <a:latin typeface="Roboto Mono"/>
                <a:ea typeface="Roboto Mono"/>
                <a:cs typeface="Roboto Mono"/>
                <a:sym typeface="Roboto Mono"/>
              </a:rPr>
              <a:t>None</a:t>
            </a:r>
            <a:r>
              <a:rPr lang="en"/>
              <a:t>, a special value in Python that represents "nothing"</a:t>
            </a:r>
            <a:endParaRPr/>
          </a:p>
          <a:p>
            <a:pPr indent="-342900" lvl="1" marL="914400" rtl="0" algn="l">
              <a:spcBef>
                <a:spcPts val="0"/>
              </a:spcBef>
              <a:spcAft>
                <a:spcPts val="0"/>
              </a:spcAft>
              <a:buSzPts val="1800"/>
              <a:buChar char="○"/>
            </a:pPr>
            <a:r>
              <a:rPr lang="en">
                <a:solidFill>
                  <a:srgbClr val="188038"/>
                </a:solidFill>
                <a:latin typeface="Roboto Mono"/>
                <a:ea typeface="Roboto Mono"/>
                <a:cs typeface="Roboto Mono"/>
                <a:sym typeface="Roboto Mono"/>
              </a:rPr>
              <a:t>print</a:t>
            </a:r>
            <a:r>
              <a:rPr lang="en"/>
              <a:t> returns </a:t>
            </a:r>
            <a:r>
              <a:rPr lang="en">
                <a:solidFill>
                  <a:srgbClr val="188038"/>
                </a:solidFill>
                <a:latin typeface="Roboto Mono"/>
                <a:ea typeface="Roboto Mono"/>
                <a:cs typeface="Roboto Mono"/>
                <a:sym typeface="Roboto Mono"/>
              </a:rPr>
              <a:t>None</a:t>
            </a:r>
            <a:endParaRPr/>
          </a:p>
          <a:p>
            <a:pPr indent="-342900" lvl="0" marL="457200" rtl="0" algn="l">
              <a:spcBef>
                <a:spcPts val="0"/>
              </a:spcBef>
              <a:spcAft>
                <a:spcPts val="0"/>
              </a:spcAft>
              <a:buSzPts val="1800"/>
              <a:buChar char="●"/>
            </a:pPr>
            <a:r>
              <a:rPr b="1" lang="en"/>
              <a:t>Note: </a:t>
            </a:r>
            <a:r>
              <a:rPr lang="en"/>
              <a:t>The value </a:t>
            </a:r>
            <a:r>
              <a:rPr lang="en">
                <a:solidFill>
                  <a:srgbClr val="188038"/>
                </a:solidFill>
                <a:latin typeface="Roboto Mono"/>
                <a:ea typeface="Roboto Mono"/>
                <a:cs typeface="Roboto Mono"/>
                <a:sym typeface="Roboto Mono"/>
              </a:rPr>
              <a:t>None</a:t>
            </a:r>
            <a:r>
              <a:rPr lang="en"/>
              <a:t> is not displayed by the Python interpreter unless it is explicitly printed!</a:t>
            </a:r>
            <a:endParaRPr/>
          </a:p>
          <a:p>
            <a:pPr indent="0" lvl="0" marL="0" rtl="0" algn="l">
              <a:spcBef>
                <a:spcPts val="600"/>
              </a:spcBef>
              <a:spcAft>
                <a:spcPts val="0"/>
              </a:spcAft>
              <a:buNone/>
            </a:pPr>
            <a:r>
              <a:rPr lang="en">
                <a:latin typeface="Consolas"/>
                <a:ea typeface="Consolas"/>
                <a:cs typeface="Consolas"/>
                <a:sym typeface="Consolas"/>
              </a:rPr>
              <a:t>&gt;&gt;&gt; def square(x):</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x ** 2</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&gt;&gt;&gt; square(2)</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&gt;&gt;&gt; print(square(2))</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None</a:t>
            </a:r>
            <a:endParaRPr>
              <a:latin typeface="Consolas"/>
              <a:ea typeface="Consolas"/>
              <a:cs typeface="Consolas"/>
              <a:sym typeface="Consolas"/>
            </a:endParaRPr>
          </a:p>
        </p:txBody>
      </p:sp>
      <p:sp>
        <p:nvSpPr>
          <p:cNvPr id="405" name="Google Shape;405;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Exceptions I</a:t>
            </a:r>
            <a:endParaRPr/>
          </a:p>
        </p:txBody>
      </p:sp>
      <p:sp>
        <p:nvSpPr>
          <p:cNvPr id="411" name="Google Shape;411;p5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10 min</a:t>
            </a:r>
            <a:endParaRPr/>
          </a:p>
        </p:txBody>
      </p:sp>
      <p:sp>
        <p:nvSpPr>
          <p:cNvPr id="412" name="Google Shape;412;p5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42900" lvl="0" marL="457200" rtl="0" algn="l">
              <a:spcBef>
                <a:spcPts val="600"/>
              </a:spcBef>
              <a:spcAft>
                <a:spcPts val="0"/>
              </a:spcAft>
              <a:buSzPts val="1800"/>
              <a:buChar char="•"/>
            </a:pPr>
            <a:r>
              <a:rPr lang="en"/>
              <a:t>Exceptions</a:t>
            </a:r>
            <a:endParaRPr/>
          </a:p>
          <a:p>
            <a:pPr indent="-342900" lvl="0" marL="457200" rtl="0" algn="l">
              <a:spcBef>
                <a:spcPts val="0"/>
              </a:spcBef>
              <a:spcAft>
                <a:spcPts val="0"/>
              </a:spcAft>
              <a:buSzPts val="1800"/>
              <a:buChar char="•"/>
            </a:pPr>
            <a:r>
              <a:rPr lang="en"/>
              <a:t>Reading a stack trace</a:t>
            </a:r>
            <a:endParaRPr/>
          </a:p>
          <a:p>
            <a:pPr indent="-342900" lvl="0" marL="457200" rtl="0" algn="l">
              <a:spcBef>
                <a:spcPts val="0"/>
              </a:spcBef>
              <a:spcAft>
                <a:spcPts val="0"/>
              </a:spcAft>
              <a:buSzPts val="1800"/>
              <a:buChar char="•"/>
            </a:pPr>
            <a:r>
              <a:rPr lang="en"/>
              <a:t>Print debugging</a:t>
            </a:r>
            <a:endParaRPr/>
          </a:p>
          <a:p>
            <a:pPr indent="-342900" lvl="0" marL="457200" rtl="0" algn="l">
              <a:spcBef>
                <a:spcPts val="0"/>
              </a:spcBef>
              <a:spcAft>
                <a:spcPts val="0"/>
              </a:spcAft>
              <a:buSzPts val="1800"/>
              <a:buChar char="•"/>
            </a:pPr>
            <a:r>
              <a:rPr lang="en"/>
              <a:t>Assert statements</a:t>
            </a:r>
            <a:endParaRPr/>
          </a:p>
        </p:txBody>
      </p:sp>
      <p:sp>
        <p:nvSpPr>
          <p:cNvPr id="413" name="Google Shape;413;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8"/>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Exceptions</a:t>
            </a:r>
            <a:endParaRPr/>
          </a:p>
        </p:txBody>
      </p:sp>
      <p:sp>
        <p:nvSpPr>
          <p:cNvPr id="419" name="Google Shape;419;p58"/>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When something goes wrong in a program, an </a:t>
            </a:r>
            <a:r>
              <a:rPr b="1" lang="en"/>
              <a:t>exception </a:t>
            </a:r>
            <a:r>
              <a:rPr lang="en"/>
              <a:t>(or </a:t>
            </a:r>
            <a:r>
              <a:rPr b="1" lang="en"/>
              <a:t>error</a:t>
            </a:r>
            <a:r>
              <a:rPr lang="en"/>
              <a:t>) occurs</a:t>
            </a:r>
            <a:endParaRPr/>
          </a:p>
          <a:p>
            <a:pPr indent="-342900" lvl="1" marL="914400" rtl="0" algn="l">
              <a:spcBef>
                <a:spcPts val="1000"/>
              </a:spcBef>
              <a:spcAft>
                <a:spcPts val="0"/>
              </a:spcAft>
              <a:buSzPts val="1800"/>
              <a:buChar char="•"/>
            </a:pPr>
            <a:r>
              <a:rPr lang="en"/>
              <a:t>AKA "</a:t>
            </a:r>
            <a:r>
              <a:rPr b="1" lang="en"/>
              <a:t>raised</a:t>
            </a:r>
            <a:r>
              <a:rPr lang="en"/>
              <a:t>" or "</a:t>
            </a:r>
            <a:r>
              <a:rPr b="1" lang="en"/>
              <a:t>thrown</a:t>
            </a:r>
            <a:r>
              <a:rPr lang="en"/>
              <a:t>"</a:t>
            </a:r>
            <a:endParaRPr/>
          </a:p>
          <a:p>
            <a:pPr indent="-342900" lvl="0" marL="457200" rtl="0" algn="l">
              <a:spcBef>
                <a:spcPts val="1000"/>
              </a:spcBef>
              <a:spcAft>
                <a:spcPts val="0"/>
              </a:spcAft>
              <a:buSzPts val="1800"/>
              <a:buChar char="•"/>
            </a:pPr>
            <a:r>
              <a:rPr lang="en"/>
              <a:t>Types of errors, in increasing order of difficulty of </a:t>
            </a:r>
            <a:r>
              <a:rPr b="1" lang="en"/>
              <a:t>debugging</a:t>
            </a:r>
            <a:endParaRPr b="1"/>
          </a:p>
          <a:p>
            <a:pPr indent="-342900" lvl="1" marL="914400" rtl="0" algn="l">
              <a:spcBef>
                <a:spcPts val="1000"/>
              </a:spcBef>
              <a:spcAft>
                <a:spcPts val="0"/>
              </a:spcAft>
              <a:buSzPts val="1800"/>
              <a:buChar char="•"/>
            </a:pPr>
            <a:r>
              <a:rPr b="1" lang="en"/>
              <a:t>Syntax</a:t>
            </a:r>
            <a:r>
              <a:rPr lang="en"/>
              <a:t>: "Illegal" Python code</a:t>
            </a:r>
            <a:endParaRPr/>
          </a:p>
          <a:p>
            <a:pPr indent="-342900" lvl="1" marL="914400" rtl="0" algn="l">
              <a:spcBef>
                <a:spcPts val="1000"/>
              </a:spcBef>
              <a:spcAft>
                <a:spcPts val="0"/>
              </a:spcAft>
              <a:buSzPts val="1800"/>
              <a:buChar char="•"/>
            </a:pPr>
            <a:r>
              <a:rPr b="1" lang="en"/>
              <a:t>Runtime</a:t>
            </a:r>
            <a:r>
              <a:rPr lang="en"/>
              <a:t>: Python code is legal, but does something that breaks the program as it's running</a:t>
            </a:r>
            <a:endParaRPr/>
          </a:p>
          <a:p>
            <a:pPr indent="-342900" lvl="1" marL="914400" rtl="0" algn="l">
              <a:spcBef>
                <a:spcPts val="1000"/>
              </a:spcBef>
              <a:spcAft>
                <a:spcPts val="1000"/>
              </a:spcAft>
              <a:buSzPts val="1800"/>
              <a:buChar char="•"/>
            </a:pPr>
            <a:r>
              <a:rPr b="1" lang="en"/>
              <a:t>Logical</a:t>
            </a:r>
            <a:r>
              <a:rPr lang="en"/>
              <a:t>: Python code is legal and doesn't do anything that would break the program, but it produces output you didn't want</a:t>
            </a:r>
            <a:endParaRPr/>
          </a:p>
        </p:txBody>
      </p:sp>
      <p:sp>
        <p:nvSpPr>
          <p:cNvPr id="420" name="Google Shape;420;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Exceptions: Syntax</a:t>
            </a:r>
            <a:endParaRPr/>
          </a:p>
        </p:txBody>
      </p:sp>
      <p:sp>
        <p:nvSpPr>
          <p:cNvPr id="426" name="Google Shape;426;p59"/>
          <p:cNvSpPr txBox="1"/>
          <p:nvPr>
            <p:ph idx="2" type="body"/>
          </p:nvPr>
        </p:nvSpPr>
        <p:spPr>
          <a:xfrm>
            <a:off x="86796" y="600950"/>
            <a:ext cx="82197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latin typeface="Consolas"/>
                <a:ea typeface="Consolas"/>
                <a:cs typeface="Consolas"/>
                <a:sym typeface="Consolas"/>
              </a:rPr>
              <a:t>&gt;&gt;&gt; def square(x:</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return x * x</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File "&lt;python-input-21&gt;", line 1</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def square(x:</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SyntaxError: '(' was never closed</a:t>
            </a:r>
            <a:endParaRPr>
              <a:latin typeface="Consolas"/>
              <a:ea typeface="Consolas"/>
              <a:cs typeface="Consolas"/>
              <a:sym typeface="Consolas"/>
            </a:endParaRPr>
          </a:p>
        </p:txBody>
      </p:sp>
      <p:sp>
        <p:nvSpPr>
          <p:cNvPr id="427" name="Google Shape;427;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Inter"/>
                <a:ea typeface="Inter"/>
                <a:cs typeface="Inter"/>
                <a:sym typeface="Inter"/>
              </a:rPr>
              <a:t>‹#›</a:t>
            </a:fld>
            <a:endParaRPr>
              <a:latin typeface="Inter"/>
              <a:ea typeface="Inter"/>
              <a:cs typeface="Inter"/>
              <a:sym typeface="Inter"/>
            </a:endParaRPr>
          </a:p>
        </p:txBody>
      </p:sp>
      <p:sp>
        <p:nvSpPr>
          <p:cNvPr id="433" name="Google Shape;433;p60"/>
          <p:cNvSpPr txBox="1"/>
          <p:nvPr>
            <p:ph idx="1" type="body"/>
          </p:nvPr>
        </p:nvSpPr>
        <p:spPr>
          <a:xfrm>
            <a:off x="107050" y="457200"/>
            <a:ext cx="8458200" cy="4599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&gt;&gt;&gt; def divide(a, b):</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return a / b</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&gt;&gt;&gt; divide(5, 0)</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Traceback (most recent call last):</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File "&lt;python-input-23&gt;", line 1, in &lt;module&gt;</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divide(5, 0)</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File "&lt;python-input-22&gt;", line 2, in divide</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return a / b</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None/>
            </a:pPr>
            <a:r>
              <a:rPr lang="en">
                <a:latin typeface="Consolas"/>
                <a:ea typeface="Consolas"/>
                <a:cs typeface="Consolas"/>
                <a:sym typeface="Consolas"/>
              </a:rPr>
              <a:t>ZeroDivisionError: division by zero</a:t>
            </a:r>
            <a:endParaRPr/>
          </a:p>
        </p:txBody>
      </p:sp>
      <p:sp>
        <p:nvSpPr>
          <p:cNvPr id="434" name="Google Shape;434;p60"/>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Exceptions: Runtime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Exceptions: Logical</a:t>
            </a:r>
            <a:endParaRPr/>
          </a:p>
        </p:txBody>
      </p:sp>
      <p:sp>
        <p:nvSpPr>
          <p:cNvPr id="440" name="Google Shape;440;p61"/>
          <p:cNvSpPr txBox="1"/>
          <p:nvPr>
            <p:ph idx="1" type="body"/>
          </p:nvPr>
        </p:nvSpPr>
        <p:spPr>
          <a:xfrm>
            <a:off x="107044" y="457200"/>
            <a:ext cx="8458200" cy="342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&gt;&gt;&gt; def square(x):</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return x * 2</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&gt;&gt;&gt; square(3)</a:t>
            </a:r>
            <a:endParaRPr>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a:latin typeface="Consolas"/>
                <a:ea typeface="Consolas"/>
                <a:cs typeface="Consolas"/>
                <a:sym typeface="Consolas"/>
              </a:rPr>
              <a:t>6</a:t>
            </a:r>
            <a:endParaRPr/>
          </a:p>
        </p:txBody>
      </p:sp>
      <p:sp>
        <p:nvSpPr>
          <p:cNvPr id="441" name="Google Shape;441;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Reading a stack trace</a:t>
            </a:r>
            <a:endParaRPr/>
          </a:p>
        </p:txBody>
      </p:sp>
      <p:sp>
        <p:nvSpPr>
          <p:cNvPr id="447" name="Google Shape;447;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Labeled image of Python stack trace, which reads:&#10;&#10;Traceback (most recent call last):&#10;File &quot;/path/to/example.py&quot;, line 4, in &lt;module&gt;&#10;    greet('Chad')&#10;...&#10;File &quot;/path/to/example.py&quot;, line 2, in greet&#10;    print('Hello, ' + someon)&#10;NameError: name 'someon' is not defined&#10;&#10;On the left of the traceback, there is an arrow pointing from bottom to top and a caption on the arrow that reads, &quot;read from bottom to top.&quot; The lines that begin with &quot;File&quot; are circled in orange, indicating the file, line number, and function where the error occurred. greet('Chad') and print('Hello, ' + someon) are underlined in red, indicating the lines of code where the error occurred. NameError is circled in blue, indicating the error type. &quot;name 'someon' is not defined&quot; is circled in green, indicating the error message." id="448" name="Google Shape;448;p62"/>
          <p:cNvPicPr preferRelativeResize="0"/>
          <p:nvPr/>
        </p:nvPicPr>
        <p:blipFill>
          <a:blip r:embed="rId3">
            <a:alphaModFix/>
          </a:blip>
          <a:stretch>
            <a:fillRect/>
          </a:stretch>
        </p:blipFill>
        <p:spPr>
          <a:xfrm>
            <a:off x="152400" y="609600"/>
            <a:ext cx="8705900" cy="30322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Print debugging</a:t>
            </a:r>
            <a:endParaRPr/>
          </a:p>
        </p:txBody>
      </p:sp>
      <p:sp>
        <p:nvSpPr>
          <p:cNvPr id="454" name="Google Shape;454;p63"/>
          <p:cNvSpPr txBox="1"/>
          <p:nvPr>
            <p:ph idx="1" type="body"/>
          </p:nvPr>
        </p:nvSpPr>
        <p:spPr>
          <a:xfrm>
            <a:off x="107050" y="457200"/>
            <a:ext cx="8458200" cy="16923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One debugging technique is </a:t>
            </a:r>
            <a:r>
              <a:rPr b="1" lang="en"/>
              <a:t>print debugging</a:t>
            </a:r>
            <a:endParaRPr b="1"/>
          </a:p>
          <a:p>
            <a:pPr indent="-342900" lvl="0" marL="457200" rtl="0" algn="l">
              <a:spcBef>
                <a:spcPts val="0"/>
              </a:spcBef>
              <a:spcAft>
                <a:spcPts val="0"/>
              </a:spcAft>
              <a:buSzPts val="1800"/>
              <a:buChar char="●"/>
            </a:pPr>
            <a:r>
              <a:rPr lang="en"/>
              <a:t>This involves calling </a:t>
            </a:r>
            <a:r>
              <a:rPr lang="en">
                <a:solidFill>
                  <a:srgbClr val="188038"/>
                </a:solidFill>
                <a:latin typeface="Roboto Mono"/>
                <a:ea typeface="Roboto Mono"/>
                <a:cs typeface="Roboto Mono"/>
                <a:sym typeface="Roboto Mono"/>
              </a:rPr>
              <a:t>print</a:t>
            </a:r>
            <a:r>
              <a:rPr lang="en"/>
              <a:t> on variables/values of interest throughout your program to determine where the program is going wrong</a:t>
            </a:r>
            <a:endParaRPr/>
          </a:p>
          <a:p>
            <a:pPr indent="-342900" lvl="0" marL="457200" rtl="0" algn="l">
              <a:spcBef>
                <a:spcPts val="0"/>
              </a:spcBef>
              <a:spcAft>
                <a:spcPts val="0"/>
              </a:spcAft>
              <a:buSzPts val="1800"/>
              <a:buChar char="●"/>
            </a:pPr>
            <a:r>
              <a:rPr lang="en"/>
              <a:t>In your assignments, you can do this by prefixing your print statements with </a:t>
            </a:r>
            <a:r>
              <a:rPr lang="en">
                <a:solidFill>
                  <a:srgbClr val="188038"/>
                </a:solidFill>
                <a:latin typeface="Roboto Mono"/>
                <a:ea typeface="Roboto Mono"/>
                <a:cs typeface="Roboto Mono"/>
                <a:sym typeface="Roboto Mono"/>
              </a:rPr>
              <a:t>'DEBUG:'</a:t>
            </a:r>
            <a:r>
              <a:rPr lang="en"/>
              <a:t> so that the OkPy autograder doesn't autofail you</a:t>
            </a:r>
            <a:endParaRPr/>
          </a:p>
        </p:txBody>
      </p:sp>
      <p:sp>
        <p:nvSpPr>
          <p:cNvPr id="455" name="Google Shape;455;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3"/>
          <p:cNvSpPr txBox="1"/>
          <p:nvPr/>
        </p:nvSpPr>
        <p:spPr>
          <a:xfrm>
            <a:off x="107050" y="2044075"/>
            <a:ext cx="7167000" cy="28167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700">
                <a:solidFill>
                  <a:schemeClr val="dk1"/>
                </a:solidFill>
                <a:latin typeface="Consolas"/>
                <a:ea typeface="Consolas"/>
                <a:cs typeface="Consolas"/>
                <a:sym typeface="Consolas"/>
              </a:rPr>
              <a:t>&gt;&gt;&gt; from math import sqrt</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def quadratic_formula_positive(a, b, c):</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discriminant = </a:t>
            </a:r>
            <a:r>
              <a:rPr lang="en" sz="1700">
                <a:solidFill>
                  <a:schemeClr val="dk1"/>
                </a:solidFill>
                <a:latin typeface="Consolas"/>
                <a:ea typeface="Consolas"/>
                <a:cs typeface="Consolas"/>
                <a:sym typeface="Consolas"/>
              </a:rPr>
              <a:t>b * 2 - 4 * a * c</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a:t>
            </a:r>
            <a:r>
              <a:rPr b="1" lang="en" sz="1700">
                <a:solidFill>
                  <a:schemeClr val="accent2"/>
                </a:solidFill>
                <a:latin typeface="Consolas"/>
                <a:ea typeface="Consolas"/>
                <a:cs typeface="Consolas"/>
                <a:sym typeface="Consolas"/>
              </a:rPr>
              <a:t>print("DEBUG: discriminant is", discriminant)</a:t>
            </a:r>
            <a:endParaRPr b="1" sz="1700">
              <a:solidFill>
                <a:schemeClr val="accent2"/>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temp = (-b + sqrt(discriminant)) / (2 * a)</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a:t>
            </a:r>
            <a:r>
              <a:rPr b="1" lang="en" sz="1700">
                <a:solidFill>
                  <a:schemeClr val="accent2"/>
                </a:solidFill>
                <a:latin typeface="Consolas"/>
                <a:ea typeface="Consolas"/>
                <a:cs typeface="Consolas"/>
                <a:sym typeface="Consolas"/>
              </a:rPr>
              <a:t>print("DEBUG: temp is", temp)</a:t>
            </a:r>
            <a:endParaRPr b="1" sz="1700">
              <a:solidFill>
                <a:schemeClr val="accent2"/>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  		return temp</a:t>
            </a:r>
            <a:endParaRPr sz="1700">
              <a:solidFill>
                <a:schemeClr val="dk1"/>
              </a:solidFill>
              <a:latin typeface="Consolas"/>
              <a:ea typeface="Consolas"/>
              <a:cs typeface="Consolas"/>
              <a:sym typeface="Consolas"/>
            </a:endParaRPr>
          </a:p>
          <a:p>
            <a:pPr indent="0" lvl="0" marL="0" rtl="0" algn="l">
              <a:spcBef>
                <a:spcPts val="600"/>
              </a:spcBef>
              <a:spcAft>
                <a:spcPts val="0"/>
              </a:spcAft>
              <a:buNone/>
            </a:pPr>
            <a:r>
              <a:rPr lang="en" sz="1700">
                <a:solidFill>
                  <a:schemeClr val="dk1"/>
                </a:solidFill>
                <a:latin typeface="Consolas"/>
                <a:ea typeface="Consolas"/>
                <a:cs typeface="Consolas"/>
                <a:sym typeface="Consolas"/>
              </a:rPr>
              <a:t>&gt;&gt;&gt; quadratic_formula_positive(1, 2, 3)</a:t>
            </a:r>
            <a:endParaRPr sz="17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type="title"/>
          </p:nvPr>
        </p:nvSpPr>
        <p:spPr>
          <a:xfrm>
            <a:off x="0" y="0"/>
            <a:ext cx="9144000" cy="457200"/>
          </a:xfrm>
          <a:prstGeom prst="rect">
            <a:avLst/>
          </a:prstGeom>
        </p:spPr>
        <p:txBody>
          <a:bodyPr anchorCtr="0" anchor="t" bIns="91425" lIns="91425" spcFirstLastPara="1" rIns="91425" wrap="square" tIns="91425">
            <a:noAutofit/>
          </a:bodyPr>
          <a:lstStyle/>
          <a:p>
            <a:pPr indent="0" lvl="0" marL="0" rtl="0" algn="l">
              <a:spcBef>
                <a:spcPts val="0"/>
              </a:spcBef>
              <a:spcAft>
                <a:spcPts val="400"/>
              </a:spcAft>
              <a:buNone/>
            </a:pPr>
            <a:r>
              <a:rPr lang="en"/>
              <a:t>Assert statements</a:t>
            </a:r>
            <a:endParaRPr/>
          </a:p>
        </p:txBody>
      </p:sp>
      <p:sp>
        <p:nvSpPr>
          <p:cNvPr id="462" name="Google Shape;462;p64"/>
          <p:cNvSpPr txBox="1"/>
          <p:nvPr>
            <p:ph idx="1" type="body"/>
          </p:nvPr>
        </p:nvSpPr>
        <p:spPr>
          <a:xfrm>
            <a:off x="107050" y="457200"/>
            <a:ext cx="8753400" cy="1467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Why debug when you can </a:t>
            </a:r>
            <a:r>
              <a:rPr b="1" lang="en"/>
              <a:t>prevent </a:t>
            </a:r>
            <a:r>
              <a:rPr lang="en"/>
              <a:t>bugs instead? → </a:t>
            </a:r>
            <a:r>
              <a:rPr b="1" lang="en"/>
              <a:t>Defensive programming</a:t>
            </a:r>
            <a:endParaRPr b="1"/>
          </a:p>
          <a:p>
            <a:pPr indent="0" lvl="0" marL="0" rtl="0" algn="l">
              <a:spcBef>
                <a:spcPts val="600"/>
              </a:spcBef>
              <a:spcAft>
                <a:spcPts val="0"/>
              </a:spcAft>
              <a:buNone/>
            </a:pPr>
            <a:r>
              <a:rPr lang="en"/>
              <a:t>One defensive programming technique is to use </a:t>
            </a:r>
            <a:r>
              <a:rPr lang="en">
                <a:solidFill>
                  <a:srgbClr val="188038"/>
                </a:solidFill>
                <a:latin typeface="Roboto Mono"/>
                <a:ea typeface="Roboto Mono"/>
                <a:cs typeface="Roboto Mono"/>
                <a:sym typeface="Roboto Mono"/>
              </a:rPr>
              <a:t>assert</a:t>
            </a:r>
            <a:r>
              <a:rPr lang="en"/>
              <a:t> statements to programmatically verify your assumptions. If the assumption is </a:t>
            </a:r>
            <a:r>
              <a:rPr lang="en">
                <a:solidFill>
                  <a:srgbClr val="188038"/>
                </a:solidFill>
                <a:latin typeface="Roboto Mono"/>
                <a:ea typeface="Roboto Mono"/>
                <a:cs typeface="Roboto Mono"/>
                <a:sym typeface="Roboto Mono"/>
              </a:rPr>
              <a:t>False</a:t>
            </a:r>
            <a:r>
              <a:rPr lang="en"/>
              <a:t>, an </a:t>
            </a:r>
            <a:r>
              <a:rPr lang="en">
                <a:solidFill>
                  <a:srgbClr val="188038"/>
                </a:solidFill>
                <a:latin typeface="Roboto Mono"/>
                <a:ea typeface="Roboto Mono"/>
                <a:cs typeface="Roboto Mono"/>
                <a:sym typeface="Roboto Mono"/>
              </a:rPr>
              <a:t>AssertionError</a:t>
            </a:r>
            <a:r>
              <a:rPr lang="en"/>
              <a:t> is raised (with an optional message you provide).</a:t>
            </a:r>
            <a:endParaRPr/>
          </a:p>
        </p:txBody>
      </p:sp>
      <p:sp>
        <p:nvSpPr>
          <p:cNvPr id="463" name="Google Shape;463;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4"/>
          <p:cNvSpPr txBox="1"/>
          <p:nvPr/>
        </p:nvSpPr>
        <p:spPr>
          <a:xfrm>
            <a:off x="107050" y="1849175"/>
            <a:ext cx="5795700" cy="3063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100">
                <a:solidFill>
                  <a:schemeClr val="dk1"/>
                </a:solidFill>
                <a:latin typeface="Consolas"/>
                <a:ea typeface="Consolas"/>
                <a:cs typeface="Consolas"/>
                <a:sym typeface="Consolas"/>
              </a:rPr>
              <a:t>&gt;&gt;&gt; def divide(a, b):</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assert b != 0, 'divisor cannot be 0'</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return a / b</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&gt;&gt;&gt; divide(5, 0)</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Traceback (most recent call last):</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File "&lt;python-input-1&gt;", line 1, in &lt;module&gt;</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divide(5, 0)</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File "&lt;python-input-0&gt;", line 2, in divide</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assert b != 0, 'divisor cannot be 0'</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spcBef>
                <a:spcPts val="600"/>
              </a:spcBef>
              <a:spcAft>
                <a:spcPts val="0"/>
              </a:spcAft>
              <a:buNone/>
            </a:pPr>
            <a:r>
              <a:rPr lang="en" sz="1100">
                <a:solidFill>
                  <a:schemeClr val="dk1"/>
                </a:solidFill>
                <a:latin typeface="Consolas"/>
                <a:ea typeface="Consolas"/>
                <a:cs typeface="Consolas"/>
                <a:sym typeface="Consolas"/>
              </a:rPr>
              <a:t>AssertionError: divisor cannot be 0</a:t>
            </a:r>
            <a:endParaRPr sz="17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767676"/>
      </a:dk2>
      <a:lt2>
        <a:srgbClr val="FEE88D"/>
      </a:lt2>
      <a:accent1>
        <a:srgbClr val="9FD1FF"/>
      </a:accent1>
      <a:accent2>
        <a:srgbClr val="E7125F"/>
      </a:accent2>
      <a:accent3>
        <a:srgbClr val="002676"/>
      </a:accent3>
      <a:accent4>
        <a:srgbClr val="F89313"/>
      </a:accent4>
      <a:accent5>
        <a:srgbClr val="17553A"/>
      </a:accent5>
      <a:accent6>
        <a:srgbClr val="F2F2F2"/>
      </a:accent6>
      <a:hlink>
        <a:srgbClr val="094AA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