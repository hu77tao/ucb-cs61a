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 Medium"/>
      <p:regular r:id="rId37"/>
      <p:bold r:id="rId38"/>
      <p:italic r:id="rId39"/>
      <p:boldItalic r:id="rId40"/>
    </p:embeddedFont>
    <p:embeddedFont>
      <p:font typeface="Roboto"/>
      <p:regular r:id="rId41"/>
      <p:bold r:id="rId42"/>
      <p:italic r:id="rId43"/>
      <p:boldItalic r:id="rId44"/>
    </p:embeddedFont>
    <p:embeddedFont>
      <p:font typeface="Inter"/>
      <p:regular r:id="rId45"/>
      <p:bold r:id="rId46"/>
      <p:italic r:id="rId47"/>
      <p:boldItalic r:id="rId48"/>
    </p:embeddedFont>
    <p:embeddedFont>
      <p:font typeface="Source Code Pro"/>
      <p:regular r:id="rId49"/>
      <p:bold r:id="rId50"/>
      <p:italic r:id="rId51"/>
      <p:boldItalic r:id="rId52"/>
    </p:embeddedFont>
    <p:embeddedFont>
      <p:font typeface="Inter ExtraBold"/>
      <p:bold r:id="rId53"/>
      <p:boldItalic r:id="rId54"/>
    </p:embeddedFont>
    <p:embeddedFont>
      <p:font typeface="Roboto Light"/>
      <p:regular r:id="rId55"/>
      <p:bold r:id="rId56"/>
      <p:italic r:id="rId57"/>
      <p:boldItalic r:id="rId58"/>
    </p:embeddedFont>
    <p:embeddedFont>
      <p:font typeface="Roboto Mon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Italic.fntdata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44" Type="http://schemas.openxmlformats.org/officeDocument/2006/relationships/font" Target="fonts/Roboto-boldItalic.fntdata"/><Relationship Id="rId43" Type="http://schemas.openxmlformats.org/officeDocument/2006/relationships/font" Target="fonts/Roboto-italic.fntdata"/><Relationship Id="rId46" Type="http://schemas.openxmlformats.org/officeDocument/2006/relationships/font" Target="fonts/Inter-bold.fntdata"/><Relationship Id="rId45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-boldItalic.fntdata"/><Relationship Id="rId47" Type="http://schemas.openxmlformats.org/officeDocument/2006/relationships/font" Target="fonts/Inter-italic.fntdata"/><Relationship Id="rId49" Type="http://schemas.openxmlformats.org/officeDocument/2006/relationships/font" Target="fonts/SourceCode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RobotoMedium-regular.fntdata"/><Relationship Id="rId36" Type="http://schemas.openxmlformats.org/officeDocument/2006/relationships/slide" Target="slides/slide31.xml"/><Relationship Id="rId39" Type="http://schemas.openxmlformats.org/officeDocument/2006/relationships/font" Target="fonts/RobotoMedium-italic.fntdata"/><Relationship Id="rId38" Type="http://schemas.openxmlformats.org/officeDocument/2006/relationships/font" Target="fonts/RobotoMedium-bold.fntdata"/><Relationship Id="rId62" Type="http://schemas.openxmlformats.org/officeDocument/2006/relationships/font" Target="fonts/RobotoMono-boldItalic.fntdata"/><Relationship Id="rId61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SourceCodePro-italic.fntdata"/><Relationship Id="rId50" Type="http://schemas.openxmlformats.org/officeDocument/2006/relationships/font" Target="fonts/SourceCodePro-bold.fntdata"/><Relationship Id="rId53" Type="http://schemas.openxmlformats.org/officeDocument/2006/relationships/font" Target="fonts/InterExtraBold-bold.fntdata"/><Relationship Id="rId52" Type="http://schemas.openxmlformats.org/officeDocument/2006/relationships/font" Target="fonts/SourceCodePro-boldItalic.fntdata"/><Relationship Id="rId11" Type="http://schemas.openxmlformats.org/officeDocument/2006/relationships/slide" Target="slides/slide6.xml"/><Relationship Id="rId55" Type="http://schemas.openxmlformats.org/officeDocument/2006/relationships/font" Target="fonts/RobotoLight-regular.fntdata"/><Relationship Id="rId10" Type="http://schemas.openxmlformats.org/officeDocument/2006/relationships/slide" Target="slides/slide5.xml"/><Relationship Id="rId54" Type="http://schemas.openxmlformats.org/officeDocument/2006/relationships/font" Target="fonts/InterExtraBold-boldItalic.fntdata"/><Relationship Id="rId13" Type="http://schemas.openxmlformats.org/officeDocument/2006/relationships/slide" Target="slides/slide8.xml"/><Relationship Id="rId57" Type="http://schemas.openxmlformats.org/officeDocument/2006/relationships/font" Target="fonts/RobotoLight-italic.fntdata"/><Relationship Id="rId12" Type="http://schemas.openxmlformats.org/officeDocument/2006/relationships/slide" Target="slides/slide7.xml"/><Relationship Id="rId56" Type="http://schemas.openxmlformats.org/officeDocument/2006/relationships/font" Target="fonts/RobotoLight-bold.fntdata"/><Relationship Id="rId15" Type="http://schemas.openxmlformats.org/officeDocument/2006/relationships/slide" Target="slides/slide10.xml"/><Relationship Id="rId59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58" Type="http://schemas.openxmlformats.org/officeDocument/2006/relationships/font" Target="fonts/RobotoLigh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llev.com/multiple_choice_polls/y9tFoK8AYZhqsDdicZBjn/respond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llev.com/multiple_choice_polls/9I79Z8HGTPQl6Oj6whSlC/respond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llev.com/multiple_choice_polls/5CikE5KgDzM8vwdRxlOFA/respond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llev.com/multiple_choice_polls/tE8ntF5YKtIHPOsXSB2uv/respond" TargetMode="External"/><Relationship Id="rId3" Type="http://schemas.openxmlformats.org/officeDocument/2006/relationships/hyperlink" Target="https://pythontutor.com/visualize.html#code=x%20%3D%207%0Ay%20%3D%2015%0Adef%20unicorn%28y,%20x%29%3A%0A%20%20%20%20x%20%3D%20x%20%2B%20z%0A%20%20%20%20return%20y%20%2B%20x%0A%0Adef%20rainbows%28z%29%3A%0A%20%20%20%20z%20%3D%205%0A%0Az%20%3D%2010%0Arainbows%28z%29%0Aunicorn%28x,%20y%29%0A&amp;curInstr=0&amp;mode=display&amp;origin=opt-frontend.js&amp;py=311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f26c19f5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4f26c19f5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e6e81ad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e6e81ad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e6fd1db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e6fd1db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f304c4b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f304c4b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f3963d035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f3963d035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f3963d035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f3963d035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f304c4bc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f304c4bc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https://PollEv.com/multiple_choice_polls/y9tFoK8AYZhqsDdicZBjn/respond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ALL of the ways to fill in blanks A and B that would result in EQUIVALENT behavior when Variation 1 and 2 are executed independently (regardless of the value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Variation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x &gt; 5: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return __A__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return __B__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Variation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 if_(cond, __A__, __B__):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if cond: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return __A__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return __B__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if_(x &gt; 5, __A__, __B__)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A: True, B: False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A: print("woo"), B: print("hoo")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A: 1 + 1, B: 2 * 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A: 1 / 0, B: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(a) and </a:t>
            </a:r>
            <a:r>
              <a:rPr lang="en"/>
              <a:t>(c)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f304c4bc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f304c4bc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e6e81adc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e6e81adc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https://PollEv.com/multiple_choice_polls/9I79Z8HGTPQl6Oj6whSlC/respond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ALL implementations of Fibonacci that are correct.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fib1: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def fib1(n):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curr, nxt = 0,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k = 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k &lt; n: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curr, nxt = nxt, curr + nxt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k +=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curr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fib2: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def fib2(n):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prev, curr = 0,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k =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k &lt; n: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prev, curr = curr, prev + curr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k +=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curr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(a)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doctests below to prove that fib2 is buggy for the case when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== 0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 fib1(n):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"""Compute the n-th Fibonacci number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fib1(0)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fib1(1)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fib1(2)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fib1(3)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fib1(4)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fib1(5)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fib1(10)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55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fib1(20)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6765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curr, nxt = 0,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k =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while k &lt; n: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curr, nxt = nxt, curr + nxt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k +=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return curr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 fib2(n):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fib2(0) # bug!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fib2(1)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fib2(2)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fib2(3)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fib2(4)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fib2(5)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fib2(10)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55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&gt;&gt;&gt; fib2(20)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6765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prev, curr = 0,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k 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while k &lt; n: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prev, curr = curr, prev + curr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k +=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return curr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f304c4bc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f304c4b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f304c4bc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f304c4bc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f304c4bc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f304c4bc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f304c4bc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f304c4bc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f304c4bc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f304c4bc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the difference between these 2 functions?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f304c4bc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f304c4bc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f3963d03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f3963d03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f304c4bc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f304c4bc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f3963d035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f3963d035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f304c4bc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f304c4bc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https://PollEv.com/multiple_choice_polls/5CikE5KgDzM8vwdRxlOFA/respond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Lambdas: What would Python display?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(lambda x, y: lambda z: x * y + z)(1, 2)(3)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3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5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A function object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None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It would 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(d)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f3963d035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f3963d035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f3963d035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f3963d035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f3963d035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f3963d035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f3963d035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f3963d035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f3963d035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f3963d035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f304c4bc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f304c4bc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f3963d035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f3963d035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f3963d035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f3963d035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https://PollEv.com/multiple_choice_polls/tE8ntF5YKtIHPOsXSB2uv/respond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Environments: What would Python display?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x = 7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y = 15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def unicorn(y, x):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x = x + z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return y + 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def rainbows(z):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z =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z = 10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rainbows(z)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unicorn(x, 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12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22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32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42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Error, because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</a:t>
            </a:r>
            <a:r>
              <a:rPr lang="en"/>
              <a:t> is not defined 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unicorn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Error, because we're updating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</a:t>
            </a:r>
            <a:r>
              <a:rPr lang="en"/>
              <a:t> outside its local frame 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rainbow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</a:t>
            </a:r>
            <a:r>
              <a:rPr lang="en"/>
              <a:t>(c)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Environment diagram: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pythontutor.com/visualize.html#code=x%20%3D%207%0Ay%20%3D%2015%0Adef%20unicorn%28y,%20x%29%3A%0A%20%20%20%20x%20%3D%20x%20%2B%20z%0A%20%20%20%20return%20y%20%2B%20x%0A%0Adef%20rainbows%28z%29%3A%0A%20%20%20%20z%20%3D%205%0A%0Az%20%3D%2010%0Arainbows%28z%29%0Aunicorn%28x,%20y%29%0A&amp;curInstr=0&amp;mode=display&amp;origin=opt-frontend.js&amp;py=311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e6e81adc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ee6e81adc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f3963d035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ef3963d035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f304c4bc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f304c4bc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f3963d035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f3963d035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called currying!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Inter ExtraBold"/>
              <a:buNone/>
              <a:defRPr b="0" sz="44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Inter ExtraBold"/>
              <a:buNone/>
              <a:defRPr b="0" sz="36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457200"/>
            <a:ext cx="91440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3600"/>
              <a:buNone/>
              <a:defRPr sz="3600">
                <a:solidFill>
                  <a:srgbClr val="00267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0" name="Google Shape;30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" name="Google Shape;31;p5"/>
          <p:cNvSpPr txBox="1"/>
          <p:nvPr/>
        </p:nvSpPr>
        <p:spPr>
          <a:xfrm>
            <a:off x="177925" y="4068000"/>
            <a:ext cx="415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Demo Slides</a:t>
            </a:r>
            <a:endParaRPr sz="2500">
              <a:solidFill>
                <a:schemeClr val="accent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76200" y="466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/>
          <p:nvPr/>
        </p:nvSpPr>
        <p:spPr>
          <a:xfrm>
            <a:off x="0" y="0"/>
            <a:ext cx="4572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0" y="0"/>
            <a:ext cx="45720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0" y="457200"/>
            <a:ext cx="45720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ECTION_TITLE_AND_DESCRIPTION_2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0" y="-125"/>
            <a:ext cx="2743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2819400" y="457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208446" y="3420075"/>
            <a:ext cx="2534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Summary</a:t>
            </a:r>
            <a:endParaRPr sz="2500">
              <a:solidFill>
                <a:schemeClr val="accent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So Far</a:t>
            </a:r>
            <a:endParaRPr sz="2500">
              <a:solidFill>
                <a:schemeClr val="accent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2743200" y="0"/>
            <a:ext cx="64008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2743200" y="0"/>
            <a:ext cx="64008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9" name="Google Shape;49;p7"/>
          <p:cNvCxnSpPr/>
          <p:nvPr/>
        </p:nvCxnSpPr>
        <p:spPr>
          <a:xfrm>
            <a:off x="2743200" y="457200"/>
            <a:ext cx="64008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1">
  <p:cSld name="SECTION_TITLE_AND_DESCRIPTION_2_1_1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0" y="-125"/>
            <a:ext cx="2743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225450" y="3943400"/>
            <a:ext cx="25347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2819400" y="457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6" y="3420075"/>
            <a:ext cx="253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Demo</a:t>
            </a:r>
            <a:endParaRPr sz="2500">
              <a:solidFill>
                <a:schemeClr val="accent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2743200" y="0"/>
            <a:ext cx="64008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8"/>
          <p:cNvSpPr txBox="1"/>
          <p:nvPr>
            <p:ph type="title"/>
          </p:nvPr>
        </p:nvSpPr>
        <p:spPr>
          <a:xfrm>
            <a:off x="2743200" y="0"/>
            <a:ext cx="64008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9" name="Google Shape;59;p8"/>
          <p:cNvCxnSpPr/>
          <p:nvPr/>
        </p:nvCxnSpPr>
        <p:spPr>
          <a:xfrm>
            <a:off x="2743200" y="457200"/>
            <a:ext cx="64008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Code">
  <p:cSld name="SECTION_TITLE_AND_DESCRIPTION_2_1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0" y="-125"/>
            <a:ext cx="2743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9"/>
          <p:cNvSpPr txBox="1"/>
          <p:nvPr/>
        </p:nvSpPr>
        <p:spPr>
          <a:xfrm>
            <a:off x="208451" y="3420075"/>
            <a:ext cx="2125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Demo Code</a:t>
            </a:r>
            <a:endParaRPr sz="2500">
              <a:solidFill>
                <a:schemeClr val="accent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2848425" y="457200"/>
            <a:ext cx="6171000" cy="41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67" name="Google Shape;67;p9"/>
          <p:cNvSpPr/>
          <p:nvPr/>
        </p:nvSpPr>
        <p:spPr>
          <a:xfrm>
            <a:off x="2743200" y="0"/>
            <a:ext cx="64008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2743200" y="0"/>
            <a:ext cx="64008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9" name="Google Shape;69;p9"/>
          <p:cNvCxnSpPr/>
          <p:nvPr/>
        </p:nvCxnSpPr>
        <p:spPr>
          <a:xfrm>
            <a:off x="2743200" y="457200"/>
            <a:ext cx="64008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81238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0"/>
          <p:cNvSpPr txBox="1"/>
          <p:nvPr>
            <p:ph idx="2" type="body"/>
          </p:nvPr>
        </p:nvSpPr>
        <p:spPr>
          <a:xfrm>
            <a:off x="9543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0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6" name="Google Shape;76;p10"/>
          <p:cNvCxnSpPr/>
          <p:nvPr/>
        </p:nvCxnSpPr>
        <p:spPr>
          <a:xfrm>
            <a:off x="0" y="457200"/>
            <a:ext cx="91440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81" name="Google Shape;81;p11"/>
          <p:cNvCxnSpPr/>
          <p:nvPr/>
        </p:nvCxnSpPr>
        <p:spPr>
          <a:xfrm>
            <a:off x="0" y="457200"/>
            <a:ext cx="91440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4" name="Google Shape;94;p14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4"/>
          <p:cNvSpPr/>
          <p:nvPr/>
        </p:nvSpPr>
        <p:spPr>
          <a:xfrm>
            <a:off x="0" y="4230550"/>
            <a:ext cx="9144000" cy="914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6" name="Google Shape;96;p14"/>
          <p:cNvCxnSpPr/>
          <p:nvPr/>
        </p:nvCxnSpPr>
        <p:spPr>
          <a:xfrm>
            <a:off x="0" y="4230550"/>
            <a:ext cx="91440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4"/>
          <p:cNvSpPr txBox="1"/>
          <p:nvPr>
            <p:ph idx="2" type="title"/>
          </p:nvPr>
        </p:nvSpPr>
        <p:spPr>
          <a:xfrm>
            <a:off x="0" y="4401400"/>
            <a:ext cx="9144000" cy="572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2400"/>
              <a:buNone/>
              <a:defRPr sz="2400"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106" name="Google Shape;10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7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22" name="Google Shape;12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nter"/>
              <a:buNone/>
              <a:defRPr b="1"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pollev.com/rebeccadang831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n.wikipedia.org/wiki/Fibonacci_sequenc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ctrTitle"/>
          </p:nvPr>
        </p:nvSpPr>
        <p:spPr>
          <a:xfrm>
            <a:off x="311700" y="1237100"/>
            <a:ext cx="8520600" cy="150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Lecture 03: Higher-Order Functions (HOFs)</a:t>
            </a:r>
            <a:endParaRPr sz="4100"/>
          </a:p>
        </p:txBody>
      </p:sp>
      <p:sp>
        <p:nvSpPr>
          <p:cNvPr id="137" name="Google Shape;137;p22"/>
          <p:cNvSpPr txBox="1"/>
          <p:nvPr>
            <p:ph idx="1" type="subTitle"/>
          </p:nvPr>
        </p:nvSpPr>
        <p:spPr>
          <a:xfrm>
            <a:off x="311700" y="2728774"/>
            <a:ext cx="85206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June 24, 2026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22"/>
          <p:cNvSpPr txBox="1"/>
          <p:nvPr>
            <p:ph idx="1" type="subTitle"/>
          </p:nvPr>
        </p:nvSpPr>
        <p:spPr>
          <a:xfrm>
            <a:off x="311700" y="3143600"/>
            <a:ext cx="8520600" cy="15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Rebecca Dang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Join </a:t>
            </a:r>
            <a:r>
              <a:rPr lang="en" u="sng">
                <a:solidFill>
                  <a:schemeClr val="hlink"/>
                </a:solidFill>
                <a:hlinkClick r:id="rId3"/>
              </a:rPr>
              <a:t>pollev.com/rebeccadang831</a:t>
            </a:r>
            <a:r>
              <a:rPr lang="en"/>
              <a:t> (or scan QR code) on your phone or laptop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We’ll begin at Berkeley time (10 minutes after), as per tradition!</a:t>
            </a:r>
            <a:endParaRPr sz="1600"/>
          </a:p>
        </p:txBody>
      </p:sp>
      <p:sp>
        <p:nvSpPr>
          <p:cNvPr id="139" name="Google Shape;139;p22"/>
          <p:cNvSpPr txBox="1"/>
          <p:nvPr/>
        </p:nvSpPr>
        <p:spPr>
          <a:xfrm>
            <a:off x="311700" y="875000"/>
            <a:ext cx="2015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CS 61A SU26</a:t>
            </a:r>
            <a:endParaRPr sz="1500">
              <a:solidFill>
                <a:schemeClr val="accent4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ollev.com/rebeccadang831" id="141" name="Google Shape;141;p22" title="rebeccadang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8950" y="50625"/>
            <a:ext cx="1186475" cy="118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Potpourri</a:t>
            </a:r>
            <a:endParaRPr/>
          </a:p>
        </p:txBody>
      </p:sp>
      <p:sp>
        <p:nvSpPr>
          <p:cNvPr id="147" name="Google Shape;14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5 min</a:t>
            </a:r>
            <a:endParaRPr/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Announcements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Quizzes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Gateway Building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Review: Control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107050" y="457200"/>
            <a:ext cx="8458200" cy="43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I'll change/update lecture slides/code after the fact - check the website!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 01, HW 01, and Hog (first project) are released!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Projects in this course: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Checkpoint due date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Early due date (extra credit!)</a:t>
            </a:r>
            <a:endParaRPr/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Quizzes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107050" y="457200"/>
            <a:ext cx="8458200" cy="4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Highly recommend: Do orientation quiz ASAP if you haven't already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miss it, CBTF will release remote, async quiz next week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Reserve Quiz 1 slot ASAP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DSP accommodations: </a:t>
            </a:r>
            <a:r>
              <a:rPr b="1" lang="en"/>
              <a:t>Please submit your letters AND login to PrairieTest (PT) ASAP</a:t>
            </a:r>
            <a:r>
              <a:rPr lang="en"/>
              <a:t> so we can process your accommodations </a:t>
            </a:r>
            <a:r>
              <a:rPr b="1" lang="en"/>
              <a:t>before</a:t>
            </a:r>
            <a:r>
              <a:rPr lang="en"/>
              <a:t> you reserve your slot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Accommodations do </a:t>
            </a:r>
            <a:r>
              <a:rPr b="1" lang="en"/>
              <a:t>not apply retroactively</a:t>
            </a:r>
            <a:r>
              <a:rPr lang="en"/>
              <a:t> if you already reserved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If you already reserved, check that your accommodations were factored in on PT. </a:t>
            </a:r>
            <a:r>
              <a:rPr lang="en"/>
              <a:t>It should show up on the home page where it shows your reservation time.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Quiz 1 logistics and practice quiz to be released (ideally) tomorrow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Gateway Building!</a:t>
            </a:r>
            <a:endParaRPr/>
          </a:p>
        </p:txBody>
      </p:sp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1550" y="609600"/>
            <a:ext cx="4419599" cy="3314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09600"/>
            <a:ext cx="4419599" cy="331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Gateway Building!</a:t>
            </a:r>
            <a:endParaRPr/>
          </a:p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413" y="793624"/>
            <a:ext cx="5389174" cy="404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9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Fibonacci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107050" y="457200"/>
            <a:ext cx="8458200" cy="37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Fibonacci sequence</a:t>
            </a:r>
            <a:r>
              <a:rPr lang="en"/>
              <a:t> is defined as: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0th Fibonacci number is 0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1st Fibonacci number is 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Fibonacci number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/>
              <a:t> is the sum of the previous 2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Ex: </a:t>
            </a:r>
            <a:r>
              <a:rPr lang="en"/>
              <a:t>0, 1, 1, 2, 3, 5, 8, 13, …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Wikipedia: "</a:t>
            </a:r>
            <a:r>
              <a:rPr b="1" lang="en">
                <a:solidFill>
                  <a:schemeClr val="dk2"/>
                </a:solidFill>
              </a:rPr>
              <a:t>The Fibonacci numbers were first described in Indian mathematics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b="1" lang="en">
                <a:solidFill>
                  <a:schemeClr val="dk2"/>
                </a:solidFill>
              </a:rPr>
              <a:t>as early as 200 BC in work by Pingala</a:t>
            </a:r>
            <a:r>
              <a:rPr lang="en">
                <a:solidFill>
                  <a:schemeClr val="dk2"/>
                </a:solidFill>
              </a:rPr>
              <a:t> on enumerating possible patterns of Sanskrit poetry formed from syllables of two lengths. They are </a:t>
            </a:r>
            <a:r>
              <a:rPr b="1" lang="en">
                <a:solidFill>
                  <a:schemeClr val="dk2"/>
                </a:solidFill>
              </a:rPr>
              <a:t>named after</a:t>
            </a:r>
            <a:r>
              <a:rPr lang="en">
                <a:solidFill>
                  <a:schemeClr val="dk2"/>
                </a:solidFill>
              </a:rPr>
              <a:t> the </a:t>
            </a:r>
            <a:r>
              <a:rPr b="1" lang="en">
                <a:solidFill>
                  <a:schemeClr val="dk2"/>
                </a:solidFill>
              </a:rPr>
              <a:t>Italian mathematician Leonardo of Pisa, also known as Fibonacci</a:t>
            </a:r>
            <a:r>
              <a:rPr lang="en">
                <a:solidFill>
                  <a:schemeClr val="dk2"/>
                </a:solidFill>
              </a:rPr>
              <a:t>, who </a:t>
            </a:r>
            <a:r>
              <a:rPr b="1" lang="en">
                <a:solidFill>
                  <a:schemeClr val="dk2"/>
                </a:solidFill>
              </a:rPr>
              <a:t>introduced the sequence to Western European mathematics</a:t>
            </a:r>
            <a:r>
              <a:rPr lang="en">
                <a:solidFill>
                  <a:schemeClr val="dk2"/>
                </a:solidFill>
              </a:rPr>
              <a:t> in his 1202 book </a:t>
            </a:r>
            <a:r>
              <a:rPr i="1" lang="en">
                <a:solidFill>
                  <a:schemeClr val="dk2"/>
                </a:solidFill>
              </a:rPr>
              <a:t>Liber Abaci</a:t>
            </a:r>
            <a:r>
              <a:rPr lang="en">
                <a:solidFill>
                  <a:schemeClr val="dk2"/>
                </a:solidFill>
              </a:rPr>
              <a:t>."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Higher-Order Functions</a:t>
            </a:r>
            <a:endParaRPr/>
          </a:p>
        </p:txBody>
      </p:sp>
      <p:sp>
        <p:nvSpPr>
          <p:cNvPr id="203" name="Google Shape;203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50 min</a:t>
            </a:r>
            <a:endParaRPr/>
          </a:p>
        </p:txBody>
      </p:sp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Functions as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Lambda expressions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HOFs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Functions as inputs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Functions as outputs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Lambdas: WWPD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Environments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Functions as data</a:t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Unlike some other programming languages, in Python, functions can be treated as both </a:t>
            </a:r>
            <a:r>
              <a:rPr b="1" lang="en"/>
              <a:t>procedures</a:t>
            </a:r>
            <a:r>
              <a:rPr lang="en"/>
              <a:t> and </a:t>
            </a:r>
            <a:r>
              <a:rPr b="1" lang="en"/>
              <a:t>data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Functions are </a:t>
            </a:r>
            <a:r>
              <a:rPr b="1" lang="en"/>
              <a:t>"first-class" objects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(more on objects later!)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Ex: In lecture 1, we "stored"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</a:t>
            </a:r>
            <a:r>
              <a:rPr lang="en"/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/>
              <a:t> in variables,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n"/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</a:pPr>
            <a:r>
              <a:rPr lang="en"/>
              <a:t>Demo: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&lt;function object&gt;</a:t>
            </a:r>
            <a:endParaRPr/>
          </a:p>
        </p:txBody>
      </p:sp>
      <p:sp>
        <p:nvSpPr>
          <p:cNvPr id="212" name="Google Shape;21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Lambda expressions</a:t>
            </a:r>
            <a:endParaRPr/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far, we learned to use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/>
              <a:t> to define our own functions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way: </a:t>
            </a:r>
            <a:r>
              <a:rPr b="1" lang="en"/>
              <a:t>Lambda expressions</a:t>
            </a:r>
            <a:endParaRPr b="1"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lambda &lt;parameters&gt;: &lt;return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expression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Lambda functions are often called </a:t>
            </a:r>
            <a:r>
              <a:rPr b="1" lang="en"/>
              <a:t>anonymous functions</a:t>
            </a:r>
            <a:r>
              <a:rPr lang="en"/>
              <a:t> because they have no </a:t>
            </a:r>
            <a:r>
              <a:rPr b="1" lang="en"/>
              <a:t>intrinsic name</a:t>
            </a:r>
            <a:r>
              <a:rPr lang="en"/>
              <a:t> (unlike functions created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Lambda with 0 or more parameters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○"/>
            </a:pPr>
            <a:r>
              <a:rPr lang="en"/>
              <a:t>Storing and calling a lambda function</a:t>
            </a:r>
            <a:endParaRPr/>
          </a:p>
        </p:txBody>
      </p:sp>
      <p:sp>
        <p:nvSpPr>
          <p:cNvPr id="219" name="Google Shape;21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HOFs</a:t>
            </a:r>
            <a:endParaRPr/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 </a:t>
            </a:r>
            <a:r>
              <a:rPr b="1" lang="en"/>
              <a:t>higher-order function (HOF)</a:t>
            </a:r>
            <a:r>
              <a:rPr lang="en"/>
              <a:t> is a function that takes in another function as input, returns a function as output, or both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Motivation: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Generalization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Avoiding repetition</a:t>
            </a:r>
            <a:endParaRPr/>
          </a:p>
          <a:p>
            <a: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DRY: </a:t>
            </a:r>
            <a:r>
              <a:rPr b="1" lang="en"/>
              <a:t>D</a:t>
            </a:r>
            <a:r>
              <a:rPr lang="en"/>
              <a:t>on't </a:t>
            </a:r>
            <a:r>
              <a:rPr b="1" lang="en"/>
              <a:t>R</a:t>
            </a:r>
            <a:r>
              <a:rPr lang="en"/>
              <a:t>epeat </a:t>
            </a:r>
            <a:r>
              <a:rPr b="1" lang="en"/>
              <a:t>Y</a:t>
            </a:r>
            <a:r>
              <a:rPr lang="en"/>
              <a:t>ourself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</a:pPr>
            <a:r>
              <a:rPr lang="en"/>
              <a:t>"Factory" functions, e.g.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make_discount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(later slide)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6" name="Google Shape;22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Functions as inputs (1 of 3)</a:t>
            </a:r>
            <a:endParaRPr/>
          </a:p>
        </p:txBody>
      </p:sp>
      <p:sp>
        <p:nvSpPr>
          <p:cNvPr id="232" name="Google Shape;232;p35"/>
          <p:cNvSpPr txBox="1"/>
          <p:nvPr>
            <p:ph idx="2" type="body"/>
          </p:nvPr>
        </p:nvSpPr>
        <p:spPr>
          <a:xfrm>
            <a:off x="9543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def sum_of_squares(n):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i = 1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total = 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while i &lt;= n: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	total += i ** 2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	i += 1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return total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" name="Google Shape;23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481238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def sum_of_cubes(n):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i = 1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total = 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while i &lt;= n: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	total += i ** 3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	i += 1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return total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Functions as inputs (2 of 3)</a:t>
            </a:r>
            <a:endParaRPr/>
          </a:p>
        </p:txBody>
      </p:sp>
      <p:sp>
        <p:nvSpPr>
          <p:cNvPr id="240" name="Google Shape;240;p36"/>
          <p:cNvSpPr txBox="1"/>
          <p:nvPr>
            <p:ph idx="2" type="body"/>
          </p:nvPr>
        </p:nvSpPr>
        <p:spPr>
          <a:xfrm>
            <a:off x="9543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def sum_of_squares(n):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i = 1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total = 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while i &lt;= n: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	total += </a:t>
            </a:r>
            <a:r>
              <a:rPr b="1" lang="en" sz="2400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i ** 2</a:t>
            </a:r>
            <a:endParaRPr b="1" sz="2400"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	i += 1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return total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1" name="Google Shape;24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6"/>
          <p:cNvSpPr txBox="1"/>
          <p:nvPr>
            <p:ph idx="1" type="body"/>
          </p:nvPr>
        </p:nvSpPr>
        <p:spPr>
          <a:xfrm>
            <a:off x="481238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def sum_of_cubes(n):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i = 1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total = 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while i &lt;= n: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	total += </a:t>
            </a:r>
            <a:r>
              <a:rPr b="1" lang="en" sz="2400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i ** 3</a:t>
            </a:r>
            <a:endParaRPr b="1" sz="2400"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	i += 1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return total</a:t>
            </a:r>
            <a:endParaRPr sz="2400"/>
          </a:p>
        </p:txBody>
      </p:sp>
      <p:pic>
        <p:nvPicPr>
          <p:cNvPr descr="Summation from i = 1 to n of i squared" id="243" name="Google Shape;243;p36" title="Screenshot 2026-06-24 at 2.55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075" y="3122488"/>
            <a:ext cx="1198225" cy="1631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Summation from i = 1 to n of i cubed" id="244" name="Google Shape;244;p36" title="Screenshot 2026-06-24 at 2.56.0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9600" y="3146688"/>
            <a:ext cx="1162663" cy="1583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37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def summation(n, term):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i = 1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total = 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while i &lt;= n: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	total += </a:t>
            </a:r>
            <a:r>
              <a:rPr b="1" lang="en" sz="2400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term(i)</a:t>
            </a:r>
            <a:endParaRPr b="1" sz="2400"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	i += 1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	return total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1" name="Google Shape;251;p37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Functions as inputs (3 of 3)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Functions as outputs (1 of 2)</a:t>
            </a:r>
            <a:endParaRPr/>
          </a:p>
        </p:txBody>
      </p:sp>
      <p:sp>
        <p:nvSpPr>
          <p:cNvPr id="257" name="Google Shape;257;p38"/>
          <p:cNvSpPr txBox="1"/>
          <p:nvPr>
            <p:ph idx="2" type="body"/>
          </p:nvPr>
        </p:nvSpPr>
        <p:spPr>
          <a:xfrm>
            <a:off x="9543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def half_off(price):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return price * </a:t>
            </a:r>
            <a:r>
              <a:rPr b="1" lang="en" sz="1600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0.5</a:t>
            </a:r>
            <a:endParaRPr b="1" sz="1600"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def ten_percent_off(price):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return price * </a:t>
            </a:r>
            <a:r>
              <a:rPr b="1" lang="en" sz="1600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0.9</a:t>
            </a:r>
            <a:endParaRPr b="1" sz="1600"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def twenty_percent_off(price):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return price * </a:t>
            </a:r>
            <a:r>
              <a:rPr b="1" lang="en" sz="1600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0.8</a:t>
            </a:r>
            <a:endParaRPr b="1" sz="1600"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8"/>
          <p:cNvSpPr txBox="1"/>
          <p:nvPr>
            <p:ph idx="1" type="body"/>
          </p:nvPr>
        </p:nvSpPr>
        <p:spPr>
          <a:xfrm>
            <a:off x="4095324" y="457200"/>
            <a:ext cx="471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def compute_new_price(discount, price):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return discount(price)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Functions as outputs (2 of 2)</a:t>
            </a:r>
            <a:endParaRPr/>
          </a:p>
        </p:txBody>
      </p:sp>
      <p:sp>
        <p:nvSpPr>
          <p:cNvPr id="265" name="Google Shape;265;p39"/>
          <p:cNvSpPr txBox="1"/>
          <p:nvPr>
            <p:ph idx="2" type="body"/>
          </p:nvPr>
        </p:nvSpPr>
        <p:spPr>
          <a:xfrm>
            <a:off x="95425" y="457200"/>
            <a:ext cx="4380000" cy="13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def make_discount(percent_off):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	def discount(price):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		return price * (1 - percent_off)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	return discount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" name="Google Shape;26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4572000" y="457200"/>
            <a:ext cx="4240200" cy="13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def compute_new_price(discount, price):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	return discount(price)</a:t>
            </a:r>
            <a:endParaRPr sz="1400"/>
          </a:p>
        </p:txBody>
      </p:sp>
      <p:sp>
        <p:nvSpPr>
          <p:cNvPr id="268" name="Google Shape;268;p39"/>
          <p:cNvSpPr txBox="1"/>
          <p:nvPr/>
        </p:nvSpPr>
        <p:spPr>
          <a:xfrm>
            <a:off x="95425" y="2426675"/>
            <a:ext cx="506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 half_off = make_discount(0.5)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 compute_new_price(half_off, 20)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10.0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41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Lambdas WWPD: What happened? (1 of 5)</a:t>
            </a:r>
            <a:endParaRPr/>
          </a:p>
        </p:txBody>
      </p:sp>
      <p:sp>
        <p:nvSpPr>
          <p:cNvPr id="281" name="Google Shape;281;p41"/>
          <p:cNvSpPr txBox="1"/>
          <p:nvPr/>
        </p:nvSpPr>
        <p:spPr>
          <a:xfrm>
            <a:off x="1022850" y="1602650"/>
            <a:ext cx="7098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(lambda x, y: lambda z: x * y + z)(1, 2)(3)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41"/>
          <p:cNvSpPr/>
          <p:nvPr/>
        </p:nvSpPr>
        <p:spPr>
          <a:xfrm rot="-5400000">
            <a:off x="3739275" y="-358775"/>
            <a:ext cx="185400" cy="5171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41"/>
          <p:cNvSpPr txBox="1"/>
          <p:nvPr/>
        </p:nvSpPr>
        <p:spPr>
          <a:xfrm>
            <a:off x="2112275" y="2414075"/>
            <a:ext cx="3077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Outer function called directly</a:t>
            </a:r>
            <a:endParaRPr sz="2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41"/>
          <p:cNvSpPr/>
          <p:nvPr/>
        </p:nvSpPr>
        <p:spPr>
          <a:xfrm rot="-5400000">
            <a:off x="6937600" y="1843075"/>
            <a:ext cx="185400" cy="767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41"/>
          <p:cNvSpPr txBox="1"/>
          <p:nvPr/>
        </p:nvSpPr>
        <p:spPr>
          <a:xfrm>
            <a:off x="6078775" y="2414075"/>
            <a:ext cx="24633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Operands of outer function (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2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Google Shape;291;p42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Lambdas WWPD: What happened? </a:t>
            </a:r>
            <a:r>
              <a:rPr lang="en"/>
              <a:t>(2 of 5)</a:t>
            </a:r>
            <a:endParaRPr/>
          </a:p>
        </p:txBody>
      </p:sp>
      <p:sp>
        <p:nvSpPr>
          <p:cNvPr id="292" name="Google Shape;292;p42"/>
          <p:cNvSpPr txBox="1"/>
          <p:nvPr/>
        </p:nvSpPr>
        <p:spPr>
          <a:xfrm>
            <a:off x="1022850" y="1602650"/>
            <a:ext cx="7098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(lambda x, y: lambda z: x * y + z)(1, 2)(3)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" name="Google Shape;293;p42"/>
          <p:cNvSpPr/>
          <p:nvPr/>
        </p:nvSpPr>
        <p:spPr>
          <a:xfrm rot="-5400000">
            <a:off x="4819125" y="720925"/>
            <a:ext cx="185400" cy="3012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42"/>
          <p:cNvSpPr txBox="1"/>
          <p:nvPr/>
        </p:nvSpPr>
        <p:spPr>
          <a:xfrm>
            <a:off x="3372975" y="2402500"/>
            <a:ext cx="3077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Return expression of outer function</a:t>
            </a:r>
            <a:endParaRPr sz="2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p43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Lambdas WWPD: What happened?</a:t>
            </a:r>
            <a:r>
              <a:rPr lang="en"/>
              <a:t> (3 of 5)</a:t>
            </a:r>
            <a:endParaRPr/>
          </a:p>
        </p:txBody>
      </p:sp>
      <p:sp>
        <p:nvSpPr>
          <p:cNvPr id="301" name="Google Shape;301;p43"/>
          <p:cNvSpPr txBox="1"/>
          <p:nvPr/>
        </p:nvSpPr>
        <p:spPr>
          <a:xfrm>
            <a:off x="1022850" y="1602650"/>
            <a:ext cx="7098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(lambda x, y: lambda z: x * y + z)(1, 2)(3)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2" name="Google Shape;302;p43"/>
          <p:cNvSpPr/>
          <p:nvPr/>
        </p:nvSpPr>
        <p:spPr>
          <a:xfrm rot="-5400000">
            <a:off x="4251525" y="-935675"/>
            <a:ext cx="185400" cy="6325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43"/>
          <p:cNvSpPr txBox="1"/>
          <p:nvPr/>
        </p:nvSpPr>
        <p:spPr>
          <a:xfrm>
            <a:off x="1123700" y="2402500"/>
            <a:ext cx="6869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Since the inner function was returned, this entire thing evaluates to that inner function</a:t>
            </a:r>
            <a:endParaRPr sz="2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44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Lambdas WWPD: What happened?</a:t>
            </a:r>
            <a:r>
              <a:rPr lang="en"/>
              <a:t> (4 of 5)</a:t>
            </a:r>
            <a:endParaRPr/>
          </a:p>
        </p:txBody>
      </p:sp>
      <p:sp>
        <p:nvSpPr>
          <p:cNvPr id="310" name="Google Shape;310;p44"/>
          <p:cNvSpPr txBox="1"/>
          <p:nvPr/>
        </p:nvSpPr>
        <p:spPr>
          <a:xfrm>
            <a:off x="1022850" y="1602650"/>
            <a:ext cx="7098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(lambda x, y: lambda z: x * y + z)(1, 2)(3)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44"/>
          <p:cNvSpPr/>
          <p:nvPr/>
        </p:nvSpPr>
        <p:spPr>
          <a:xfrm rot="-5400000">
            <a:off x="7680400" y="2099575"/>
            <a:ext cx="185400" cy="254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44"/>
          <p:cNvSpPr txBox="1"/>
          <p:nvPr/>
        </p:nvSpPr>
        <p:spPr>
          <a:xfrm>
            <a:off x="6950675" y="2445650"/>
            <a:ext cx="1969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Operand of inner function (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</a:t>
            </a: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2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44"/>
          <p:cNvSpPr/>
          <p:nvPr/>
        </p:nvSpPr>
        <p:spPr>
          <a:xfrm rot="-5400000">
            <a:off x="5630975" y="1486375"/>
            <a:ext cx="185400" cy="1481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44"/>
          <p:cNvSpPr txBox="1"/>
          <p:nvPr/>
        </p:nvSpPr>
        <p:spPr>
          <a:xfrm>
            <a:off x="1482800" y="2534738"/>
            <a:ext cx="51222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Return expression of inner function (has access to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from its parent frame)</a:t>
            </a:r>
            <a:endParaRPr sz="2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45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Lambdas WWPD: What happened?</a:t>
            </a:r>
            <a:r>
              <a:rPr lang="en"/>
              <a:t> (5 of 5)</a:t>
            </a:r>
            <a:endParaRPr/>
          </a:p>
        </p:txBody>
      </p:sp>
      <p:sp>
        <p:nvSpPr>
          <p:cNvPr id="321" name="Google Shape;321;p45"/>
          <p:cNvSpPr txBox="1"/>
          <p:nvPr>
            <p:ph idx="1" type="body"/>
          </p:nvPr>
        </p:nvSpPr>
        <p:spPr>
          <a:xfrm>
            <a:off x="83875" y="3996650"/>
            <a:ext cx="8458200" cy="7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Tip:</a:t>
            </a:r>
            <a:r>
              <a:rPr lang="en"/>
              <a:t> Rewrite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"/>
              <a:t> into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/>
              <a:t> if you're confused on what it's doing! Or do the opposite if we ask you to write a nested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5"/>
          <p:cNvSpPr txBox="1"/>
          <p:nvPr/>
        </p:nvSpPr>
        <p:spPr>
          <a:xfrm>
            <a:off x="83875" y="722225"/>
            <a:ext cx="7098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(lambda x, y: lambda z: x * y + z)(1, 2)(3)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3" name="Google Shape;323;p45"/>
          <p:cNvSpPr txBox="1"/>
          <p:nvPr/>
        </p:nvSpPr>
        <p:spPr>
          <a:xfrm>
            <a:off x="83875" y="1627625"/>
            <a:ext cx="70983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def outer(x, y):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def inner(z):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return x * y + z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return inner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outer(1, 2)(3)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Environments</a:t>
            </a:r>
            <a:endParaRPr/>
          </a:p>
        </p:txBody>
      </p:sp>
      <p:sp>
        <p:nvSpPr>
          <p:cNvPr id="329" name="Google Shape;329;p46"/>
          <p:cNvSpPr txBox="1"/>
          <p:nvPr>
            <p:ph idx="1" type="body"/>
          </p:nvPr>
        </p:nvSpPr>
        <p:spPr>
          <a:xfrm>
            <a:off x="107050" y="457200"/>
            <a:ext cx="8458200" cy="45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a previous slide, we talked about "parent frame"</a:t>
            </a:r>
            <a:endParaRPr sz="2000"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But what's a parent? And what's a frame?</a:t>
            </a:r>
            <a:endParaRPr sz="2000"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How do we figure out what data we have access to in a program? (e.g. </a:t>
            </a:r>
            <a:r>
              <a:rPr b="1" lang="en" sz="2000"/>
              <a:t>variable scope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An </a:t>
            </a:r>
            <a:r>
              <a:rPr b="1" lang="en" sz="2000"/>
              <a:t>environment </a:t>
            </a:r>
            <a:r>
              <a:rPr lang="en" sz="2000"/>
              <a:t>is a sequence of </a:t>
            </a:r>
            <a:r>
              <a:rPr b="1" lang="en" sz="2000"/>
              <a:t>frames</a:t>
            </a:r>
            <a:endParaRPr b="1" sz="2000"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chemeClr val="dk2"/>
                </a:solidFill>
              </a:rPr>
              <a:t>Y</a:t>
            </a:r>
            <a:r>
              <a:rPr lang="en" sz="2000">
                <a:solidFill>
                  <a:schemeClr val="dk2"/>
                </a:solidFill>
              </a:rPr>
              <a:t>ou might also hear programmers call it a "</a:t>
            </a:r>
            <a:r>
              <a:rPr b="1" lang="en" sz="2000">
                <a:solidFill>
                  <a:schemeClr val="dk2"/>
                </a:solidFill>
              </a:rPr>
              <a:t>stack</a:t>
            </a:r>
            <a:r>
              <a:rPr lang="en" sz="2000">
                <a:solidFill>
                  <a:schemeClr val="dk2"/>
                </a:solidFill>
              </a:rPr>
              <a:t>" of frames, hence the term </a:t>
            </a:r>
            <a:r>
              <a:rPr b="1" lang="en" sz="2000">
                <a:solidFill>
                  <a:schemeClr val="dk2"/>
                </a:solidFill>
              </a:rPr>
              <a:t>"stack trace"</a:t>
            </a:r>
            <a:r>
              <a:rPr lang="en" sz="2000">
                <a:solidFill>
                  <a:schemeClr val="dk2"/>
                </a:solidFill>
              </a:rPr>
              <a:t> from Lecture 1: Exceptions, or </a:t>
            </a:r>
            <a:r>
              <a:rPr b="1" lang="en" sz="2000">
                <a:solidFill>
                  <a:schemeClr val="dk2"/>
                </a:solidFill>
              </a:rPr>
              <a:t>"stack overflow" </a:t>
            </a:r>
            <a:r>
              <a:rPr lang="en" sz="2000">
                <a:solidFill>
                  <a:schemeClr val="dk2"/>
                </a:solidFill>
              </a:rPr>
              <a:t>(we'll talk about that next week!)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</a:t>
            </a:r>
            <a:r>
              <a:rPr b="1" lang="en" sz="2000"/>
              <a:t>frame</a:t>
            </a:r>
            <a:r>
              <a:rPr lang="en" sz="2000"/>
              <a:t> is a set of bindings between names and values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" sz="2000"/>
              <a:t>All Python programs begin in the special </a:t>
            </a:r>
            <a:r>
              <a:rPr b="1" lang="en" sz="2000"/>
              <a:t>global frame</a:t>
            </a:r>
            <a:endParaRPr sz="2000"/>
          </a:p>
        </p:txBody>
      </p:sp>
      <p:sp>
        <p:nvSpPr>
          <p:cNvPr id="330" name="Google Shape;33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7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Name Lookup Rules</a:t>
            </a:r>
            <a:endParaRPr/>
          </a:p>
        </p:txBody>
      </p:sp>
      <p:sp>
        <p:nvSpPr>
          <p:cNvPr id="336" name="Google Shape;336;p47"/>
          <p:cNvSpPr txBox="1"/>
          <p:nvPr>
            <p:ph idx="1" type="body"/>
          </p:nvPr>
        </p:nvSpPr>
        <p:spPr>
          <a:xfrm>
            <a:off x="107050" y="457200"/>
            <a:ext cx="8458200" cy="4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function's </a:t>
            </a:r>
            <a:r>
              <a:rPr b="1" lang="en" sz="2000"/>
              <a:t>parent frame</a:t>
            </a:r>
            <a:r>
              <a:rPr lang="en" sz="2000"/>
              <a:t> is the </a:t>
            </a:r>
            <a:r>
              <a:rPr b="1" lang="en" sz="2000"/>
              <a:t>frame in which the function is </a:t>
            </a:r>
            <a:r>
              <a:rPr b="1" lang="en" sz="2000" u="sng"/>
              <a:t>defined</a:t>
            </a:r>
            <a:r>
              <a:rPr lang="en" sz="2000"/>
              <a:t> (not the frame in which it's called)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Each time we call a function, we open a new </a:t>
            </a:r>
            <a:r>
              <a:rPr b="1" lang="en" sz="2000"/>
              <a:t>local frame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When we try to retrieve the value of a name, we first look in the current frame</a:t>
            </a:r>
            <a:endParaRPr sz="2000"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If it's not there, we recursively check if it exists in the </a:t>
            </a:r>
            <a:r>
              <a:rPr b="1" lang="en" sz="2000"/>
              <a:t>parent frame</a:t>
            </a:r>
            <a:endParaRPr b="1" sz="2000"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If we go all the way up to the global frame and it's still not there, throw a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NameError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⚠️ </a:t>
            </a:r>
            <a:r>
              <a:rPr b="1" lang="en"/>
              <a:t>Caution: </a:t>
            </a:r>
            <a:r>
              <a:rPr lang="en"/>
              <a:t>You can't update a variable outside your local frame (results 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UnboundLocalError</a:t>
            </a:r>
            <a:r>
              <a:rPr lang="en"/>
              <a:t>)</a:t>
            </a:r>
            <a:endParaRPr/>
          </a:p>
        </p:txBody>
      </p:sp>
      <p:sp>
        <p:nvSpPr>
          <p:cNvPr id="337" name="Google Shape;33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3" name="Google Shape;34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 break</a:t>
            </a:r>
            <a:endParaRPr/>
          </a:p>
        </p:txBody>
      </p:sp>
      <p:sp>
        <p:nvSpPr>
          <p:cNvPr id="349" name="Google Shape;34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HOFs Practice</a:t>
            </a:r>
            <a:endParaRPr/>
          </a:p>
        </p:txBody>
      </p:sp>
      <p:sp>
        <p:nvSpPr>
          <p:cNvPr id="355" name="Google Shape;35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6" name="Google Shape;356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20 min</a:t>
            </a:r>
            <a:endParaRPr/>
          </a:p>
        </p:txBody>
      </p:sp>
      <p:sp>
        <p:nvSpPr>
          <p:cNvPr id="357" name="Google Shape;357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Combination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Multiply Triple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Practice: Combination</a:t>
            </a:r>
            <a:endParaRPr/>
          </a:p>
        </p:txBody>
      </p:sp>
      <p:sp>
        <p:nvSpPr>
          <p:cNvPr id="363" name="Google Shape;363;p51"/>
          <p:cNvSpPr txBox="1"/>
          <p:nvPr>
            <p:ph idx="1" type="body"/>
          </p:nvPr>
        </p:nvSpPr>
        <p:spPr>
          <a:xfrm>
            <a:off x="107050" y="457200"/>
            <a:ext cx="8458200" cy="38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a higher-order function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combination(n, initial, combiner, term)</a:t>
            </a:r>
            <a:r>
              <a:rPr lang="en"/>
              <a:t> See the doctests for examples.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starter code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03.py</a:t>
            </a:r>
            <a:r>
              <a:rPr lang="en"/>
              <a:t> from the course website under Lecture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doctests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python3 -m doctest 03.py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min: Try implementing it yourself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min: Discuss with someone next to you and compare your implementations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worked?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didn't?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Why?</a:t>
            </a:r>
            <a:endParaRPr/>
          </a:p>
        </p:txBody>
      </p:sp>
      <p:sp>
        <p:nvSpPr>
          <p:cNvPr id="364" name="Google Shape;36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Practice: Multiply Triple</a:t>
            </a:r>
            <a:endParaRPr/>
          </a:p>
        </p:txBody>
      </p:sp>
      <p:sp>
        <p:nvSpPr>
          <p:cNvPr id="370" name="Google Shape;370;p52"/>
          <p:cNvSpPr txBox="1"/>
          <p:nvPr>
            <p:ph idx="1" type="body"/>
          </p:nvPr>
        </p:nvSpPr>
        <p:spPr>
          <a:xfrm>
            <a:off x="107050" y="457200"/>
            <a:ext cx="8458200" cy="38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Using only functions with a single argument</a:t>
            </a:r>
            <a:r>
              <a:rPr lang="en"/>
              <a:t>, implement the function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multiply_triple</a:t>
            </a:r>
            <a:r>
              <a:rPr lang="en"/>
              <a:t> so that you can use it to return the product of 3 numbers x, y, and z.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starter code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03.py</a:t>
            </a:r>
            <a:r>
              <a:rPr lang="en"/>
              <a:t> from the course website under Lecture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doctests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python3 -m doctest 03.py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min: Try implementing it yourself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min: Discuss with someone next to you and compare your implementations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worked?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didn't?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Why?</a:t>
            </a:r>
            <a:endParaRPr/>
          </a:p>
        </p:txBody>
      </p:sp>
      <p:sp>
        <p:nvSpPr>
          <p:cNvPr id="371" name="Google Shape;37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767676"/>
      </a:dk2>
      <a:lt2>
        <a:srgbClr val="FEE88D"/>
      </a:lt2>
      <a:accent1>
        <a:srgbClr val="9FD1FF"/>
      </a:accent1>
      <a:accent2>
        <a:srgbClr val="E7125F"/>
      </a:accent2>
      <a:accent3>
        <a:srgbClr val="002676"/>
      </a:accent3>
      <a:accent4>
        <a:srgbClr val="F89313"/>
      </a:accent4>
      <a:accent5>
        <a:srgbClr val="17553A"/>
      </a:accent5>
      <a:accent6>
        <a:srgbClr val="F2F2F2"/>
      </a:accent6>
      <a:hlink>
        <a:srgbClr val="094AA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